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Point the room at the QR code before you start — it opens this presentation, the outline, and a 12-question self-check quiz.
Educational use only. Not a substitute for individualized medical evaluation or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credibility briefly, then move on. Both therapists are CLTs.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quickly — they double as the roadmap for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Lymphangion contraction is the primary pump. It is stimulated by stretch, muscle contraction, arterial pulsation, and breathing — which is exactly why exercise and diaphragmatic breathing are treatment, not just adjuncts.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 safe to cut]
Combined insufficiency — high load AND damaged system — is common in the patients you will actually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multipliers after cancer treatment: extent of node dissection, regional radiation, elevated BMI, post-op infection, wound complications, and taxane-based chemotherapy.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Lymphedema is typically painless early. New or significant pain suggests infection, DVT, malignancy — or lipedema, which is painful by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by volume difference vs. the contralateral limb: minimal &lt;20%, moderate 20–40%, severe &gt;40%.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by volume difference vs. the contralateral limb: minimal &lt;20%, moderate 20–40%, severe &gt;40%.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 safe to cut]
Malignant lymphedema and DVT are the two that must not be missed. Both are referrals, not treatment plans.
SUGGESTED IMAGES FOR THIS SLIDE
· Wikimedia — “deep vein thrombosis leg”
  https://commons.wikimedia.org/w/index.php?search=deep%20vein%20thrombosis%20leg&amp;title=Special:MediaSearch&amp;type=image
· Wikimedia — “chronic venous insufficiency”
  https://commons.wikimedia.org/w/index.php?search=chronic%20venous%20insufficiency&amp;title=Special:MediaSearch&amp;type=image
· Wikimedia — “cellulitis leg”
  https://commons.wikimedia.org/w/index.php?search=cellulitis%20leg&amp;title=Special:MediaSearch&amp;type=image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Staging describes tissue condition, not size. A small Stage III limb is still Stage III. Severity is graded separately by volume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Staging describes tissue condition, not size. A small Stage III limb is still Stage III. Severity is graded separately by volume difference.
Images supplied by the practice / open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slot: Stage 0 — no visible change; consider a limb-surveillance/measurement photo instead
SUGGESTED IMAGES FOR THIS SLIDE
· Wikimedia — “bioimpedance lymphedema”
  https://commons.wikimedia.org/w/index.php?search=bioimpedance%20lymphedema&amp;title=Special:MediaSearch&amp;type=image
· Wikimedia — “limb measurement tape”
  https://commons.wikimedia.org/w/index.php?search=limb%20measurement%20tape&amp;title=Special:MediaSearch&amp;type=image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slot: Stage I — soft pitting edema, dorsum of foot or hand
SUGGESTED IMAGES FOR THIS SLIDE
· Wikimedia — “pitting edema foot”
  https://commons.wikimedia.org/w/index.php?search=pitting%20edema%20foot&amp;title=Special:MediaSearch&amp;type=image
· Wikimedia — “lymphedema early stage”
  https://commons.wikimedia.org/w/index.php?search=lymphedema%20early%20stage&amp;title=Special:MediaSearch&amp;type=image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presence or absence of pitting is what separates early from late Stage II — not the size of the limb.
Photo slot: Stage II — firm non-pitting swelling, positive Stemmer, early skin thickening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III is not a treatment failure to be managed passively. Significant reduction is well documented with sustained CDT.
Photo slot: Stage III — elephantiasis, papillomas, deep skin folds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III is not a treatment failure to be managed passively. Significant reduction is well documented with sustained CDT.
Images supplied by the practice / open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II is where outcomes are actually won or lost. Adherence, not technique, is the usual determinant of long-term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II is where outcomes are actually won or lost. Adherence, not technique, is the usual determinant of long-term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Images supplied by the practice / open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MLD alone produces modest results. Its value is greatest when combined with compression — the evidence supports CDT as a package, not MLD in isolation.
SUGGESTED IMAGES FOR THIS SLIDE
· Wikimedia — “manual lymphatic drainage”
  https://commons.wikimedia.org/w/index.php?search=manual%20lymphatic%20drainage&amp;title=Special:MediaSearch&amp;type=image
· Servier (CC BY) — “lymphatic drainage”
  https://smart.servier.com/?s=lymphatic%20drainage
· Wikimedia — “lymphatic watershed”
  https://commons.wikimedia.org/w/index.php?search=lymphatic%20watershed&amp;title=Special:MediaSearch&amp;type=image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Intermittent pneumatic compression may be a useful adjunct but does not replace MLD or bandaging, and must not be used over an untreated proximal obstruction.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Aquatic exercise is particularly effective — hydrostatic pressure provides uniform external compression while the patient moves.
SUGGESTED IMAGES FOR THIS SLIDE
· Wikimedia — “aquatic therapy pool”
  https://commons.wikimedia.org/w/index.php?search=aquatic%20therapy%20pool&amp;title=Special:MediaSearch&amp;type=image
· Wikimedia — “resistance training rehabilitation”
  https://commons.wikimedia.org/w/index.php?search=resistance%20training%20rehabilitation&amp;title=Special:MediaSearch&amp;type=image
· Wikimedia — “diaphragmatic breathing”
  https://commons.wikimedia.org/w/index.php?search=diaphragmatic%20breathing&amp;title=Special:MediaSearch&amp;type=image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cause of Phase II failure is not the wrong pressure class — it is a garment the patient cannot physically get on. Assess grip, reach, and vision before prescribing, and reach for an adjustable wrap when donning is the limiting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cause of Phase II failure is not the wrong pressure class — it is a garment the patient cannot physically get on. Assess grip, reach, and vision before prescribing, and reach for an adjustable wrap when donning is the limiting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cause of Phase II failure is not the wrong pressure class — it is a garment the patient cannot physically get on. Assess grip, reach, and vision before prescribing, and reach for an adjustable wrap when donning is the limiting factor.
Images supplied by the practice / open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Sarah Bramblette and patient advocacy groups have driven recent recognition, but average time to diagnosis remains measured in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Sarah Bramblette and patient advocacy groups have driven recent recognition, but average time to diagnosis remains measured in years.
Images supplied by the practice / open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Sarah Bramblette and patient advocacy groups have driven recent recognition, but average time to diagnosis remains measured in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CAVEAT: The Lipedema Foundation no longer uses a 'Stage 4' designation, on the grounds that the lymphatic system can be compromised at any stage — lymphatic impairment is documented in Stages 2 and 3. Present Stage 4 as lipo-lymphedema, and note the debate. This is the intellectually honest framing and it will be the question a sharp student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CAVEAT: The Lipedema Foundation no longer uses a 'Stage 4' designation, on the grounds that the lymphatic system can be compromised at any stage — lymphatic impairment is documented in Stages 2 and 3. Present Stage 4 as lipo-lymphedema, and note the debate. This is the intellectually honest framing and it will be the question a sharp student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co-exist. Lipedema does not itself cause lymphedema — but central obesity, which frequently accompanies it, substantially raises lymphedema risk. Treat what you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 safe to cut]
The single most valuable thing you may do is tell the patient this is a recognized disease and not a personal failure of willpower.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valuable thing you may do is tell the patient this is a recognized disease and not a personal failure of willpower.
Images supplied by the practice / open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Patients are frequently discharged the moment limb volume plateaus. The gait, balance, and orthopedic findings underneath are what determine whether they actually return to their life — and they are squarely within PT scope.Patients are frequently discharged the moment limb volume plateaus. The gait, balance, and orthopedic findings underneath are what determine whether they actually return to their life — and they are squarely within PT scope.
ONGOING SURVEILLANCE
· Re-measure at regular intervals; catch regression early
· Garment replacement every 4–6 months
· Short repeat intensive phase if the limb regresses — this is expected, not failure
· Annual skin and nail review
· Re-screen falls risk and function, not just limb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MLD is contraindicated in acute infection, acute DVT, and decompensated heart failure. When in doubt, do not treat — 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Reviewing these is fine. Reusing their figures in a published deck is not — most contain third-party images the authors did not clear for redistribution. Use the per-slide image links instead; those are openly licensed. Structure, sequencing, and teaching approach are free to borrow from anyone.
Links are clickable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Reviewing these is fine. Reusing their figures in a published deck is not — most contain third-party images the authors did not clear for redistribution. Use the per-slide image links instead; those are openly licensed. Structure, sequencing, and teaching approach are free to borrow from anyone.
Links are clickable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takeaways. If you are short on time, 3, 5 and 7 are the ones they must leave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Remind them the QR opens the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image" Target="../media/image-27-3.jpg"/><Relationship Id="rId4" Type="http://schemas.openxmlformats.org/officeDocument/2006/relationships/image" Target="../media/image-27-4.jpg"/><Relationship Id="rId5" Type="http://schemas.openxmlformats.org/officeDocument/2006/relationships/image" Target="../media/image-27-5.jpg"/><Relationship Id="rId6" Type="http://schemas.openxmlformats.org/officeDocument/2006/relationships/image" Target="../media/image-27-6.jp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image" Target="../media/image-29-2.jpg"/><Relationship Id="rId3" Type="http://schemas.openxmlformats.org/officeDocument/2006/relationships/image" Target="../media/image-29-3.jp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image" Target="../media/image-35-2.jpg"/><Relationship Id="rId3" Type="http://schemas.openxmlformats.org/officeDocument/2006/relationships/image" Target="../media/image-35-3.jp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hyperlink" Target="https://www.isl.arizona.edu/sites/default/files/2024-11/THE-DIAGNOSIS-AND-TREATMENT-OF-PERIPHERAL-LYMPHEDEMA-2023-CONSENSUS-DOCUMENT-OF-THE-INTERNATIONAL-SOCIETY-OF-LYMPHOLOGY.pdf" TargetMode="External"/><Relationship Id="rId2" Type="http://schemas.openxmlformats.org/officeDocument/2006/relationships/hyperlink" Target="https://www.slideserve.com/collin/lymphedema-overview-and-treatment-considerations" TargetMode="External"/><Relationship Id="rId3" Type="http://schemas.openxmlformats.org/officeDocument/2006/relationships/hyperlink" Target="https://www.slideserve.com/lilly/lymphedema" TargetMode="External"/><Relationship Id="rId4" Type="http://schemas.openxmlformats.org/officeDocument/2006/relationships/hyperlink" Target="https://www.slideserve.com/lael/lymphedema-therapy" TargetMode="External"/><Relationship Id="rId5" Type="http://schemas.openxmlformats.org/officeDocument/2006/relationships/hyperlink" Target="https://www.slideserve.com/shoshana-reynolds/lymphedema-powerpoint-ppt-presentation" TargetMode="External"/><Relationship Id="rId6" Type="http://schemas.openxmlformats.org/officeDocument/2006/relationships/hyperlink" Target="https://www.ncbi.nlm.nih.gov/pmc/articles/PMC6666846/" TargetMode="External"/><Relationship Id="rId7" Type="http://schemas.openxmlformats.org/officeDocument/2006/relationships/hyperlink" Target="https://www.lipedema.org/staging" TargetMode="External"/><Relationship Id="rId8" Type="http://schemas.openxmlformats.org/officeDocument/2006/relationships/slideLayout" Target="../slideLayouts/slideLayout1.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s://www.totallipedemacare.com/understanding-stage-4-lipedema-lipo-lymphedema/" TargetMode="External"/><Relationship Id="rId2" Type="http://schemas.openxmlformats.org/officeDocument/2006/relationships/hyperlink" Target="https://pubmed.ncbi.nlm.nih.gov/30280233/" TargetMode="External"/><Relationship Id="rId3" Type="http://schemas.openxmlformats.org/officeDocument/2006/relationships/hyperlink" Target="https://www.northwell.edu/news/insights/lipedema-vs-lymphedema-what-to-know" TargetMode="External"/><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5462"/>
        </a:solidFill>
      </p:bgPr>
    </p:bg>
    <p:spTree>
      <p:nvGrpSpPr>
        <p:cNvPr id="1" name=""/>
        <p:cNvGrpSpPr/>
        <p:nvPr/>
      </p:nvGrpSpPr>
      <p:grpSpPr>
        <a:xfrm>
          <a:off x="0" y="0"/>
          <a:ext cx="0" cy="0"/>
          <a:chOff x="0" y="0"/>
          <a:chExt cx="0" cy="0"/>
        </a:xfrm>
      </p:grpSpPr>
      <p:sp>
        <p:nvSpPr>
          <p:cNvPr id="2" name="Text 0"/>
          <p:cNvSpPr/>
          <p:nvPr/>
        </p:nvSpPr>
        <p:spPr>
          <a:xfrm>
            <a:off x="566928" y="1234440"/>
            <a:ext cx="11057839" cy="292608"/>
          </a:xfrm>
          <a:prstGeom prst="rect">
            <a:avLst/>
          </a:prstGeom>
          <a:noFill/>
          <a:ln/>
        </p:spPr>
        <p:txBody>
          <a:bodyPr wrap="square" lIns="0" tIns="0" rIns="0" bIns="0" rtlCol="0" anchor="ctr"/>
          <a:lstStyle/>
          <a:p>
            <a:pPr indent="0" marL="0">
              <a:buNone/>
            </a:pPr>
            <a:r>
              <a:rPr lang="en-US" sz="1300" b="1" spc="250" kern="0" dirty="0">
                <a:solidFill>
                  <a:srgbClr val="8FD3DE"/>
                </a:solidFill>
                <a:latin typeface="Calibri" pitchFamily="34" charset="0"/>
                <a:ea typeface="Calibri" pitchFamily="34" charset="-122"/>
                <a:cs typeface="Calibri" pitchFamily="34" charset="-120"/>
              </a:rPr>
              <a:t>TOTAL BODY THERAPY &amp; WELLNESS</a:t>
            </a:r>
            <a:endParaRPr lang="en-US" sz="1300" dirty="0"/>
          </a:p>
        </p:txBody>
      </p:sp>
      <p:sp>
        <p:nvSpPr>
          <p:cNvPr id="3" name="Text 1"/>
          <p:cNvSpPr/>
          <p:nvPr/>
        </p:nvSpPr>
        <p:spPr>
          <a:xfrm>
            <a:off x="566928" y="1691640"/>
            <a:ext cx="7863840" cy="1371600"/>
          </a:xfrm>
          <a:prstGeom prst="rect">
            <a:avLst/>
          </a:prstGeom>
          <a:noFill/>
          <a:ln/>
        </p:spPr>
        <p:txBody>
          <a:bodyPr wrap="square" lIns="0" tIns="0" rIns="0" bIns="0" rtlCol="0" anchor="t"/>
          <a:lstStyle/>
          <a:p>
            <a:pPr indent="0" marL="0">
              <a:buNone/>
            </a:pPr>
            <a:r>
              <a:rPr lang="en-US" sz="5000" b="1" dirty="0">
                <a:solidFill>
                  <a:srgbClr val="FFFFFF"/>
                </a:solidFill>
                <a:latin typeface="Cambria" pitchFamily="34" charset="0"/>
                <a:ea typeface="Cambria" pitchFamily="34" charset="-122"/>
                <a:cs typeface="Cambria" pitchFamily="34" charset="-120"/>
              </a:rPr>
              <a:t>Lymphedema &amp; Lipedema</a:t>
            </a:r>
            <a:endParaRPr lang="en-US" sz="5000" dirty="0"/>
          </a:p>
        </p:txBody>
      </p:sp>
      <p:sp>
        <p:nvSpPr>
          <p:cNvPr id="4" name="Text 2"/>
          <p:cNvSpPr/>
          <p:nvPr/>
        </p:nvSpPr>
        <p:spPr>
          <a:xfrm>
            <a:off x="566928" y="3063240"/>
            <a:ext cx="7680960" cy="777240"/>
          </a:xfrm>
          <a:prstGeom prst="rect">
            <a:avLst/>
          </a:prstGeom>
          <a:noFill/>
          <a:ln/>
        </p:spPr>
        <p:txBody>
          <a:bodyPr wrap="square" lIns="0" tIns="0" rIns="0" bIns="0" rtlCol="0" anchor="t"/>
          <a:lstStyle/>
          <a:p>
            <a:pPr indent="0" marL="0">
              <a:buNone/>
            </a:pPr>
            <a:r>
              <a:rPr lang="en-US" sz="1900" dirty="0">
                <a:solidFill>
                  <a:srgbClr val="CBE6EB"/>
                </a:solidFill>
                <a:latin typeface="Calibri" pitchFamily="34" charset="0"/>
                <a:ea typeface="Calibri" pitchFamily="34" charset="-122"/>
                <a:cs typeface="Calibri" pitchFamily="34" charset="-120"/>
              </a:rPr>
              <a:t>Staging, Differential Diagnosis, and Physical Therapy Management</a:t>
            </a:r>
            <a:endParaRPr lang="en-US" sz="1900" dirty="0"/>
          </a:p>
        </p:txBody>
      </p:sp>
      <p:sp>
        <p:nvSpPr>
          <p:cNvPr id="5" name="Shape 3"/>
          <p:cNvSpPr/>
          <p:nvPr/>
        </p:nvSpPr>
        <p:spPr>
          <a:xfrm>
            <a:off x="566928" y="4160520"/>
            <a:ext cx="5669280" cy="0"/>
          </a:xfrm>
          <a:prstGeom prst="line">
            <a:avLst/>
          </a:prstGeom>
          <a:noFill/>
          <a:ln w="12700">
            <a:solidFill>
              <a:srgbClr val="3E7C8A"/>
            </a:solidFill>
            <a:prstDash val="solid"/>
          </a:ln>
        </p:spPr>
      </p:sp>
      <p:sp>
        <p:nvSpPr>
          <p:cNvPr id="6" name="Text 4"/>
          <p:cNvSpPr/>
          <p:nvPr/>
        </p:nvSpPr>
        <p:spPr>
          <a:xfrm>
            <a:off x="566928" y="4389120"/>
            <a:ext cx="7680960" cy="118872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Dr. Sara S. Morrison</a:t>
            </a:r>
            <a:endParaRPr lang="en-US" sz="1900" dirty="0"/>
          </a:p>
          <a:p>
            <a:pPr indent="0" marL="0">
              <a:buNone/>
            </a:pPr>
            <a:r>
              <a:rPr lang="en-US" sz="1300" dirty="0">
                <a:solidFill>
                  <a:srgbClr val="A8CFD8"/>
                </a:solidFill>
                <a:latin typeface="Calibri" pitchFamily="34" charset="0"/>
                <a:ea typeface="Calibri" pitchFamily="34" charset="-122"/>
                <a:cs typeface="Calibri" pitchFamily="34" charset="-120"/>
              </a:rPr>
              <a:t>PT, DPT, CDT, Cert DN, PCES, CFT, FMT</a:t>
            </a:r>
            <a:endParaRPr lang="en-US" sz="1900" dirty="0"/>
          </a:p>
          <a:p>
            <a:pPr indent="0" marL="0">
              <a:buNone/>
            </a:pPr>
            <a:r>
              <a:rPr lang="en-US" sz="1300" dirty="0">
                <a:solidFill>
                  <a:srgbClr val="CBE6EB"/>
                </a:solidFill>
                <a:latin typeface="Calibri" pitchFamily="34" charset="0"/>
                <a:ea typeface="Calibri" pitchFamily="34" charset="-122"/>
                <a:cs typeface="Calibri" pitchFamily="34" charset="-120"/>
              </a:rPr>
              <a:t>Founder &amp; Lead Physical Therapist</a:t>
            </a:r>
            <a:endParaRPr lang="en-US" sz="1900" dirty="0"/>
          </a:p>
        </p:txBody>
      </p:sp>
      <p:sp>
        <p:nvSpPr>
          <p:cNvPr id="7" name="Shape 5"/>
          <p:cNvSpPr/>
          <p:nvPr/>
        </p:nvSpPr>
        <p:spPr>
          <a:xfrm>
            <a:off x="8869680" y="1645920"/>
            <a:ext cx="2788920" cy="3429000"/>
          </a:xfrm>
          <a:prstGeom prst="roundRect">
            <a:avLst>
              <a:gd name="adj" fmla="val 3934"/>
            </a:avLst>
          </a:prstGeom>
          <a:solidFill>
            <a:srgbClr val="FFFFFF"/>
          </a:solidFill>
          <a:ln w="12700">
            <a:solidFill>
              <a:srgbClr val="FFFFFF"/>
            </a:solidFill>
            <a:prstDash val="solid"/>
          </a:ln>
        </p:spPr>
      </p:sp>
      <p:pic>
        <p:nvPicPr>
          <p:cNvPr id="8" name="Image 0" descr="/home/claude/build/assets/qr.png">    </p:cNvPr>
          <p:cNvPicPr>
            <a:picLocks noChangeAspect="1"/>
          </p:cNvPicPr>
          <p:nvPr/>
        </p:nvPicPr>
        <p:blipFill>
          <a:blip r:embed="rId1"/>
          <a:stretch>
            <a:fillRect/>
          </a:stretch>
        </p:blipFill>
        <p:spPr>
          <a:xfrm>
            <a:off x="9189720" y="2194560"/>
            <a:ext cx="2148840" cy="2148840"/>
          </a:xfrm>
          <a:prstGeom prst="rect">
            <a:avLst/>
          </a:prstGeom>
        </p:spPr>
      </p:pic>
      <p:sp>
        <p:nvSpPr>
          <p:cNvPr id="9" name="Text 6"/>
          <p:cNvSpPr/>
          <p:nvPr/>
        </p:nvSpPr>
        <p:spPr>
          <a:xfrm>
            <a:off x="8869680" y="1828800"/>
            <a:ext cx="2788920" cy="274320"/>
          </a:xfrm>
          <a:prstGeom prst="rect">
            <a:avLst/>
          </a:prstGeom>
          <a:noFill/>
          <a:ln/>
        </p:spPr>
        <p:txBody>
          <a:bodyPr wrap="square" lIns="0" tIns="0" rIns="0" bIns="0" rtlCol="0" anchor="ctr"/>
          <a:lstStyle/>
          <a:p>
            <a:pPr algn="ctr" indent="0" marL="0">
              <a:buNone/>
            </a:pPr>
            <a:r>
              <a:rPr lang="en-US" sz="1000" b="1" spc="120" kern="0" dirty="0">
                <a:solidFill>
                  <a:srgbClr val="025462"/>
                </a:solidFill>
                <a:latin typeface="Calibri" pitchFamily="34" charset="0"/>
                <a:ea typeface="Calibri" pitchFamily="34" charset="-122"/>
                <a:cs typeface="Calibri" pitchFamily="34" charset="-120"/>
              </a:rPr>
              <a:t>SCAN TO FOLLOW ALONG</a:t>
            </a:r>
            <a:endParaRPr lang="en-US" sz="1000" dirty="0"/>
          </a:p>
        </p:txBody>
      </p:sp>
      <p:sp>
        <p:nvSpPr>
          <p:cNvPr id="10" name="Text 7"/>
          <p:cNvSpPr/>
          <p:nvPr/>
        </p:nvSpPr>
        <p:spPr>
          <a:xfrm>
            <a:off x="8915400" y="4434840"/>
            <a:ext cx="2697480" cy="457200"/>
          </a:xfrm>
          <a:prstGeom prst="rect">
            <a:avLst/>
          </a:prstGeom>
          <a:noFill/>
          <a:ln/>
        </p:spPr>
        <p:txBody>
          <a:bodyPr wrap="square" lIns="0" tIns="0" rIns="0" bIns="0" rtlCol="0" anchor="ctr"/>
          <a:lstStyle/>
          <a:p>
            <a:pPr algn="ctr" indent="0" marL="0">
              <a:buNone/>
            </a:pPr>
            <a:r>
              <a:rPr lang="en-US" sz="950" dirty="0">
                <a:solidFill>
                  <a:srgbClr val="36454F"/>
                </a:solidFill>
                <a:latin typeface="Calibri" pitchFamily="34" charset="0"/>
                <a:ea typeface="Calibri" pitchFamily="34" charset="-122"/>
                <a:cs typeface="Calibri" pitchFamily="34" charset="-120"/>
              </a:rPr>
              <a:t>Presentation, outline &amp; self-check quiz</a:t>
            </a:r>
            <a:endParaRPr lang="en-US" sz="950" dirty="0"/>
          </a:p>
        </p:txBody>
      </p:sp>
      <p:sp>
        <p:nvSpPr>
          <p:cNvPr id="11" name="Text 8"/>
          <p:cNvSpPr/>
          <p:nvPr/>
        </p:nvSpPr>
        <p:spPr>
          <a:xfrm>
            <a:off x="566928" y="6199632"/>
            <a:ext cx="11057839" cy="274320"/>
          </a:xfrm>
          <a:prstGeom prst="rect">
            <a:avLst/>
          </a:prstGeom>
          <a:noFill/>
          <a:ln/>
        </p:spPr>
        <p:txBody>
          <a:bodyPr wrap="square" lIns="0" tIns="0" rIns="0" bIns="0" rtlCol="0" anchor="ctr"/>
          <a:lstStyle/>
          <a:p>
            <a:pPr indent="0" marL="0">
              <a:buNone/>
            </a:pPr>
            <a:r>
              <a:rPr lang="en-US" sz="1100" dirty="0">
                <a:solidFill>
                  <a:srgbClr val="8FB4BE"/>
                </a:solidFill>
                <a:latin typeface="Calibri" pitchFamily="34" charset="0"/>
                <a:ea typeface="Calibri" pitchFamily="34" charset="-122"/>
                <a:cs typeface="Calibri" pitchFamily="34" charset="-120"/>
              </a:rPr>
              <a:t>260 Pine State Street, Lillington, NC 27546  ·  (910) 893-2850  ·  tbtwonline.com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2</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ABOUT</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About Total Body Therapy &amp; Wellness</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Founded in Lillington, NC in 2008 with the goal of bringing exceptional "Big City Care" to a small-town community. Physical therapy in Harnett County since 2002.</a:t>
            </a:r>
            <a:endParaRPr lang="en-US" sz="1650" dirty="0"/>
          </a:p>
        </p:txBody>
      </p:sp>
      <p:sp>
        <p:nvSpPr>
          <p:cNvPr id="6" name="Shape 4"/>
          <p:cNvSpPr/>
          <p:nvPr/>
        </p:nvSpPr>
        <p:spPr>
          <a:xfrm>
            <a:off x="566928" y="2231136"/>
            <a:ext cx="11057839" cy="2651760"/>
          </a:xfrm>
          <a:prstGeom prst="roundRect">
            <a:avLst>
              <a:gd name="adj" fmla="val 3103"/>
            </a:avLst>
          </a:prstGeom>
          <a:solidFill>
            <a:srgbClr val="FFFFFF"/>
          </a:solidFill>
          <a:ln w="12700">
            <a:solidFill>
              <a:srgbClr val="DCE6E8"/>
            </a:solidFill>
            <a:prstDash val="solid"/>
          </a:ln>
        </p:spPr>
      </p:sp>
      <p:sp>
        <p:nvSpPr>
          <p:cNvPr id="7" name="Text 5"/>
          <p:cNvSpPr/>
          <p:nvPr/>
        </p:nvSpPr>
        <p:spPr>
          <a:xfrm>
            <a:off x="886968" y="2505456"/>
            <a:ext cx="10417759" cy="219456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rgbClr val="1B2A30"/>
                </a:solidFill>
                <a:latin typeface="Calibri" pitchFamily="34" charset="0"/>
                <a:ea typeface="Calibri" pitchFamily="34" charset="-122"/>
                <a:cs typeface="Calibri" pitchFamily="34" charset="-120"/>
              </a:rPr>
              <a:t>Patient-centered, one-on-one treatment every visit</a:t>
            </a:r>
            <a:endParaRPr lang="en-US" sz="1500" dirty="0"/>
          </a:p>
          <a:p>
            <a:pPr marL="190500" indent="-190500">
              <a:spcAft>
                <a:spcPts val="600"/>
              </a:spcAft>
              <a:buSzPct val="100000"/>
              <a:buChar char="•"/>
            </a:pPr>
            <a:r>
              <a:rPr lang="en-US" sz="1500" dirty="0">
                <a:solidFill>
                  <a:srgbClr val="1B2A30"/>
                </a:solidFill>
                <a:latin typeface="Calibri" pitchFamily="34" charset="0"/>
                <a:ea typeface="Calibri" pitchFamily="34" charset="-122"/>
                <a:cs typeface="Calibri" pitchFamily="34" charset="-120"/>
              </a:rPr>
              <a:t>Certified Lymphedema Therapists (CLT) on staff</a:t>
            </a:r>
            <a:endParaRPr lang="en-US" sz="1500" dirty="0"/>
          </a:p>
          <a:p>
            <a:pPr marL="190500" indent="-190500">
              <a:spcAft>
                <a:spcPts val="600"/>
              </a:spcAft>
              <a:buSzPct val="100000"/>
              <a:buChar char="•"/>
            </a:pPr>
            <a:r>
              <a:rPr lang="en-US" sz="1500" dirty="0">
                <a:solidFill>
                  <a:srgbClr val="1B2A30"/>
                </a:solidFill>
                <a:latin typeface="Calibri" pitchFamily="34" charset="0"/>
                <a:ea typeface="Calibri" pitchFamily="34" charset="-122"/>
                <a:cs typeface="Calibri" pitchFamily="34" charset="-120"/>
              </a:rPr>
              <a:t>Whole-person approach — we treat the total body, not just the part</a:t>
            </a:r>
            <a:endParaRPr lang="en-US" sz="1500" dirty="0"/>
          </a:p>
          <a:p>
            <a:pPr marL="190500" indent="-190500">
              <a:spcAft>
                <a:spcPts val="600"/>
              </a:spcAft>
              <a:buSzPct val="100000"/>
              <a:buChar char="•"/>
            </a:pPr>
            <a:r>
              <a:rPr lang="en-US" sz="1500" dirty="0">
                <a:solidFill>
                  <a:srgbClr val="1B2A30"/>
                </a:solidFill>
                <a:latin typeface="Calibri" pitchFamily="34" charset="0"/>
                <a:ea typeface="Calibri" pitchFamily="34" charset="-122"/>
                <a:cs typeface="Calibri" pitchFamily="34" charset="-120"/>
              </a:rPr>
              <a:t>Patient education as a core part of the plan of care</a:t>
            </a:r>
            <a:endParaRPr lang="en-US" sz="1500" dirty="0"/>
          </a:p>
        </p:txBody>
      </p:sp>
      <p:sp>
        <p:nvSpPr>
          <p:cNvPr id="8" name="Text 6"/>
          <p:cNvSpPr/>
          <p:nvPr/>
        </p:nvSpPr>
        <p:spPr>
          <a:xfrm>
            <a:off x="566928" y="5111496"/>
            <a:ext cx="11057839" cy="274320"/>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260 Pine State Street, Lillington, NC 27546  ·  (910) 893-2850  ·  tbtwonline.com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3</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OBJECTIVES</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On completion you will be able to</a:t>
            </a:r>
            <a:endParaRPr lang="en-US" sz="3400" dirty="0"/>
          </a:p>
        </p:txBody>
      </p:sp>
      <p:sp>
        <p:nvSpPr>
          <p:cNvPr id="5" name="Text 3"/>
          <p:cNvSpPr/>
          <p:nvPr/>
        </p:nvSpPr>
        <p:spPr>
          <a:xfrm>
            <a:off x="566928" y="1691640"/>
            <a:ext cx="5391760" cy="4206240"/>
          </a:xfrm>
          <a:prstGeom prst="rect">
            <a:avLst/>
          </a:prstGeom>
          <a:noFill/>
          <a:ln/>
        </p:spPr>
        <p:txBody>
          <a:bodyPr wrap="square" lIns="0" tIns="0" rIns="0" bIns="0" rtlCol="0" anchor="t"/>
          <a:lstStyle/>
          <a:p>
            <a:pPr indent="0" marL="0">
              <a:buNone/>
            </a:pPr>
            <a:r>
              <a:rPr lang="en-US" sz="1300" b="1" dirty="0">
                <a:solidFill>
                  <a:srgbClr val="028090"/>
                </a:solidFill>
                <a:latin typeface="Calibri" pitchFamily="34" charset="0"/>
                <a:ea typeface="Calibri" pitchFamily="34" charset="-122"/>
                <a:cs typeface="Calibri" pitchFamily="34" charset="-120"/>
              </a:rPr>
              <a:t>1.  </a:t>
            </a:r>
            <a:pPr indent="0" marL="0">
              <a:spcAft>
                <a:spcPts val="1000"/>
              </a:spcAft>
              <a:buNone/>
            </a:pPr>
            <a:r>
              <a:rPr lang="en-US" sz="1300" dirty="0">
                <a:solidFill>
                  <a:srgbClr val="1B2A30"/>
                </a:solidFill>
                <a:latin typeface="Calibri" pitchFamily="34" charset="0"/>
                <a:ea typeface="Calibri" pitchFamily="34" charset="-122"/>
                <a:cs typeface="Calibri" pitchFamily="34" charset="-120"/>
              </a:rPr>
              <a:t>Describe the structure and function of the lymphatic system</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2.  </a:t>
            </a:r>
            <a:pPr indent="0" marL="0">
              <a:spcAft>
                <a:spcPts val="1000"/>
              </a:spcAft>
              <a:buNone/>
            </a:pPr>
            <a:r>
              <a:rPr lang="en-US" sz="1300" dirty="0">
                <a:solidFill>
                  <a:srgbClr val="1B2A30"/>
                </a:solidFill>
                <a:latin typeface="Calibri" pitchFamily="34" charset="0"/>
                <a:ea typeface="Calibri" pitchFamily="34" charset="-122"/>
                <a:cs typeface="Calibri" pitchFamily="34" charset="-120"/>
              </a:rPr>
              <a:t>Differentiate primary from secondary lymphedema and identify risk factors</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3.  </a:t>
            </a:r>
            <a:pPr indent="0" marL="0">
              <a:spcAft>
                <a:spcPts val="1000"/>
              </a:spcAft>
              <a:buNone/>
            </a:pPr>
            <a:r>
              <a:rPr lang="en-US" sz="1300" dirty="0">
                <a:solidFill>
                  <a:srgbClr val="1B2A30"/>
                </a:solidFill>
                <a:latin typeface="Calibri" pitchFamily="34" charset="0"/>
                <a:ea typeface="Calibri" pitchFamily="34" charset="-122"/>
                <a:cs typeface="Calibri" pitchFamily="34" charset="-120"/>
              </a:rPr>
              <a:t>Recognize the symptomatology and clinical presentation of lymphedema</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4.  </a:t>
            </a:r>
            <a:pPr indent="0" marL="0">
              <a:spcAft>
                <a:spcPts val="1000"/>
              </a:spcAft>
              <a:buNone/>
            </a:pPr>
            <a:r>
              <a:rPr lang="en-US" sz="1300" dirty="0">
                <a:solidFill>
                  <a:srgbClr val="1B2A30"/>
                </a:solidFill>
                <a:latin typeface="Calibri" pitchFamily="34" charset="0"/>
                <a:ea typeface="Calibri" pitchFamily="34" charset="-122"/>
                <a:cs typeface="Calibri" pitchFamily="34" charset="-120"/>
              </a:rPr>
              <a:t>Perform and interpret key diagnostic tests, including Stemmer's sign</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5.  </a:t>
            </a:r>
            <a:pPr indent="0" marL="0">
              <a:spcAft>
                <a:spcPts val="1000"/>
              </a:spcAft>
              <a:buNone/>
            </a:pPr>
            <a:r>
              <a:rPr lang="en-US" sz="1300" dirty="0">
                <a:solidFill>
                  <a:srgbClr val="1B2A30"/>
                </a:solidFill>
                <a:latin typeface="Calibri" pitchFamily="34" charset="0"/>
                <a:ea typeface="Calibri" pitchFamily="34" charset="-122"/>
                <a:cs typeface="Calibri" pitchFamily="34" charset="-120"/>
              </a:rPr>
              <a:t>Stage lymphedema using ISL criteria, Stage 0 through Stage III</a:t>
            </a:r>
            <a:endParaRPr lang="en-US" sz="1300" dirty="0"/>
          </a:p>
        </p:txBody>
      </p:sp>
      <p:sp>
        <p:nvSpPr>
          <p:cNvPr id="6" name="Text 4"/>
          <p:cNvSpPr/>
          <p:nvPr/>
        </p:nvSpPr>
        <p:spPr>
          <a:xfrm>
            <a:off x="6233008" y="1691640"/>
            <a:ext cx="5391760" cy="4206240"/>
          </a:xfrm>
          <a:prstGeom prst="rect">
            <a:avLst/>
          </a:prstGeom>
          <a:noFill/>
          <a:ln/>
        </p:spPr>
        <p:txBody>
          <a:bodyPr wrap="square" lIns="0" tIns="0" rIns="0" bIns="0" rtlCol="0" anchor="t"/>
          <a:lstStyle/>
          <a:p>
            <a:pPr indent="0" marL="0">
              <a:buNone/>
            </a:pPr>
            <a:r>
              <a:rPr lang="en-US" sz="1300" b="1" dirty="0">
                <a:solidFill>
                  <a:srgbClr val="028090"/>
                </a:solidFill>
                <a:latin typeface="Calibri" pitchFamily="34" charset="0"/>
                <a:ea typeface="Calibri" pitchFamily="34" charset="-122"/>
                <a:cs typeface="Calibri" pitchFamily="34" charset="-120"/>
              </a:rPr>
              <a:t>6.  </a:t>
            </a:r>
            <a:pPr indent="0" marL="0">
              <a:spcAft>
                <a:spcPts val="1000"/>
              </a:spcAft>
              <a:buNone/>
            </a:pPr>
            <a:r>
              <a:rPr lang="en-US" sz="1300" dirty="0">
                <a:solidFill>
                  <a:srgbClr val="1B2A30"/>
                </a:solidFill>
                <a:latin typeface="Calibri" pitchFamily="34" charset="0"/>
                <a:ea typeface="Calibri" pitchFamily="34" charset="-122"/>
                <a:cs typeface="Calibri" pitchFamily="34" charset="-120"/>
              </a:rPr>
              <a:t>Apply the four components of Complete Decongestive Therapy</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7.  </a:t>
            </a:r>
            <a:pPr indent="0" marL="0">
              <a:spcAft>
                <a:spcPts val="1000"/>
              </a:spcAft>
              <a:buNone/>
            </a:pPr>
            <a:r>
              <a:rPr lang="en-US" sz="1300" dirty="0">
                <a:solidFill>
                  <a:srgbClr val="1B2A30"/>
                </a:solidFill>
                <a:latin typeface="Calibri" pitchFamily="34" charset="0"/>
                <a:ea typeface="Calibri" pitchFamily="34" charset="-122"/>
                <a:cs typeface="Calibri" pitchFamily="34" charset="-120"/>
              </a:rPr>
              <a:t>Select an appropriate long-term compression garment, including adjustable wrap and custom options</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8.  </a:t>
            </a:r>
            <a:pPr indent="0" marL="0">
              <a:spcAft>
                <a:spcPts val="1000"/>
              </a:spcAft>
              <a:buNone/>
            </a:pPr>
            <a:r>
              <a:rPr lang="en-US" sz="1300" dirty="0">
                <a:solidFill>
                  <a:srgbClr val="1B2A30"/>
                </a:solidFill>
                <a:latin typeface="Calibri" pitchFamily="34" charset="0"/>
                <a:ea typeface="Calibri" pitchFamily="34" charset="-122"/>
                <a:cs typeface="Calibri" pitchFamily="34" charset="-120"/>
              </a:rPr>
              <a:t>Distinguish lipedema from lymphedema and stage lipedema appropriately</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9.  </a:t>
            </a:r>
            <a:pPr indent="0" marL="0">
              <a:spcAft>
                <a:spcPts val="1000"/>
              </a:spcAft>
              <a:buNone/>
            </a:pPr>
            <a:r>
              <a:rPr lang="en-US" sz="1300" dirty="0">
                <a:solidFill>
                  <a:srgbClr val="1B2A30"/>
                </a:solidFill>
                <a:latin typeface="Calibri" pitchFamily="34" charset="0"/>
                <a:ea typeface="Calibri" pitchFamily="34" charset="-122"/>
                <a:cs typeface="Calibri" pitchFamily="34" charset="-120"/>
              </a:rPr>
              <a:t>Identify red flags requiring physician referral</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10.  </a:t>
            </a:r>
            <a:pPr indent="0" marL="0">
              <a:spcAft>
                <a:spcPts val="1000"/>
              </a:spcAft>
              <a:buNone/>
            </a:pPr>
            <a:r>
              <a:rPr lang="en-US" sz="1300" dirty="0">
                <a:solidFill>
                  <a:srgbClr val="1B2A30"/>
                </a:solidFill>
                <a:latin typeface="Calibri" pitchFamily="34" charset="0"/>
                <a:ea typeface="Calibri" pitchFamily="34" charset="-122"/>
                <a:cs typeface="Calibri" pitchFamily="34" charset="-120"/>
              </a:rPr>
              <a:t>Identify gait, balance, and orthopedic needs that persist after decongestion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4</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FOUNDATIONS</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The Lymphatic System</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A one-way drainage network running parallel to the venous system, returning fluid, protein, and immune cells to circulation.</a:t>
            </a:r>
            <a:endParaRPr lang="en-US" sz="1650" dirty="0"/>
          </a:p>
        </p:txBody>
      </p:sp>
      <p:pic>
        <p:nvPicPr>
          <p:cNvPr id="6" name="Image 0" descr="/home/claude/build/assets/lymph_pathway.png">    </p:cNvPr>
          <p:cNvPicPr>
            <a:picLocks noChangeAspect="1"/>
          </p:cNvPicPr>
          <p:nvPr/>
        </p:nvPicPr>
        <p:blipFill>
          <a:blip r:embed="rId1"/>
          <a:stretch>
            <a:fillRect/>
          </a:stretch>
        </p:blipFill>
        <p:spPr>
          <a:xfrm>
            <a:off x="6787113" y="2322576"/>
            <a:ext cx="4783269" cy="3291840"/>
          </a:xfrm>
          <a:prstGeom prst="rect">
            <a:avLst/>
          </a:prstGeom>
        </p:spPr>
      </p:pic>
      <p:sp>
        <p:nvSpPr>
          <p:cNvPr id="7" name="Shape 4"/>
          <p:cNvSpPr/>
          <p:nvPr/>
        </p:nvSpPr>
        <p:spPr>
          <a:xfrm>
            <a:off x="566928" y="2231136"/>
            <a:ext cx="5754319" cy="1780032"/>
          </a:xfrm>
          <a:prstGeom prst="roundRect">
            <a:avLst>
              <a:gd name="adj" fmla="val 4623"/>
            </a:avLst>
          </a:prstGeom>
          <a:solidFill>
            <a:srgbClr val="FFFFFF"/>
          </a:solidFill>
          <a:ln w="12700">
            <a:solidFill>
              <a:srgbClr val="DCE6E8"/>
            </a:solidFill>
            <a:prstDash val="solid"/>
          </a:ln>
        </p:spPr>
      </p:sp>
      <p:sp>
        <p:nvSpPr>
          <p:cNvPr id="8" name="Text 5"/>
          <p:cNvSpPr/>
          <p:nvPr/>
        </p:nvSpPr>
        <p:spPr>
          <a:xfrm>
            <a:off x="822960" y="2359152"/>
            <a:ext cx="5242255" cy="274320"/>
          </a:xfrm>
          <a:prstGeom prst="rect">
            <a:avLst/>
          </a:prstGeom>
          <a:noFill/>
          <a:ln/>
        </p:spPr>
        <p:txBody>
          <a:bodyPr wrap="square" lIns="0" tIns="0" rIns="0" bIns="0" rtlCol="0" anchor="ctr"/>
          <a:lstStyle/>
          <a:p>
            <a:pPr indent="0" marL="0">
              <a:buNone/>
            </a:pPr>
            <a:r>
              <a:rPr lang="en-US" sz="1750" b="1" dirty="0">
                <a:solidFill>
                  <a:srgbClr val="025462"/>
                </a:solidFill>
                <a:latin typeface="Calibri" pitchFamily="34" charset="0"/>
                <a:ea typeface="Calibri" pitchFamily="34" charset="-122"/>
                <a:cs typeface="Calibri" pitchFamily="34" charset="-120"/>
              </a:rPr>
              <a:t>Three jobs</a:t>
            </a:r>
            <a:endParaRPr lang="en-US" sz="1750" dirty="0"/>
          </a:p>
        </p:txBody>
      </p:sp>
      <p:sp>
        <p:nvSpPr>
          <p:cNvPr id="9" name="Text 6"/>
          <p:cNvSpPr/>
          <p:nvPr/>
        </p:nvSpPr>
        <p:spPr>
          <a:xfrm>
            <a:off x="822960" y="2706624"/>
            <a:ext cx="5242255" cy="1139952"/>
          </a:xfrm>
          <a:prstGeom prst="rect">
            <a:avLst/>
          </a:prstGeom>
          <a:noFill/>
          <a:ln/>
        </p:spPr>
        <p:txBody>
          <a:bodyPr wrap="square" lIns="0" tIns="0" rIns="0" bIns="0" rtlCol="0" anchor="t"/>
          <a:lstStyle/>
          <a:p>
            <a:pPr marL="190500" indent="-190500">
              <a:spcAft>
                <a:spcPts val="600"/>
              </a:spcAft>
              <a:buSzPct val="100000"/>
              <a:buChar char="•"/>
            </a:pPr>
            <a:r>
              <a:rPr lang="en-US" sz="1600" b="1" dirty="0">
                <a:solidFill>
                  <a:srgbClr val="1B2A30"/>
                </a:solidFill>
                <a:latin typeface="Calibri" pitchFamily="34" charset="0"/>
                <a:ea typeface="Calibri" pitchFamily="34" charset="-122"/>
                <a:cs typeface="Calibri" pitchFamily="34" charset="-120"/>
              </a:rPr>
              <a:t>Fluid balance</a:t>
            </a:r>
            <a:pPr indent="0" marL="0">
              <a:spcAft>
                <a:spcPts val="600"/>
              </a:spcAft>
              <a:buNone/>
            </a:pPr>
            <a:r>
              <a:rPr lang="en-US" sz="1600" dirty="0">
                <a:solidFill>
                  <a:srgbClr val="1B2A30"/>
                </a:solidFill>
                <a:latin typeface="Calibri" pitchFamily="34" charset="0"/>
                <a:ea typeface="Calibri" pitchFamily="34" charset="-122"/>
                <a:cs typeface="Calibri" pitchFamily="34" charset="-120"/>
              </a:rPr>
              <a:t> — returns 2–4 L/day to circulation</a:t>
            </a:r>
            <a:endParaRPr lang="en-US" sz="1600" dirty="0"/>
          </a:p>
          <a:p>
            <a:pPr marL="190500" indent="-190500">
              <a:spcAft>
                <a:spcPts val="600"/>
              </a:spcAft>
              <a:buSzPct val="100000"/>
              <a:buChar char="•"/>
            </a:pPr>
            <a:r>
              <a:rPr lang="en-US" sz="1600" b="1" dirty="0">
                <a:solidFill>
                  <a:srgbClr val="1B2A30"/>
                </a:solidFill>
                <a:latin typeface="Calibri" pitchFamily="34" charset="0"/>
                <a:ea typeface="Calibri" pitchFamily="34" charset="-122"/>
                <a:cs typeface="Calibri" pitchFamily="34" charset="-120"/>
              </a:rPr>
              <a:t>Protein transport</a:t>
            </a:r>
            <a:pPr indent="0" marL="0">
              <a:spcAft>
                <a:spcPts val="600"/>
              </a:spcAft>
              <a:buNone/>
            </a:pPr>
            <a:r>
              <a:rPr lang="en-US" sz="1600" dirty="0">
                <a:solidFill>
                  <a:srgbClr val="1B2A30"/>
                </a:solidFill>
                <a:latin typeface="Calibri" pitchFamily="34" charset="0"/>
                <a:ea typeface="Calibri" pitchFamily="34" charset="-122"/>
                <a:cs typeface="Calibri" pitchFamily="34" charset="-120"/>
              </a:rPr>
              <a:t> — the only route back for large proteins</a:t>
            </a:r>
            <a:endParaRPr lang="en-US" sz="1600" dirty="0"/>
          </a:p>
          <a:p>
            <a:pPr marL="190500" indent="-190500">
              <a:spcAft>
                <a:spcPts val="600"/>
              </a:spcAft>
              <a:buSzPct val="100000"/>
              <a:buChar char="•"/>
            </a:pPr>
            <a:r>
              <a:rPr lang="en-US" sz="1600" b="1" dirty="0">
                <a:solidFill>
                  <a:srgbClr val="1B2A30"/>
                </a:solidFill>
                <a:latin typeface="Calibri" pitchFamily="34" charset="0"/>
                <a:ea typeface="Calibri" pitchFamily="34" charset="-122"/>
                <a:cs typeface="Calibri" pitchFamily="34" charset="-120"/>
              </a:rPr>
              <a:t>Immune surveillance</a:t>
            </a:r>
            <a:pPr indent="0" marL="0">
              <a:spcAft>
                <a:spcPts val="600"/>
              </a:spcAft>
              <a:buNone/>
            </a:pPr>
            <a:r>
              <a:rPr lang="en-US" sz="1600" dirty="0">
                <a:solidFill>
                  <a:srgbClr val="1B2A30"/>
                </a:solidFill>
                <a:latin typeface="Calibri" pitchFamily="34" charset="0"/>
                <a:ea typeface="Calibri" pitchFamily="34" charset="-122"/>
                <a:cs typeface="Calibri" pitchFamily="34" charset="-120"/>
              </a:rPr>
              <a:t> — nodes filter, host lymphocytes</a:t>
            </a:r>
            <a:endParaRPr lang="en-US" sz="1600" dirty="0"/>
          </a:p>
        </p:txBody>
      </p:sp>
      <p:sp>
        <p:nvSpPr>
          <p:cNvPr id="10" name="Shape 7"/>
          <p:cNvSpPr/>
          <p:nvPr/>
        </p:nvSpPr>
        <p:spPr>
          <a:xfrm>
            <a:off x="566928" y="4175760"/>
            <a:ext cx="5754319" cy="2111248"/>
          </a:xfrm>
          <a:prstGeom prst="roundRect">
            <a:avLst>
              <a:gd name="adj" fmla="val 3898"/>
            </a:avLst>
          </a:prstGeom>
          <a:solidFill>
            <a:srgbClr val="FFFFFF"/>
          </a:solidFill>
          <a:ln w="12700">
            <a:solidFill>
              <a:srgbClr val="DCE6E8"/>
            </a:solidFill>
            <a:prstDash val="solid"/>
          </a:ln>
        </p:spPr>
      </p:sp>
      <p:sp>
        <p:nvSpPr>
          <p:cNvPr id="11" name="Text 8"/>
          <p:cNvSpPr/>
          <p:nvPr/>
        </p:nvSpPr>
        <p:spPr>
          <a:xfrm>
            <a:off x="822960" y="4303776"/>
            <a:ext cx="5242255" cy="274320"/>
          </a:xfrm>
          <a:prstGeom prst="rect">
            <a:avLst/>
          </a:prstGeom>
          <a:noFill/>
          <a:ln/>
        </p:spPr>
        <p:txBody>
          <a:bodyPr wrap="square" lIns="0" tIns="0" rIns="0" bIns="0" rtlCol="0" anchor="ctr"/>
          <a:lstStyle/>
          <a:p>
            <a:pPr indent="0" marL="0">
              <a:buNone/>
            </a:pPr>
            <a:r>
              <a:rPr lang="en-US" sz="1750" b="1" dirty="0">
                <a:solidFill>
                  <a:srgbClr val="025462"/>
                </a:solidFill>
                <a:latin typeface="Calibri" pitchFamily="34" charset="0"/>
                <a:ea typeface="Calibri" pitchFamily="34" charset="-122"/>
                <a:cs typeface="Calibri" pitchFamily="34" charset="-120"/>
              </a:rPr>
              <a:t>The pathway</a:t>
            </a:r>
            <a:endParaRPr lang="en-US" sz="1750" dirty="0"/>
          </a:p>
        </p:txBody>
      </p:sp>
      <p:sp>
        <p:nvSpPr>
          <p:cNvPr id="12" name="Text 9"/>
          <p:cNvSpPr/>
          <p:nvPr/>
        </p:nvSpPr>
        <p:spPr>
          <a:xfrm>
            <a:off x="822960" y="4651248"/>
            <a:ext cx="5242255" cy="1471168"/>
          </a:xfrm>
          <a:prstGeom prst="rect">
            <a:avLst/>
          </a:prstGeom>
          <a:noFill/>
          <a:ln/>
        </p:spPr>
        <p:txBody>
          <a:bodyPr wrap="square" lIns="0" tIns="0" rIns="0" bIns="0" rtlCol="0" anchor="t"/>
          <a:lstStyle/>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Initial lymphatics collect interstitial fluid</a:t>
            </a:r>
            <a:endParaRPr lang="en-US" sz="1600" dirty="0"/>
          </a:p>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Collectors move lymph via lymphangions</a:t>
            </a:r>
            <a:endParaRPr lang="en-US" sz="1600" dirty="0"/>
          </a:p>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Regional nodes filter the load</a:t>
            </a:r>
            <a:endParaRPr lang="en-US" sz="1600" dirty="0"/>
          </a:p>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Thoracic duct → subclavian veins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5</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FOUNDATIONS</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Lymph Load vs. Transport Capacity</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Every case of lymphedema is a mismatch between how much fluid needs to move and how much the system can move.</a:t>
            </a:r>
            <a:endParaRPr lang="en-US" sz="1650" dirty="0"/>
          </a:p>
        </p:txBody>
      </p:sp>
      <p:pic>
        <p:nvPicPr>
          <p:cNvPr id="6" name="Image 0" descr="/home/claude/build/assets/load_capacity.png">    </p:cNvPr>
          <p:cNvPicPr>
            <a:picLocks noChangeAspect="1"/>
          </p:cNvPicPr>
          <p:nvPr/>
        </p:nvPicPr>
        <p:blipFill>
          <a:blip r:embed="rId1"/>
          <a:stretch>
            <a:fillRect/>
          </a:stretch>
        </p:blipFill>
        <p:spPr>
          <a:xfrm>
            <a:off x="2620809" y="2231136"/>
            <a:ext cx="6950078" cy="3712464"/>
          </a:xfrm>
          <a:prstGeom prst="rect">
            <a:avLst/>
          </a:prstGeom>
        </p:spPr>
      </p:pic>
      <p:sp>
        <p:nvSpPr>
          <p:cNvPr id="7" name="Text 4"/>
          <p:cNvSpPr/>
          <p:nvPr/>
        </p:nvSpPr>
        <p:spPr>
          <a:xfrm>
            <a:off x="566928" y="6016752"/>
            <a:ext cx="11057839" cy="502920"/>
          </a:xfrm>
          <a:prstGeom prst="rect">
            <a:avLst/>
          </a:prstGeom>
          <a:noFill/>
          <a:ln/>
        </p:spPr>
        <p:txBody>
          <a:bodyPr wrap="square" lIns="0" tIns="0" rIns="0" bIns="0" rtlCol="0" anchor="t"/>
          <a:lstStyle/>
          <a:p>
            <a:pPr indent="0" marL="0">
              <a:buNone/>
            </a:pPr>
            <a:r>
              <a:rPr lang="en-US" sz="1100" i="1" dirty="0">
                <a:solidFill>
                  <a:srgbClr val="36454F"/>
                </a:solidFill>
                <a:latin typeface="Calibri" pitchFamily="34" charset="0"/>
                <a:ea typeface="Calibri" pitchFamily="34" charset="-122"/>
                <a:cs typeface="Calibri" pitchFamily="34" charset="-120"/>
              </a:rPr>
              <a:t>Combined insufficiency — high load AND damaged system — is common in the patients you will actually see.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6</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ETIOLOGY</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Primary vs. Secondary Lymphedema</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Primary lymphedema arises from congenital lymphatic dysplasia. Secondary lymphedema follows anatomical disruption of a previously normal system.</a:t>
            </a:r>
            <a:endParaRPr lang="en-US" sz="1650" dirty="0"/>
          </a:p>
        </p:txBody>
      </p:sp>
      <p:pic>
        <p:nvPicPr>
          <p:cNvPr id="6" name="Image 0" descr="/home/claude/build/assets/photos/anat_axillary_nodes.jpg">    </p:cNvPr>
          <p:cNvPicPr>
            <a:picLocks noChangeAspect="1"/>
          </p:cNvPicPr>
          <p:nvPr/>
        </p:nvPicPr>
        <p:blipFill>
          <a:blip r:embed="rId1"/>
          <a:stretch>
            <a:fillRect/>
          </a:stretch>
        </p:blipFill>
        <p:spPr>
          <a:xfrm>
            <a:off x="7016685" y="2322576"/>
            <a:ext cx="4324124" cy="3291840"/>
          </a:xfrm>
          <a:prstGeom prst="rect">
            <a:avLst/>
          </a:prstGeom>
        </p:spPr>
      </p:pic>
      <p:sp>
        <p:nvSpPr>
          <p:cNvPr id="7" name="Shape 4"/>
          <p:cNvSpPr/>
          <p:nvPr/>
        </p:nvSpPr>
        <p:spPr>
          <a:xfrm>
            <a:off x="566928" y="2231136"/>
            <a:ext cx="5754319" cy="1650492"/>
          </a:xfrm>
          <a:prstGeom prst="roundRect">
            <a:avLst>
              <a:gd name="adj" fmla="val 4986"/>
            </a:avLst>
          </a:prstGeom>
          <a:solidFill>
            <a:srgbClr val="FFFFFF"/>
          </a:solidFill>
          <a:ln w="12700">
            <a:solidFill>
              <a:srgbClr val="DCE6E8"/>
            </a:solidFill>
            <a:prstDash val="solid"/>
          </a:ln>
        </p:spPr>
      </p:sp>
      <p:sp>
        <p:nvSpPr>
          <p:cNvPr id="8" name="Text 5"/>
          <p:cNvSpPr/>
          <p:nvPr/>
        </p:nvSpPr>
        <p:spPr>
          <a:xfrm>
            <a:off x="822960" y="2359152"/>
            <a:ext cx="5242255" cy="274320"/>
          </a:xfrm>
          <a:prstGeom prst="rect">
            <a:avLst/>
          </a:prstGeom>
          <a:noFill/>
          <a:ln/>
        </p:spPr>
        <p:txBody>
          <a:bodyPr wrap="square" lIns="0" tIns="0" rIns="0" bIns="0" rtlCol="0" anchor="ctr"/>
          <a:lstStyle/>
          <a:p>
            <a:pPr indent="0" marL="0">
              <a:buNone/>
            </a:pPr>
            <a:r>
              <a:rPr lang="en-US" sz="1500" b="1" dirty="0">
                <a:solidFill>
                  <a:srgbClr val="025462"/>
                </a:solidFill>
                <a:latin typeface="Calibri" pitchFamily="34" charset="0"/>
                <a:ea typeface="Calibri" pitchFamily="34" charset="-122"/>
                <a:cs typeface="Calibri" pitchFamily="34" charset="-120"/>
              </a:rPr>
              <a:t>Primary — developmental</a:t>
            </a:r>
            <a:endParaRPr lang="en-US" sz="1500" dirty="0"/>
          </a:p>
        </p:txBody>
      </p:sp>
      <p:sp>
        <p:nvSpPr>
          <p:cNvPr id="9" name="Text 6"/>
          <p:cNvSpPr/>
          <p:nvPr/>
        </p:nvSpPr>
        <p:spPr>
          <a:xfrm>
            <a:off x="822960" y="2706624"/>
            <a:ext cx="5242255" cy="1010412"/>
          </a:xfrm>
          <a:prstGeom prst="rect">
            <a:avLst/>
          </a:prstGeom>
          <a:noFill/>
          <a:ln/>
        </p:spPr>
        <p:txBody>
          <a:bodyPr wrap="square" lIns="0" tIns="0" rIns="0" bIns="0" rtlCol="0" anchor="t"/>
          <a:lstStyle/>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Congenital</a:t>
            </a:r>
            <a:pPr indent="0" marL="0">
              <a:spcAft>
                <a:spcPts val="600"/>
              </a:spcAft>
              <a:buNone/>
            </a:pPr>
            <a:r>
              <a:rPr lang="en-US" sz="1350" dirty="0">
                <a:solidFill>
                  <a:srgbClr val="1B2A30"/>
                </a:solidFill>
                <a:latin typeface="Calibri" pitchFamily="34" charset="0"/>
                <a:ea typeface="Calibri" pitchFamily="34" charset="-122"/>
                <a:cs typeface="Calibri" pitchFamily="34" charset="-120"/>
              </a:rPr>
              <a:t> — birth to age 2, incl. Milroy disease</a:t>
            </a:r>
            <a:endParaRPr lang="en-US" sz="1350" dirty="0"/>
          </a:p>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Praecox</a:t>
            </a:r>
            <a:pPr indent="0" marL="0">
              <a:spcAft>
                <a:spcPts val="600"/>
              </a:spcAft>
              <a:buNone/>
            </a:pPr>
            <a:r>
              <a:rPr lang="en-US" sz="1350" dirty="0">
                <a:solidFill>
                  <a:srgbClr val="1B2A30"/>
                </a:solidFill>
                <a:latin typeface="Calibri" pitchFamily="34" charset="0"/>
                <a:ea typeface="Calibri" pitchFamily="34" charset="-122"/>
                <a:cs typeface="Calibri" pitchFamily="34" charset="-120"/>
              </a:rPr>
              <a:t> — puberty to 35. Most common primary form.</a:t>
            </a:r>
            <a:endParaRPr lang="en-US" sz="1350" dirty="0"/>
          </a:p>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Tarda</a:t>
            </a:r>
            <a:pPr indent="0" marL="0">
              <a:spcAft>
                <a:spcPts val="600"/>
              </a:spcAft>
              <a:buNone/>
            </a:pPr>
            <a:r>
              <a:rPr lang="en-US" sz="1350" dirty="0">
                <a:solidFill>
                  <a:srgbClr val="1B2A30"/>
                </a:solidFill>
                <a:latin typeface="Calibri" pitchFamily="34" charset="0"/>
                <a:ea typeface="Calibri" pitchFamily="34" charset="-122"/>
                <a:cs typeface="Calibri" pitchFamily="34" charset="-120"/>
              </a:rPr>
              <a:t> — after 35</a:t>
            </a:r>
            <a:endParaRPr lang="en-US" sz="1350" dirty="0"/>
          </a:p>
        </p:txBody>
      </p:sp>
      <p:sp>
        <p:nvSpPr>
          <p:cNvPr id="10" name="Shape 7"/>
          <p:cNvSpPr/>
          <p:nvPr/>
        </p:nvSpPr>
        <p:spPr>
          <a:xfrm>
            <a:off x="566928" y="4046220"/>
            <a:ext cx="5754319" cy="2226564"/>
          </a:xfrm>
          <a:prstGeom prst="roundRect">
            <a:avLst>
              <a:gd name="adj" fmla="val 3696"/>
            </a:avLst>
          </a:prstGeom>
          <a:solidFill>
            <a:srgbClr val="FFFFFF"/>
          </a:solidFill>
          <a:ln w="12700">
            <a:solidFill>
              <a:srgbClr val="DCE6E8"/>
            </a:solidFill>
            <a:prstDash val="solid"/>
          </a:ln>
        </p:spPr>
      </p:sp>
      <p:sp>
        <p:nvSpPr>
          <p:cNvPr id="11" name="Text 8"/>
          <p:cNvSpPr/>
          <p:nvPr/>
        </p:nvSpPr>
        <p:spPr>
          <a:xfrm>
            <a:off x="822960" y="4174236"/>
            <a:ext cx="5242255" cy="274320"/>
          </a:xfrm>
          <a:prstGeom prst="rect">
            <a:avLst/>
          </a:prstGeom>
          <a:noFill/>
          <a:ln/>
        </p:spPr>
        <p:txBody>
          <a:bodyPr wrap="square" lIns="0" tIns="0" rIns="0" bIns="0" rtlCol="0" anchor="ctr"/>
          <a:lstStyle/>
          <a:p>
            <a:pPr indent="0" marL="0">
              <a:buNone/>
            </a:pPr>
            <a:r>
              <a:rPr lang="en-US" sz="1500" b="1" dirty="0">
                <a:solidFill>
                  <a:srgbClr val="025462"/>
                </a:solidFill>
                <a:latin typeface="Calibri" pitchFamily="34" charset="0"/>
                <a:ea typeface="Calibri" pitchFamily="34" charset="-122"/>
                <a:cs typeface="Calibri" pitchFamily="34" charset="-120"/>
              </a:rPr>
              <a:t>Secondary — acquired</a:t>
            </a:r>
            <a:endParaRPr lang="en-US" sz="1500" dirty="0"/>
          </a:p>
        </p:txBody>
      </p:sp>
      <p:sp>
        <p:nvSpPr>
          <p:cNvPr id="12" name="Text 9"/>
          <p:cNvSpPr/>
          <p:nvPr/>
        </p:nvSpPr>
        <p:spPr>
          <a:xfrm>
            <a:off x="822960" y="4521708"/>
            <a:ext cx="5242255" cy="1586484"/>
          </a:xfrm>
          <a:prstGeom prst="rect">
            <a:avLst/>
          </a:prstGeom>
          <a:noFill/>
          <a:ln/>
        </p:spPr>
        <p:txBody>
          <a:bodyPr wrap="square" lIns="0" tIns="0" rIns="0" bIns="0" rtlCol="0" anchor="t"/>
          <a:lstStyle/>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Cancer treatment</a:t>
            </a:r>
            <a:pPr indent="0" marL="0">
              <a:spcAft>
                <a:spcPts val="600"/>
              </a:spcAft>
              <a:buNone/>
            </a:pPr>
            <a:r>
              <a:rPr lang="en-US" sz="1350" dirty="0">
                <a:solidFill>
                  <a:srgbClr val="1B2A30"/>
                </a:solidFill>
                <a:latin typeface="Calibri" pitchFamily="34" charset="0"/>
                <a:ea typeface="Calibri" pitchFamily="34" charset="-122"/>
                <a:cs typeface="Calibri" pitchFamily="34" charset="-120"/>
              </a:rPr>
              <a:t> — node dissection and/or radiation. Leading cause here.</a:t>
            </a:r>
            <a:endParaRPr lang="en-US" sz="1350" dirty="0"/>
          </a:p>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Filariasis</a:t>
            </a:r>
            <a:pPr indent="0" marL="0">
              <a:spcAft>
                <a:spcPts val="600"/>
              </a:spcAft>
              <a:buNone/>
            </a:pPr>
            <a:r>
              <a:rPr lang="en-US" sz="1350" dirty="0">
                <a:solidFill>
                  <a:srgbClr val="1B2A30"/>
                </a:solidFill>
                <a:latin typeface="Calibri" pitchFamily="34" charset="0"/>
                <a:ea typeface="Calibri" pitchFamily="34" charset="-122"/>
                <a:cs typeface="Calibri" pitchFamily="34" charset="-120"/>
              </a:rPr>
              <a:t> — leading cause worldwide</a:t>
            </a:r>
            <a:endParaRPr lang="en-US" sz="1350" dirty="0"/>
          </a:p>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Trauma, surgery, burns</a:t>
            </a:r>
            <a:pPr indent="0" marL="0">
              <a:spcAft>
                <a:spcPts val="600"/>
              </a:spcAft>
              <a:buNone/>
            </a:pPr>
            <a:endParaRPr lang="en-US" sz="1350" dirty="0"/>
          </a:p>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Chronic venous insufficiency</a:t>
            </a:r>
            <a:pPr indent="0" marL="0">
              <a:spcAft>
                <a:spcPts val="600"/>
              </a:spcAft>
              <a:buNone/>
            </a:pPr>
            <a:r>
              <a:rPr lang="en-US" sz="1350" dirty="0">
                <a:solidFill>
                  <a:srgbClr val="1B2A30"/>
                </a:solidFill>
                <a:latin typeface="Calibri" pitchFamily="34" charset="0"/>
                <a:ea typeface="Calibri" pitchFamily="34" charset="-122"/>
                <a:cs typeface="Calibri" pitchFamily="34" charset="-120"/>
              </a:rPr>
              <a:t> → phlebolymphedema</a:t>
            </a:r>
            <a:endParaRPr lang="en-US" sz="1350" dirty="0"/>
          </a:p>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Recurrent infection</a:t>
            </a:r>
            <a:pPr indent="0" marL="0">
              <a:spcAft>
                <a:spcPts val="600"/>
              </a:spcAft>
              <a:buNone/>
            </a:pPr>
            <a:r>
              <a:rPr lang="en-US" sz="1350" dirty="0">
                <a:solidFill>
                  <a:srgbClr val="1B2A30"/>
                </a:solidFill>
                <a:latin typeface="Calibri" pitchFamily="34" charset="0"/>
                <a:ea typeface="Calibri" pitchFamily="34" charset="-122"/>
                <a:cs typeface="Calibri" pitchFamily="34" charset="-120"/>
              </a:rPr>
              <a:t> and obesity</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7</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PRESENTATION</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Symptomatology</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Subjective symptoms frequently precede visible swelling by months. Do not wait for a measurable difference to take a patient seriously.</a:t>
            </a:r>
            <a:endParaRPr lang="en-US" sz="1650" dirty="0"/>
          </a:p>
        </p:txBody>
      </p:sp>
      <p:sp>
        <p:nvSpPr>
          <p:cNvPr id="6" name="Shape 4"/>
          <p:cNvSpPr/>
          <p:nvPr/>
        </p:nvSpPr>
        <p:spPr>
          <a:xfrm>
            <a:off x="566928" y="2376424"/>
            <a:ext cx="3551834" cy="3769360"/>
          </a:xfrm>
          <a:prstGeom prst="roundRect">
            <a:avLst>
              <a:gd name="adj" fmla="val 2317"/>
            </a:avLst>
          </a:prstGeom>
          <a:solidFill>
            <a:srgbClr val="FFFFFF"/>
          </a:solidFill>
          <a:ln w="12700">
            <a:solidFill>
              <a:srgbClr val="DCE6E8"/>
            </a:solidFill>
            <a:prstDash val="solid"/>
          </a:ln>
        </p:spPr>
      </p:sp>
      <p:sp>
        <p:nvSpPr>
          <p:cNvPr id="7" name="Text 5"/>
          <p:cNvSpPr/>
          <p:nvPr/>
        </p:nvSpPr>
        <p:spPr>
          <a:xfrm>
            <a:off x="786384" y="2504440"/>
            <a:ext cx="3112922"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Early — often reported before anything is visible</a:t>
            </a:r>
            <a:endParaRPr lang="en-US" sz="2150" dirty="0"/>
          </a:p>
        </p:txBody>
      </p:sp>
      <p:sp>
        <p:nvSpPr>
          <p:cNvPr id="8" name="Text 6"/>
          <p:cNvSpPr/>
          <p:nvPr/>
        </p:nvSpPr>
        <p:spPr>
          <a:xfrm>
            <a:off x="786384" y="2870200"/>
            <a:ext cx="3112922" cy="3110992"/>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Heaviness, fullness, tightness</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Clothing, rings or shoes fitting differently</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Aching without a mechanical cause</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Swelling that resolves overnight</a:t>
            </a:r>
            <a:endParaRPr lang="en-US" sz="2000" dirty="0"/>
          </a:p>
        </p:txBody>
      </p:sp>
      <p:sp>
        <p:nvSpPr>
          <p:cNvPr id="9" name="Shape 7"/>
          <p:cNvSpPr/>
          <p:nvPr/>
        </p:nvSpPr>
        <p:spPr>
          <a:xfrm>
            <a:off x="4319930" y="2376424"/>
            <a:ext cx="3551834" cy="3769360"/>
          </a:xfrm>
          <a:prstGeom prst="roundRect">
            <a:avLst>
              <a:gd name="adj" fmla="val 2317"/>
            </a:avLst>
          </a:prstGeom>
          <a:solidFill>
            <a:srgbClr val="FFFFFF"/>
          </a:solidFill>
          <a:ln w="12700">
            <a:solidFill>
              <a:srgbClr val="DCE6E8"/>
            </a:solidFill>
            <a:prstDash val="solid"/>
          </a:ln>
        </p:spPr>
      </p:sp>
      <p:sp>
        <p:nvSpPr>
          <p:cNvPr id="10" name="Text 8"/>
          <p:cNvSpPr/>
          <p:nvPr/>
        </p:nvSpPr>
        <p:spPr>
          <a:xfrm>
            <a:off x="4539386" y="2504440"/>
            <a:ext cx="3112922"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Established</a:t>
            </a:r>
            <a:endParaRPr lang="en-US" sz="2150" dirty="0"/>
          </a:p>
        </p:txBody>
      </p:sp>
      <p:sp>
        <p:nvSpPr>
          <p:cNvPr id="11" name="Text 9"/>
          <p:cNvSpPr/>
          <p:nvPr/>
        </p:nvSpPr>
        <p:spPr>
          <a:xfrm>
            <a:off x="4539386" y="2870200"/>
            <a:ext cx="3112922" cy="3110992"/>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Persistent swelling, no longer resolving with elevation</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Pitting → non-pitting as fibrosis develops</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Skin thickened and firm</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Positive Stemmer's sign</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Recurrent cellulitis</a:t>
            </a:r>
            <a:endParaRPr lang="en-US" sz="2000" dirty="0"/>
          </a:p>
        </p:txBody>
      </p:sp>
      <p:sp>
        <p:nvSpPr>
          <p:cNvPr id="12" name="Shape 10"/>
          <p:cNvSpPr/>
          <p:nvPr/>
        </p:nvSpPr>
        <p:spPr>
          <a:xfrm>
            <a:off x="8072933" y="2376424"/>
            <a:ext cx="3551834" cy="3769360"/>
          </a:xfrm>
          <a:prstGeom prst="roundRect">
            <a:avLst>
              <a:gd name="adj" fmla="val 2317"/>
            </a:avLst>
          </a:prstGeom>
          <a:solidFill>
            <a:srgbClr val="FFFFFF"/>
          </a:solidFill>
          <a:ln w="12700">
            <a:solidFill>
              <a:srgbClr val="DCE6E8"/>
            </a:solidFill>
            <a:prstDash val="solid"/>
          </a:ln>
        </p:spPr>
      </p:sp>
      <p:sp>
        <p:nvSpPr>
          <p:cNvPr id="13" name="Text 11"/>
          <p:cNvSpPr/>
          <p:nvPr/>
        </p:nvSpPr>
        <p:spPr>
          <a:xfrm>
            <a:off x="8292389" y="2504440"/>
            <a:ext cx="3112922"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Do not overlook</a:t>
            </a:r>
            <a:endParaRPr lang="en-US" sz="2150" dirty="0"/>
          </a:p>
        </p:txBody>
      </p:sp>
      <p:sp>
        <p:nvSpPr>
          <p:cNvPr id="14" name="Text 12"/>
          <p:cNvSpPr/>
          <p:nvPr/>
        </p:nvSpPr>
        <p:spPr>
          <a:xfrm>
            <a:off x="8292389" y="2870200"/>
            <a:ext cx="3112922" cy="3110992"/>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Psychosocial burden — body image, social withdrawal</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Functional loss — grip, reach, gait, footwear</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Occupational impact and garment cost</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8</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ASSESSMENT</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Diagnosis — History &amp; Examination</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Diagnosis is primarily clinical. History and physical examination identify the great majority of cases.</a:t>
            </a:r>
            <a:endParaRPr lang="en-US" sz="1650" dirty="0"/>
          </a:p>
        </p:txBody>
      </p:sp>
      <p:pic>
        <p:nvPicPr>
          <p:cNvPr id="6" name="Image 0" descr="/home/claude/build/assets/stemmer.png">    </p:cNvPr>
          <p:cNvPicPr>
            <a:picLocks noChangeAspect="1"/>
          </p:cNvPicPr>
          <p:nvPr/>
        </p:nvPicPr>
        <p:blipFill>
          <a:blip r:embed="rId1"/>
          <a:stretch>
            <a:fillRect/>
          </a:stretch>
        </p:blipFill>
        <p:spPr>
          <a:xfrm>
            <a:off x="6732727" y="2661926"/>
            <a:ext cx="4892040" cy="2613139"/>
          </a:xfrm>
          <a:prstGeom prst="rect">
            <a:avLst/>
          </a:prstGeom>
        </p:spPr>
      </p:pic>
      <p:sp>
        <p:nvSpPr>
          <p:cNvPr id="7" name="Shape 4"/>
          <p:cNvSpPr/>
          <p:nvPr/>
        </p:nvSpPr>
        <p:spPr>
          <a:xfrm>
            <a:off x="566928" y="2231136"/>
            <a:ext cx="5754319" cy="1938528"/>
          </a:xfrm>
          <a:prstGeom prst="roundRect">
            <a:avLst>
              <a:gd name="adj" fmla="val 4245"/>
            </a:avLst>
          </a:prstGeom>
          <a:solidFill>
            <a:srgbClr val="FFFFFF"/>
          </a:solidFill>
          <a:ln w="12700">
            <a:solidFill>
              <a:srgbClr val="DCE6E8"/>
            </a:solidFill>
            <a:prstDash val="solid"/>
          </a:ln>
        </p:spPr>
      </p:sp>
      <p:sp>
        <p:nvSpPr>
          <p:cNvPr id="8" name="Text 5"/>
          <p:cNvSpPr/>
          <p:nvPr/>
        </p:nvSpPr>
        <p:spPr>
          <a:xfrm>
            <a:off x="822960" y="2359152"/>
            <a:ext cx="5242255" cy="274320"/>
          </a:xfrm>
          <a:prstGeom prst="rect">
            <a:avLst/>
          </a:prstGeom>
          <a:noFill/>
          <a:ln/>
        </p:spPr>
        <p:txBody>
          <a:bodyPr wrap="square" lIns="0" tIns="0" rIns="0" bIns="0" rtlCol="0" anchor="ctr"/>
          <a:lstStyle/>
          <a:p>
            <a:pPr indent="0" marL="0">
              <a:buNone/>
            </a:pPr>
            <a:r>
              <a:rPr lang="en-US" sz="1500" b="1" dirty="0">
                <a:solidFill>
                  <a:srgbClr val="025462"/>
                </a:solidFill>
                <a:latin typeface="Calibri" pitchFamily="34" charset="0"/>
                <a:ea typeface="Calibri" pitchFamily="34" charset="-122"/>
                <a:cs typeface="Calibri" pitchFamily="34" charset="-120"/>
              </a:rPr>
              <a:t>History</a:t>
            </a:r>
            <a:endParaRPr lang="en-US" sz="1500" dirty="0"/>
          </a:p>
        </p:txBody>
      </p:sp>
      <p:sp>
        <p:nvSpPr>
          <p:cNvPr id="9" name="Text 6"/>
          <p:cNvSpPr/>
          <p:nvPr/>
        </p:nvSpPr>
        <p:spPr>
          <a:xfrm>
            <a:off x="822960" y="2706624"/>
            <a:ext cx="5242255" cy="1298448"/>
          </a:xfrm>
          <a:prstGeom prst="rect">
            <a:avLst/>
          </a:prstGeom>
          <a:noFill/>
          <a:ln/>
        </p:spPr>
        <p:txBody>
          <a:bodyPr wrap="square" lIns="0" tIns="0" rIns="0" bIns="0" rtlCol="0" anchor="t"/>
          <a:lstStyle/>
          <a:p>
            <a:pPr marL="190500" indent="-190500">
              <a:spcAft>
                <a:spcPts val="600"/>
              </a:spcAft>
              <a:buSzPct val="100000"/>
              <a:buChar char="•"/>
            </a:pPr>
            <a:r>
              <a:rPr lang="en-US" sz="1350" dirty="0">
                <a:solidFill>
                  <a:srgbClr val="1B2A30"/>
                </a:solidFill>
                <a:latin typeface="Calibri" pitchFamily="34" charset="0"/>
                <a:ea typeface="Calibri" pitchFamily="34" charset="-122"/>
                <a:cs typeface="Calibri" pitchFamily="34" charset="-120"/>
              </a:rPr>
              <a:t>Onset, duration, whether it resolves overnight</a:t>
            </a:r>
            <a:endParaRPr lang="en-US" sz="1350" dirty="0"/>
          </a:p>
          <a:p>
            <a:pPr marL="190500" indent="-190500">
              <a:spcAft>
                <a:spcPts val="600"/>
              </a:spcAft>
              <a:buSzPct val="100000"/>
              <a:buChar char="•"/>
            </a:pPr>
            <a:r>
              <a:rPr lang="en-US" sz="1350" dirty="0">
                <a:solidFill>
                  <a:srgbClr val="1B2A30"/>
                </a:solidFill>
                <a:latin typeface="Calibri" pitchFamily="34" charset="0"/>
                <a:ea typeface="Calibri" pitchFamily="34" charset="-122"/>
                <a:cs typeface="Calibri" pitchFamily="34" charset="-120"/>
              </a:rPr>
              <a:t>Surgical and oncologic history — nodes, radiation fields</a:t>
            </a:r>
            <a:endParaRPr lang="en-US" sz="1350" dirty="0"/>
          </a:p>
          <a:p>
            <a:pPr marL="190500" indent="-190500">
              <a:spcAft>
                <a:spcPts val="600"/>
              </a:spcAft>
              <a:buSzPct val="100000"/>
              <a:buChar char="•"/>
            </a:pPr>
            <a:r>
              <a:rPr lang="en-US" sz="1350" dirty="0">
                <a:solidFill>
                  <a:srgbClr val="1B2A30"/>
                </a:solidFill>
                <a:latin typeface="Calibri" pitchFamily="34" charset="0"/>
                <a:ea typeface="Calibri" pitchFamily="34" charset="-122"/>
                <a:cs typeface="Calibri" pitchFamily="34" charset="-120"/>
              </a:rPr>
              <a:t>Every episode of cellulitis</a:t>
            </a:r>
            <a:endParaRPr lang="en-US" sz="1350" dirty="0"/>
          </a:p>
          <a:p>
            <a:pPr marL="190500" indent="-190500">
              <a:spcAft>
                <a:spcPts val="600"/>
              </a:spcAft>
              <a:buSzPct val="100000"/>
              <a:buChar char="•"/>
            </a:pPr>
            <a:r>
              <a:rPr lang="en-US" sz="1350" dirty="0">
                <a:solidFill>
                  <a:srgbClr val="1B2A30"/>
                </a:solidFill>
                <a:latin typeface="Calibri" pitchFamily="34" charset="0"/>
                <a:ea typeface="Calibri" pitchFamily="34" charset="-122"/>
                <a:cs typeface="Calibri" pitchFamily="34" charset="-120"/>
              </a:rPr>
              <a:t>Family history; travel history</a:t>
            </a:r>
            <a:endParaRPr lang="en-US" sz="1350" dirty="0"/>
          </a:p>
        </p:txBody>
      </p:sp>
      <p:sp>
        <p:nvSpPr>
          <p:cNvPr id="10" name="Shape 7"/>
          <p:cNvSpPr/>
          <p:nvPr/>
        </p:nvSpPr>
        <p:spPr>
          <a:xfrm>
            <a:off x="566928" y="4334256"/>
            <a:ext cx="5754319" cy="1938528"/>
          </a:xfrm>
          <a:prstGeom prst="roundRect">
            <a:avLst>
              <a:gd name="adj" fmla="val 4245"/>
            </a:avLst>
          </a:prstGeom>
          <a:solidFill>
            <a:srgbClr val="FFFFFF"/>
          </a:solidFill>
          <a:ln w="12700">
            <a:solidFill>
              <a:srgbClr val="DCE6E8"/>
            </a:solidFill>
            <a:prstDash val="solid"/>
          </a:ln>
        </p:spPr>
      </p:sp>
      <p:sp>
        <p:nvSpPr>
          <p:cNvPr id="11" name="Text 8"/>
          <p:cNvSpPr/>
          <p:nvPr/>
        </p:nvSpPr>
        <p:spPr>
          <a:xfrm>
            <a:off x="822960" y="4462272"/>
            <a:ext cx="5242255" cy="274320"/>
          </a:xfrm>
          <a:prstGeom prst="rect">
            <a:avLst/>
          </a:prstGeom>
          <a:noFill/>
          <a:ln/>
        </p:spPr>
        <p:txBody>
          <a:bodyPr wrap="square" lIns="0" tIns="0" rIns="0" bIns="0" rtlCol="0" anchor="ctr"/>
          <a:lstStyle/>
          <a:p>
            <a:pPr indent="0" marL="0">
              <a:buNone/>
            </a:pPr>
            <a:r>
              <a:rPr lang="en-US" sz="1500" b="1" dirty="0">
                <a:solidFill>
                  <a:srgbClr val="025462"/>
                </a:solidFill>
                <a:latin typeface="Calibri" pitchFamily="34" charset="0"/>
                <a:ea typeface="Calibri" pitchFamily="34" charset="-122"/>
                <a:cs typeface="Calibri" pitchFamily="34" charset="-120"/>
              </a:rPr>
              <a:t>Physical examination</a:t>
            </a:r>
            <a:endParaRPr lang="en-US" sz="1500" dirty="0"/>
          </a:p>
        </p:txBody>
      </p:sp>
      <p:sp>
        <p:nvSpPr>
          <p:cNvPr id="12" name="Text 9"/>
          <p:cNvSpPr/>
          <p:nvPr/>
        </p:nvSpPr>
        <p:spPr>
          <a:xfrm>
            <a:off x="822960" y="4809744"/>
            <a:ext cx="5242255" cy="1298448"/>
          </a:xfrm>
          <a:prstGeom prst="rect">
            <a:avLst/>
          </a:prstGeom>
          <a:noFill/>
          <a:ln/>
        </p:spPr>
        <p:txBody>
          <a:bodyPr wrap="square" lIns="0" tIns="0" rIns="0" bIns="0" rtlCol="0" anchor="t"/>
          <a:lstStyle/>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Stemmer's sign</a:t>
            </a:r>
            <a:pPr indent="0" marL="0">
              <a:spcAft>
                <a:spcPts val="600"/>
              </a:spcAft>
              <a:buNone/>
            </a:pPr>
            <a:r>
              <a:rPr lang="en-US" sz="1350" dirty="0">
                <a:solidFill>
                  <a:srgbClr val="1B2A30"/>
                </a:solidFill>
                <a:latin typeface="Calibri" pitchFamily="34" charset="0"/>
                <a:ea typeface="Calibri" pitchFamily="34" charset="-122"/>
                <a:cs typeface="Calibri" pitchFamily="34" charset="-120"/>
              </a:rPr>
              <a:t> — cannot lift the skin fold = positive = lymphedema</a:t>
            </a:r>
            <a:endParaRPr lang="en-US" sz="1350" dirty="0"/>
          </a:p>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Pitting</a:t>
            </a:r>
            <a:pPr indent="0" marL="0">
              <a:spcAft>
                <a:spcPts val="600"/>
              </a:spcAft>
              <a:buNone/>
            </a:pPr>
            <a:r>
              <a:rPr lang="en-US" sz="1350" dirty="0">
                <a:solidFill>
                  <a:srgbClr val="1B2A30"/>
                </a:solidFill>
                <a:latin typeface="Calibri" pitchFamily="34" charset="0"/>
                <a:ea typeface="Calibri" pitchFamily="34" charset="-122"/>
                <a:cs typeface="Calibri" pitchFamily="34" charset="-120"/>
              </a:rPr>
              <a:t> — depth and rebound, graded 1+ to 4+</a:t>
            </a:r>
            <a:endParaRPr lang="en-US" sz="1350" dirty="0"/>
          </a:p>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Skin</a:t>
            </a:r>
            <a:pPr indent="0" marL="0">
              <a:spcAft>
                <a:spcPts val="600"/>
              </a:spcAft>
              <a:buNone/>
            </a:pPr>
            <a:r>
              <a:rPr lang="en-US" sz="1350" dirty="0">
                <a:solidFill>
                  <a:srgbClr val="1B2A30"/>
                </a:solidFill>
                <a:latin typeface="Calibri" pitchFamily="34" charset="0"/>
                <a:ea typeface="Calibri" pitchFamily="34" charset="-122"/>
                <a:cs typeface="Calibri" pitchFamily="34" charset="-120"/>
              </a:rPr>
              <a:t> — texture, papillomas, fissures, fungal infection</a:t>
            </a:r>
            <a:endParaRPr lang="en-US" sz="1350" dirty="0"/>
          </a:p>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Compare sides</a:t>
            </a:r>
            <a:pPr indent="0" marL="0">
              <a:spcAft>
                <a:spcPts val="600"/>
              </a:spcAft>
              <a:buNone/>
            </a:pPr>
            <a:r>
              <a:rPr lang="en-US" sz="1350" dirty="0">
                <a:solidFill>
                  <a:srgbClr val="1B2A30"/>
                </a:solidFill>
                <a:latin typeface="Calibri" pitchFamily="34" charset="0"/>
                <a:ea typeface="Calibri" pitchFamily="34" charset="-122"/>
                <a:cs typeface="Calibri" pitchFamily="34" charset="-120"/>
              </a:rPr>
              <a:t> — symmetry, foot involvement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9</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ASSESSMENT</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Diagnosis — Measurement &amp; Imaging</a:t>
            </a:r>
            <a:endParaRPr lang="en-US" sz="3400" dirty="0"/>
          </a:p>
        </p:txBody>
      </p:sp>
      <p:sp>
        <p:nvSpPr>
          <p:cNvPr id="5" name="Shape 3"/>
          <p:cNvSpPr/>
          <p:nvPr/>
        </p:nvSpPr>
        <p:spPr>
          <a:xfrm>
            <a:off x="566928" y="1892808"/>
            <a:ext cx="5428336" cy="2733040"/>
          </a:xfrm>
          <a:prstGeom prst="roundRect">
            <a:avLst>
              <a:gd name="adj" fmla="val 3011"/>
            </a:avLst>
          </a:prstGeom>
          <a:solidFill>
            <a:srgbClr val="FFFFFF"/>
          </a:solidFill>
          <a:ln w="12700">
            <a:solidFill>
              <a:srgbClr val="DCE6E8"/>
            </a:solidFill>
            <a:prstDash val="solid"/>
          </a:ln>
        </p:spPr>
      </p:sp>
      <p:sp>
        <p:nvSpPr>
          <p:cNvPr id="6" name="Text 4"/>
          <p:cNvSpPr/>
          <p:nvPr/>
        </p:nvSpPr>
        <p:spPr>
          <a:xfrm>
            <a:off x="786384" y="2020824"/>
            <a:ext cx="4989424"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Objective measurement</a:t>
            </a:r>
            <a:endParaRPr lang="en-US" sz="2150" dirty="0"/>
          </a:p>
        </p:txBody>
      </p:sp>
      <p:sp>
        <p:nvSpPr>
          <p:cNvPr id="7" name="Text 5"/>
          <p:cNvSpPr/>
          <p:nvPr/>
        </p:nvSpPr>
        <p:spPr>
          <a:xfrm>
            <a:off x="786384" y="2386584"/>
            <a:ext cx="4989424" cy="2074672"/>
          </a:xfrm>
          <a:prstGeom prst="rect">
            <a:avLst/>
          </a:prstGeom>
          <a:noFill/>
          <a:ln/>
        </p:spPr>
        <p:txBody>
          <a:bodyPr wrap="square" lIns="0" tIns="0" rIns="0" bIns="0" rtlCol="0" anchor="t"/>
          <a:lstStyle/>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Circumferential tape</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at 4 cm intervals — cheap, reliable</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Volumetry</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water displacement</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Perometry</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infrared, fast and reproducible</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Bioimpedance (L-Dex)</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can detect Stage 0</a:t>
            </a:r>
            <a:endParaRPr lang="en-US" sz="2000" dirty="0"/>
          </a:p>
        </p:txBody>
      </p:sp>
      <p:sp>
        <p:nvSpPr>
          <p:cNvPr id="8" name="Shape 6"/>
          <p:cNvSpPr/>
          <p:nvPr/>
        </p:nvSpPr>
        <p:spPr>
          <a:xfrm>
            <a:off x="6196432" y="1892808"/>
            <a:ext cx="5428336" cy="2733040"/>
          </a:xfrm>
          <a:prstGeom prst="roundRect">
            <a:avLst>
              <a:gd name="adj" fmla="val 3011"/>
            </a:avLst>
          </a:prstGeom>
          <a:solidFill>
            <a:srgbClr val="FFFFFF"/>
          </a:solidFill>
          <a:ln w="12700">
            <a:solidFill>
              <a:srgbClr val="DCE6E8"/>
            </a:solidFill>
            <a:prstDash val="solid"/>
          </a:ln>
        </p:spPr>
      </p:sp>
      <p:sp>
        <p:nvSpPr>
          <p:cNvPr id="9" name="Text 7"/>
          <p:cNvSpPr/>
          <p:nvPr/>
        </p:nvSpPr>
        <p:spPr>
          <a:xfrm>
            <a:off x="6415888" y="2020824"/>
            <a:ext cx="4989424"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Imaging — when the picture is unclear</a:t>
            </a:r>
            <a:endParaRPr lang="en-US" sz="2150" dirty="0"/>
          </a:p>
        </p:txBody>
      </p:sp>
      <p:sp>
        <p:nvSpPr>
          <p:cNvPr id="10" name="Text 8"/>
          <p:cNvSpPr/>
          <p:nvPr/>
        </p:nvSpPr>
        <p:spPr>
          <a:xfrm>
            <a:off x="6415888" y="2386584"/>
            <a:ext cx="4989424" cy="2074672"/>
          </a:xfrm>
          <a:prstGeom prst="rect">
            <a:avLst/>
          </a:prstGeom>
          <a:noFill/>
          <a:ln/>
        </p:spPr>
        <p:txBody>
          <a:bodyPr wrap="square" lIns="0" tIns="0" rIns="0" bIns="0" rtlCol="0" anchor="t"/>
          <a:lstStyle/>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Lymphoscintigraphy</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the imaging standard</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ICG lymphography</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maps superficial vessels</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Duplex US</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rule out DVT</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MRI / CT</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rule out malignancy</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10</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ASSESSMENT</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What Else Swells a Limb</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Before you treat it as lymphedema, rule these out.</a:t>
            </a:r>
            <a:endParaRPr lang="en-US" sz="16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2231136"/>
          <a:ext cx="11057839" cy="914400"/>
        </p:xfrm>
        <a:graphic>
          <a:graphicData uri="http://schemas.openxmlformats.org/drawingml/2006/table">
            <a:tbl>
              <a:tblPr/>
              <a:tblGrid>
                <a:gridCol w="2743200"/>
                <a:gridCol w="8330184"/>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02546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Distinguishing features</a:t>
                      </a:r>
                      <a:endParaRPr lang="en-US" sz="12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025462"/>
                    </a:solidFill>
                  </a:tcPr>
                </a:tc>
              </a:tr>
              <a:tr h="384048">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Deep vein thrombosis</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Acute unilateral onset, pain, warmth, erythema. URGENT — do not perform MLD.</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r>
              <a:tr h="384048">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Chronic venous insufficiency</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Hemosiderin staining, varicosities, medial malleolar ulceration, improves with elevation</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Congestive heart failure</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Bilateral, dependent, pitting, dyspnea, JVD, orthopnea</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r>
              <a:tr h="384048">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Hypoproteinemia</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Bilateral, generalized, may include ascites/periorbital edema</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Lipedema</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Bilateral, symmetrical, painful, bruises easily, SPARES THE FEET, negative Stemmer</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r>
              <a:tr h="384048">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Malignant lymphedema</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Rapid onset, pain, proximal-first, neurologic signs. Requires imaging.</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Cellulitis</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Fever, spreading erythema, heat, pain. Antibiotics first — MLD contraindicated.</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r>
              <a:tr h="384048">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Medication-induced</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Calcium channel blockers, NSAIDs, steroids, gabapentin, some diabetes drugs</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080760"/>
            <a:ext cx="11057839" cy="457200"/>
          </a:xfrm>
          <a:prstGeom prst="rect">
            <a:avLst/>
          </a:prstGeom>
          <a:noFill/>
          <a:ln/>
        </p:spPr>
        <p:txBody>
          <a:bodyPr wrap="square" lIns="0" tIns="0" rIns="0" bIns="0" rtlCol="0" anchor="t"/>
          <a:lstStyle/>
          <a:p>
            <a:pPr indent="0" marL="0">
              <a:buNone/>
            </a:pPr>
            <a:r>
              <a:rPr lang="en-US" sz="1050" i="1" dirty="0">
                <a:solidFill>
                  <a:srgbClr val="36454F"/>
                </a:solidFill>
                <a:latin typeface="Calibri" pitchFamily="34" charset="0"/>
                <a:ea typeface="Calibri" pitchFamily="34" charset="-122"/>
                <a:cs typeface="Calibri" pitchFamily="34" charset="-120"/>
              </a:rPr>
              <a:t>Malignant lymphedema and DVT are the two that must not be missed. Both are referrals, not treatment plans.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11</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STAGING</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ISL Staging — Overview</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The International Society of Lymphology defines four stages. Stage 0 is latent — the lymphatics are already impaired before anything is visible.</a:t>
            </a:r>
            <a:endParaRPr lang="en-US" sz="1650" dirty="0"/>
          </a:p>
        </p:txBody>
      </p:sp>
      <p:pic>
        <p:nvPicPr>
          <p:cNvPr id="6" name="Image 0" descr="/home/claude/build/assets/stage_progression.png">    </p:cNvPr>
          <p:cNvPicPr>
            <a:picLocks noChangeAspect="1"/>
          </p:cNvPicPr>
          <p:nvPr/>
        </p:nvPicPr>
        <p:blipFill>
          <a:blip r:embed="rId1"/>
          <a:stretch>
            <a:fillRect/>
          </a:stretch>
        </p:blipFill>
        <p:spPr>
          <a:xfrm>
            <a:off x="2818947" y="2231136"/>
            <a:ext cx="6553802" cy="3712464"/>
          </a:xfrm>
          <a:prstGeom prst="rect">
            <a:avLst/>
          </a:prstGeom>
        </p:spPr>
      </p:pic>
      <p:sp>
        <p:nvSpPr>
          <p:cNvPr id="7" name="Text 4"/>
          <p:cNvSpPr/>
          <p:nvPr/>
        </p:nvSpPr>
        <p:spPr>
          <a:xfrm>
            <a:off x="566928" y="6016752"/>
            <a:ext cx="11057839" cy="502920"/>
          </a:xfrm>
          <a:prstGeom prst="rect">
            <a:avLst/>
          </a:prstGeom>
          <a:noFill/>
          <a:ln/>
        </p:spPr>
        <p:txBody>
          <a:bodyPr wrap="square" lIns="0" tIns="0" rIns="0" bIns="0" rtlCol="0" anchor="t"/>
          <a:lstStyle/>
          <a:p>
            <a:pPr indent="0" marL="0">
              <a:buNone/>
            </a:pPr>
            <a:r>
              <a:rPr lang="en-US" sz="1100" i="1" dirty="0">
                <a:solidFill>
                  <a:srgbClr val="36454F"/>
                </a:solidFill>
                <a:latin typeface="Calibri" pitchFamily="34" charset="0"/>
                <a:ea typeface="Calibri" pitchFamily="34" charset="-122"/>
                <a:cs typeface="Calibri" pitchFamily="34" charset="-120"/>
              </a:rPr>
              <a:t>Staging describes tissue condition, not size. A small Stage III limb is still Stage III. Severity is graded separately by volume difference.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12</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STAGING</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Staging — Clinical Appearance</a:t>
            </a:r>
            <a:endParaRPr lang="en-US" sz="3400" dirty="0"/>
          </a:p>
        </p:txBody>
      </p:sp>
      <p:pic>
        <p:nvPicPr>
          <p:cNvPr id="5" name="Image 0" descr="/home/claude/build/assets/photos/stage_progression_photo.jpg">    </p:cNvPr>
          <p:cNvPicPr>
            <a:picLocks noChangeAspect="1"/>
          </p:cNvPicPr>
          <p:nvPr/>
        </p:nvPicPr>
        <p:blipFill>
          <a:blip r:embed="rId1"/>
          <a:stretch>
            <a:fillRect/>
          </a:stretch>
        </p:blipFill>
        <p:spPr>
          <a:xfrm>
            <a:off x="566928" y="1600200"/>
            <a:ext cx="5446624" cy="2794047"/>
          </a:xfrm>
          <a:prstGeom prst="rect">
            <a:avLst/>
          </a:prstGeom>
        </p:spPr>
      </p:pic>
      <p:sp>
        <p:nvSpPr>
          <p:cNvPr id="6" name="Text 3"/>
          <p:cNvSpPr/>
          <p:nvPr/>
        </p:nvSpPr>
        <p:spPr>
          <a:xfrm>
            <a:off x="566928" y="4449111"/>
            <a:ext cx="5446624"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Lower limb, Stages I–IV left to right</a:t>
            </a:r>
            <a:endParaRPr lang="en-US" sz="950" dirty="0"/>
          </a:p>
        </p:txBody>
      </p:sp>
      <p:pic>
        <p:nvPicPr>
          <p:cNvPr id="7" name="Image 1" descr="/home/claude/build/assets/photos/stage_upper_limb.jpg">    </p:cNvPr>
          <p:cNvPicPr>
            <a:picLocks noChangeAspect="1"/>
          </p:cNvPicPr>
          <p:nvPr/>
        </p:nvPicPr>
        <p:blipFill>
          <a:blip r:embed="rId2"/>
          <a:stretch>
            <a:fillRect/>
          </a:stretch>
        </p:blipFill>
        <p:spPr>
          <a:xfrm>
            <a:off x="6178144" y="1600200"/>
            <a:ext cx="5446624" cy="1626914"/>
          </a:xfrm>
          <a:prstGeom prst="rect">
            <a:avLst/>
          </a:prstGeom>
        </p:spPr>
      </p:pic>
      <p:sp>
        <p:nvSpPr>
          <p:cNvPr id="8" name="Text 4"/>
          <p:cNvSpPr/>
          <p:nvPr/>
        </p:nvSpPr>
        <p:spPr>
          <a:xfrm>
            <a:off x="6178144" y="3281978"/>
            <a:ext cx="5446624"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Upper limb, Stages I–IV left to right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13</a:t>
            </a:r>
            <a:endParaRPr lang="en-US" sz="1000" dirty="0"/>
          </a:p>
        </p:txBody>
      </p:sp>
      <p:sp>
        <p:nvSpPr>
          <p:cNvPr id="3" name="Shape 1"/>
          <p:cNvSpPr/>
          <p:nvPr/>
        </p:nvSpPr>
        <p:spPr>
          <a:xfrm>
            <a:off x="566928" y="310896"/>
            <a:ext cx="1371600" cy="384048"/>
          </a:xfrm>
          <a:prstGeom prst="roundRect">
            <a:avLst>
              <a:gd name="adj" fmla="val 47619"/>
            </a:avLst>
          </a:prstGeom>
          <a:solidFill>
            <a:srgbClr val="025462"/>
          </a:solidFill>
          <a:ln w="12700">
            <a:solidFill>
              <a:srgbClr val="025462"/>
            </a:solidFill>
            <a:prstDash val="solid"/>
          </a:ln>
        </p:spPr>
      </p:sp>
      <p:sp>
        <p:nvSpPr>
          <p:cNvPr id="4" name="Text 2"/>
          <p:cNvSpPr/>
          <p:nvPr/>
        </p:nvSpPr>
        <p:spPr>
          <a:xfrm>
            <a:off x="566928" y="310896"/>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0</a:t>
            </a:r>
            <a:endParaRPr lang="en-US" sz="1200" dirty="0"/>
          </a:p>
        </p:txBody>
      </p:sp>
      <p:sp>
        <p:nvSpPr>
          <p:cNvPr id="5" name="Text 3"/>
          <p:cNvSpPr/>
          <p:nvPr/>
        </p:nvSpPr>
        <p:spPr>
          <a:xfrm>
            <a:off x="2121408" y="274320"/>
            <a:ext cx="9503359" cy="457200"/>
          </a:xfrm>
          <a:prstGeom prst="rect">
            <a:avLst/>
          </a:prstGeom>
          <a:noFill/>
          <a:ln/>
        </p:spPr>
        <p:txBody>
          <a:bodyPr wrap="square" lIns="0" tIns="0" rIns="0" bIns="0" rtlCol="0" anchor="ctr"/>
          <a:lstStyle/>
          <a:p>
            <a:pPr indent="0" marL="0">
              <a:buNone/>
            </a:pPr>
            <a:r>
              <a:rPr lang="en-US" sz="3000" b="1" dirty="0">
                <a:solidFill>
                  <a:srgbClr val="025462"/>
                </a:solidFill>
                <a:latin typeface="Cambria" pitchFamily="34" charset="0"/>
                <a:ea typeface="Cambria" pitchFamily="34" charset="-122"/>
                <a:cs typeface="Cambria" pitchFamily="34" charset="-120"/>
              </a:rPr>
              <a:t>Latent / Subclinical</a:t>
            </a:r>
            <a:endParaRPr lang="en-US" sz="3000" dirty="0"/>
          </a:p>
        </p:txBody>
      </p:sp>
      <p:sp>
        <p:nvSpPr>
          <p:cNvPr id="6" name="Text 4"/>
          <p:cNvSpPr/>
          <p:nvPr/>
        </p:nvSpPr>
        <p:spPr>
          <a:xfrm>
            <a:off x="566928" y="914400"/>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Lymph transport is already impaired. No visible swelling. May persist for months or years before progressing.</a:t>
            </a:r>
            <a:endParaRPr lang="en-US" sz="1650" dirty="0"/>
          </a:p>
        </p:txBody>
      </p:sp>
      <p:sp>
        <p:nvSpPr>
          <p:cNvPr id="7" name="Shape 5"/>
          <p:cNvSpPr/>
          <p:nvPr/>
        </p:nvSpPr>
        <p:spPr>
          <a:xfrm>
            <a:off x="566928" y="1847088"/>
            <a:ext cx="5414620" cy="3769360"/>
          </a:xfrm>
          <a:prstGeom prst="roundRect">
            <a:avLst>
              <a:gd name="adj" fmla="val 2183"/>
            </a:avLst>
          </a:prstGeom>
          <a:solidFill>
            <a:srgbClr val="FFFFFF"/>
          </a:solidFill>
          <a:ln w="12700">
            <a:solidFill>
              <a:srgbClr val="DCE6E8"/>
            </a:solidFill>
            <a:prstDash val="solid"/>
          </a:ln>
        </p:spPr>
      </p:sp>
      <p:sp>
        <p:nvSpPr>
          <p:cNvPr id="8" name="Text 6"/>
          <p:cNvSpPr/>
          <p:nvPr/>
        </p:nvSpPr>
        <p:spPr>
          <a:xfrm>
            <a:off x="804672" y="1993392"/>
            <a:ext cx="4939132"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Findings</a:t>
            </a:r>
            <a:endParaRPr lang="en-US" sz="2150" dirty="0"/>
          </a:p>
        </p:txBody>
      </p:sp>
      <p:sp>
        <p:nvSpPr>
          <p:cNvPr id="9" name="Text 7"/>
          <p:cNvSpPr/>
          <p:nvPr/>
        </p:nvSpPr>
        <p:spPr>
          <a:xfrm>
            <a:off x="804672" y="2377440"/>
            <a:ext cx="4939132" cy="3074416"/>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No visible or palpable edema</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Subjective heaviness, tightness, or fullness may be reported</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Reduced transport capacity detectable by bioimpedance or lymphoscintigraphy</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Normal tissue consistency</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Negative Stemmer's sign</a:t>
            </a:r>
            <a:endParaRPr lang="en-US" sz="2000" dirty="0"/>
          </a:p>
        </p:txBody>
      </p:sp>
      <p:sp>
        <p:nvSpPr>
          <p:cNvPr id="10" name="Shape 8"/>
          <p:cNvSpPr/>
          <p:nvPr/>
        </p:nvSpPr>
        <p:spPr>
          <a:xfrm>
            <a:off x="6210148" y="1847088"/>
            <a:ext cx="5414620" cy="3769360"/>
          </a:xfrm>
          <a:prstGeom prst="roundRect">
            <a:avLst>
              <a:gd name="adj" fmla="val 2183"/>
            </a:avLst>
          </a:prstGeom>
          <a:solidFill>
            <a:srgbClr val="FFFFFF"/>
          </a:solidFill>
          <a:ln w="12700">
            <a:solidFill>
              <a:srgbClr val="DCE6E8"/>
            </a:solidFill>
            <a:prstDash val="solid"/>
          </a:ln>
        </p:spPr>
      </p:sp>
      <p:sp>
        <p:nvSpPr>
          <p:cNvPr id="11" name="Text 9"/>
          <p:cNvSpPr/>
          <p:nvPr/>
        </p:nvSpPr>
        <p:spPr>
          <a:xfrm>
            <a:off x="6447892" y="1993392"/>
            <a:ext cx="4939132"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PT implications</a:t>
            </a:r>
            <a:endParaRPr lang="en-US" sz="2150" dirty="0"/>
          </a:p>
        </p:txBody>
      </p:sp>
      <p:sp>
        <p:nvSpPr>
          <p:cNvPr id="12" name="Text 10"/>
          <p:cNvSpPr/>
          <p:nvPr/>
        </p:nvSpPr>
        <p:spPr>
          <a:xfrm>
            <a:off x="6447892" y="2377440"/>
            <a:ext cx="4939132" cy="3074416"/>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This is the highest-value window for intervention</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Baseline measurement pre-operatively makes this stage detectable at all</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Surveillance program, risk-reduction education, early compression if indicated</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Prophylactic PT after node dissection has been shown to reduce progression</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14</a:t>
            </a:r>
            <a:endParaRPr lang="en-US" sz="1000" dirty="0"/>
          </a:p>
        </p:txBody>
      </p:sp>
      <p:sp>
        <p:nvSpPr>
          <p:cNvPr id="3" name="Shape 1"/>
          <p:cNvSpPr/>
          <p:nvPr/>
        </p:nvSpPr>
        <p:spPr>
          <a:xfrm>
            <a:off x="566928" y="310896"/>
            <a:ext cx="1371600" cy="384048"/>
          </a:xfrm>
          <a:prstGeom prst="roundRect">
            <a:avLst>
              <a:gd name="adj" fmla="val 47619"/>
            </a:avLst>
          </a:prstGeom>
          <a:solidFill>
            <a:srgbClr val="025462"/>
          </a:solidFill>
          <a:ln w="12700">
            <a:solidFill>
              <a:srgbClr val="025462"/>
            </a:solidFill>
            <a:prstDash val="solid"/>
          </a:ln>
        </p:spPr>
      </p:sp>
      <p:sp>
        <p:nvSpPr>
          <p:cNvPr id="4" name="Text 2"/>
          <p:cNvSpPr/>
          <p:nvPr/>
        </p:nvSpPr>
        <p:spPr>
          <a:xfrm>
            <a:off x="566928" y="310896"/>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I</a:t>
            </a:r>
            <a:endParaRPr lang="en-US" sz="1200" dirty="0"/>
          </a:p>
        </p:txBody>
      </p:sp>
      <p:sp>
        <p:nvSpPr>
          <p:cNvPr id="5" name="Text 3"/>
          <p:cNvSpPr/>
          <p:nvPr/>
        </p:nvSpPr>
        <p:spPr>
          <a:xfrm>
            <a:off x="2121408" y="274320"/>
            <a:ext cx="9503359" cy="457200"/>
          </a:xfrm>
          <a:prstGeom prst="rect">
            <a:avLst/>
          </a:prstGeom>
          <a:noFill/>
          <a:ln/>
        </p:spPr>
        <p:txBody>
          <a:bodyPr wrap="square" lIns="0" tIns="0" rIns="0" bIns="0" rtlCol="0" anchor="ctr"/>
          <a:lstStyle/>
          <a:p>
            <a:pPr indent="0" marL="0">
              <a:buNone/>
            </a:pPr>
            <a:r>
              <a:rPr lang="en-US" sz="3000" b="1" dirty="0">
                <a:solidFill>
                  <a:srgbClr val="025462"/>
                </a:solidFill>
                <a:latin typeface="Cambria" pitchFamily="34" charset="0"/>
                <a:ea typeface="Cambria" pitchFamily="34" charset="-122"/>
                <a:cs typeface="Cambria" pitchFamily="34" charset="-120"/>
              </a:rPr>
              <a:t>Spontaneously Reversible</a:t>
            </a:r>
            <a:endParaRPr lang="en-US" sz="3000" dirty="0"/>
          </a:p>
        </p:txBody>
      </p:sp>
      <p:sp>
        <p:nvSpPr>
          <p:cNvPr id="6" name="Text 4"/>
          <p:cNvSpPr/>
          <p:nvPr/>
        </p:nvSpPr>
        <p:spPr>
          <a:xfrm>
            <a:off x="566928" y="914400"/>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Early accumulation of protein-rich fluid. Swelling reduces with elevation — often resolving completely overnight.</a:t>
            </a:r>
            <a:endParaRPr lang="en-US" sz="1650" dirty="0"/>
          </a:p>
        </p:txBody>
      </p:sp>
      <p:sp>
        <p:nvSpPr>
          <p:cNvPr id="7" name="Shape 5"/>
          <p:cNvSpPr/>
          <p:nvPr/>
        </p:nvSpPr>
        <p:spPr>
          <a:xfrm>
            <a:off x="566928" y="1847088"/>
            <a:ext cx="5414620" cy="3478784"/>
          </a:xfrm>
          <a:prstGeom prst="roundRect">
            <a:avLst>
              <a:gd name="adj" fmla="val 2366"/>
            </a:avLst>
          </a:prstGeom>
          <a:solidFill>
            <a:srgbClr val="FFFFFF"/>
          </a:solidFill>
          <a:ln w="12700">
            <a:solidFill>
              <a:srgbClr val="DCE6E8"/>
            </a:solidFill>
            <a:prstDash val="solid"/>
          </a:ln>
        </p:spPr>
      </p:sp>
      <p:sp>
        <p:nvSpPr>
          <p:cNvPr id="8" name="Text 6"/>
          <p:cNvSpPr/>
          <p:nvPr/>
        </p:nvSpPr>
        <p:spPr>
          <a:xfrm>
            <a:off x="804672" y="1993392"/>
            <a:ext cx="4939132"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Findings</a:t>
            </a:r>
            <a:endParaRPr lang="en-US" sz="2150" dirty="0"/>
          </a:p>
        </p:txBody>
      </p:sp>
      <p:sp>
        <p:nvSpPr>
          <p:cNvPr id="9" name="Text 7"/>
          <p:cNvSpPr/>
          <p:nvPr/>
        </p:nvSpPr>
        <p:spPr>
          <a:xfrm>
            <a:off x="804672" y="2377440"/>
            <a:ext cx="4939132" cy="2783840"/>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Soft, pitting edema</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Subsides with elevation; frequently gone by morning</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No secondary tissue changes</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no fibrosis yet</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Stemmer's sign usually negative</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Limb feels heavy; may be visibly larger by end of day</a:t>
            </a:r>
            <a:endParaRPr lang="en-US" sz="2000" dirty="0"/>
          </a:p>
        </p:txBody>
      </p:sp>
      <p:sp>
        <p:nvSpPr>
          <p:cNvPr id="10" name="Shape 8"/>
          <p:cNvSpPr/>
          <p:nvPr/>
        </p:nvSpPr>
        <p:spPr>
          <a:xfrm>
            <a:off x="6210148" y="1847088"/>
            <a:ext cx="5414620" cy="3478784"/>
          </a:xfrm>
          <a:prstGeom prst="roundRect">
            <a:avLst>
              <a:gd name="adj" fmla="val 2366"/>
            </a:avLst>
          </a:prstGeom>
          <a:solidFill>
            <a:srgbClr val="FFFFFF"/>
          </a:solidFill>
          <a:ln w="12700">
            <a:solidFill>
              <a:srgbClr val="DCE6E8"/>
            </a:solidFill>
            <a:prstDash val="solid"/>
          </a:ln>
        </p:spPr>
      </p:sp>
      <p:sp>
        <p:nvSpPr>
          <p:cNvPr id="11" name="Text 9"/>
          <p:cNvSpPr/>
          <p:nvPr/>
        </p:nvSpPr>
        <p:spPr>
          <a:xfrm>
            <a:off x="6447892" y="1993392"/>
            <a:ext cx="4939132"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PT implications</a:t>
            </a:r>
            <a:endParaRPr lang="en-US" sz="2150" dirty="0"/>
          </a:p>
        </p:txBody>
      </p:sp>
      <p:sp>
        <p:nvSpPr>
          <p:cNvPr id="12" name="Text 10"/>
          <p:cNvSpPr/>
          <p:nvPr/>
        </p:nvSpPr>
        <p:spPr>
          <a:xfrm>
            <a:off x="6447892" y="2377440"/>
            <a:ext cx="4939132" cy="2783840"/>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Highly responsive to CDT</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Compression garments often sufficient for maintenance</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Patient education on self-management is decisive here</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Goal: prevent the transition to fibrosis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15</a:t>
            </a:r>
            <a:endParaRPr lang="en-US" sz="1000" dirty="0"/>
          </a:p>
        </p:txBody>
      </p:sp>
      <p:sp>
        <p:nvSpPr>
          <p:cNvPr id="3" name="Shape 1"/>
          <p:cNvSpPr/>
          <p:nvPr/>
        </p:nvSpPr>
        <p:spPr>
          <a:xfrm>
            <a:off x="566928" y="310896"/>
            <a:ext cx="1371600" cy="384048"/>
          </a:xfrm>
          <a:prstGeom prst="roundRect">
            <a:avLst>
              <a:gd name="adj" fmla="val 47619"/>
            </a:avLst>
          </a:prstGeom>
          <a:solidFill>
            <a:srgbClr val="025462"/>
          </a:solidFill>
          <a:ln w="12700">
            <a:solidFill>
              <a:srgbClr val="025462"/>
            </a:solidFill>
            <a:prstDash val="solid"/>
          </a:ln>
        </p:spPr>
      </p:sp>
      <p:sp>
        <p:nvSpPr>
          <p:cNvPr id="4" name="Text 2"/>
          <p:cNvSpPr/>
          <p:nvPr/>
        </p:nvSpPr>
        <p:spPr>
          <a:xfrm>
            <a:off x="566928" y="310896"/>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II</a:t>
            </a:r>
            <a:endParaRPr lang="en-US" sz="1200" dirty="0"/>
          </a:p>
        </p:txBody>
      </p:sp>
      <p:sp>
        <p:nvSpPr>
          <p:cNvPr id="5" name="Text 3"/>
          <p:cNvSpPr/>
          <p:nvPr/>
        </p:nvSpPr>
        <p:spPr>
          <a:xfrm>
            <a:off x="2121408" y="274320"/>
            <a:ext cx="9503359" cy="457200"/>
          </a:xfrm>
          <a:prstGeom prst="rect">
            <a:avLst/>
          </a:prstGeom>
          <a:noFill/>
          <a:ln/>
        </p:spPr>
        <p:txBody>
          <a:bodyPr wrap="square" lIns="0" tIns="0" rIns="0" bIns="0" rtlCol="0" anchor="ctr"/>
          <a:lstStyle/>
          <a:p>
            <a:pPr indent="0" marL="0">
              <a:buNone/>
            </a:pPr>
            <a:r>
              <a:rPr lang="en-US" sz="3000" b="1" dirty="0">
                <a:solidFill>
                  <a:srgbClr val="025462"/>
                </a:solidFill>
                <a:latin typeface="Cambria" pitchFamily="34" charset="0"/>
                <a:ea typeface="Cambria" pitchFamily="34" charset="-122"/>
                <a:cs typeface="Cambria" pitchFamily="34" charset="-120"/>
              </a:rPr>
              <a:t>Spontaneously Irreversible</a:t>
            </a:r>
            <a:endParaRPr lang="en-US" sz="3000" dirty="0"/>
          </a:p>
        </p:txBody>
      </p:sp>
      <p:sp>
        <p:nvSpPr>
          <p:cNvPr id="6" name="Text 4"/>
          <p:cNvSpPr/>
          <p:nvPr/>
        </p:nvSpPr>
        <p:spPr>
          <a:xfrm>
            <a:off x="566928" y="914400"/>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Elevation alone no longer reduces the swelling. Lymphostatic fibrosis has begun and the tissue is changing character.</a:t>
            </a:r>
            <a:endParaRPr lang="en-US" sz="1650" dirty="0"/>
          </a:p>
        </p:txBody>
      </p:sp>
      <p:pic>
        <p:nvPicPr>
          <p:cNvPr id="7" name="Image 0" descr="/home/claude/build/assets/photos/stage1_photo.jpg">    </p:cNvPr>
          <p:cNvPicPr>
            <a:picLocks noChangeAspect="1"/>
          </p:cNvPicPr>
          <p:nvPr/>
        </p:nvPicPr>
        <p:blipFill>
          <a:blip r:embed="rId1"/>
          <a:stretch>
            <a:fillRect/>
          </a:stretch>
        </p:blipFill>
        <p:spPr>
          <a:xfrm>
            <a:off x="9458370" y="1572768"/>
            <a:ext cx="1269554" cy="1700784"/>
          </a:xfrm>
          <a:prstGeom prst="rect">
            <a:avLst/>
          </a:prstGeom>
        </p:spPr>
      </p:pic>
      <p:sp>
        <p:nvSpPr>
          <p:cNvPr id="8" name="Text 5"/>
          <p:cNvSpPr/>
          <p:nvPr/>
        </p:nvSpPr>
        <p:spPr>
          <a:xfrm>
            <a:off x="8561527" y="3319272"/>
            <a:ext cx="3063240" cy="274320"/>
          </a:xfrm>
          <a:prstGeom prst="rect">
            <a:avLst/>
          </a:prstGeom>
          <a:noFill/>
          <a:ln/>
        </p:spPr>
        <p:txBody>
          <a:bodyPr wrap="square" lIns="0" tIns="0" rIns="0" bIns="0" rtlCol="0" anchor="t"/>
          <a:lstStyle/>
          <a:p>
            <a:pPr algn="ctr" indent="0" marL="0">
              <a:buNone/>
            </a:pPr>
            <a:r>
              <a:rPr lang="en-US" sz="850" i="1" dirty="0">
                <a:solidFill>
                  <a:srgbClr val="36454F"/>
                </a:solidFill>
                <a:latin typeface="Calibri" pitchFamily="34" charset="0"/>
                <a:ea typeface="Calibri" pitchFamily="34" charset="-122"/>
                <a:cs typeface="Calibri" pitchFamily="34" charset="-120"/>
              </a:rPr>
              <a:t>Early unilateral involvement</a:t>
            </a:r>
            <a:endParaRPr lang="en-US" sz="850" dirty="0"/>
          </a:p>
        </p:txBody>
      </p:sp>
      <p:pic>
        <p:nvPicPr>
          <p:cNvPr id="9" name="Image 1" descr="/home/claude/build/assets/photos/stage_clinical_leg.jpg">    </p:cNvPr>
          <p:cNvPicPr>
            <a:picLocks noChangeAspect="1"/>
          </p:cNvPicPr>
          <p:nvPr/>
        </p:nvPicPr>
        <p:blipFill>
          <a:blip r:embed="rId2"/>
          <a:stretch>
            <a:fillRect/>
          </a:stretch>
        </p:blipFill>
        <p:spPr>
          <a:xfrm>
            <a:off x="9596477" y="3712464"/>
            <a:ext cx="993341" cy="1700784"/>
          </a:xfrm>
          <a:prstGeom prst="rect">
            <a:avLst/>
          </a:prstGeom>
        </p:spPr>
      </p:pic>
      <p:sp>
        <p:nvSpPr>
          <p:cNvPr id="10" name="Text 6"/>
          <p:cNvSpPr/>
          <p:nvPr/>
        </p:nvSpPr>
        <p:spPr>
          <a:xfrm>
            <a:off x="8561527" y="5458968"/>
            <a:ext cx="3063240" cy="274320"/>
          </a:xfrm>
          <a:prstGeom prst="rect">
            <a:avLst/>
          </a:prstGeom>
          <a:noFill/>
          <a:ln/>
        </p:spPr>
        <p:txBody>
          <a:bodyPr wrap="square" lIns="0" tIns="0" rIns="0" bIns="0" rtlCol="0" anchor="t"/>
          <a:lstStyle/>
          <a:p>
            <a:pPr algn="ctr" indent="0" marL="0">
              <a:buNone/>
            </a:pPr>
            <a:r>
              <a:rPr lang="en-US" sz="850" i="1" dirty="0">
                <a:solidFill>
                  <a:srgbClr val="36454F"/>
                </a:solidFill>
                <a:latin typeface="Calibri" pitchFamily="34" charset="0"/>
                <a:ea typeface="Calibri" pitchFamily="34" charset="-122"/>
                <a:cs typeface="Calibri" pitchFamily="34" charset="-120"/>
              </a:rPr>
              <a:t>Unilateral lower limb lymphedema</a:t>
            </a:r>
            <a:endParaRPr lang="en-US" sz="850" dirty="0"/>
          </a:p>
        </p:txBody>
      </p:sp>
      <p:sp>
        <p:nvSpPr>
          <p:cNvPr id="11" name="Shape 7"/>
          <p:cNvSpPr/>
          <p:nvPr/>
        </p:nvSpPr>
        <p:spPr>
          <a:xfrm>
            <a:off x="566928" y="1691640"/>
            <a:ext cx="3745840" cy="3913632"/>
          </a:xfrm>
          <a:prstGeom prst="roundRect">
            <a:avLst>
              <a:gd name="adj" fmla="val 2197"/>
            </a:avLst>
          </a:prstGeom>
          <a:solidFill>
            <a:srgbClr val="FFFFFF"/>
          </a:solidFill>
          <a:ln w="12700">
            <a:solidFill>
              <a:srgbClr val="DCE6E8"/>
            </a:solidFill>
            <a:prstDash val="solid"/>
          </a:ln>
        </p:spPr>
      </p:sp>
      <p:sp>
        <p:nvSpPr>
          <p:cNvPr id="12" name="Text 8"/>
          <p:cNvSpPr/>
          <p:nvPr/>
        </p:nvSpPr>
        <p:spPr>
          <a:xfrm>
            <a:off x="804672" y="1837944"/>
            <a:ext cx="3270352" cy="292608"/>
          </a:xfrm>
          <a:prstGeom prst="rect">
            <a:avLst/>
          </a:prstGeom>
          <a:noFill/>
          <a:ln/>
        </p:spPr>
        <p:txBody>
          <a:bodyPr wrap="square" lIns="0" tIns="0" rIns="0" bIns="0" rtlCol="0" anchor="ctr"/>
          <a:lstStyle/>
          <a:p>
            <a:pPr indent="0" marL="0">
              <a:buNone/>
            </a:pPr>
            <a:r>
              <a:rPr lang="en-US" sz="1950" b="1" dirty="0">
                <a:solidFill>
                  <a:srgbClr val="025462"/>
                </a:solidFill>
                <a:latin typeface="Calibri" pitchFamily="34" charset="0"/>
                <a:ea typeface="Calibri" pitchFamily="34" charset="-122"/>
                <a:cs typeface="Calibri" pitchFamily="34" charset="-120"/>
              </a:rPr>
              <a:t>Findings</a:t>
            </a:r>
            <a:endParaRPr lang="en-US" sz="1950" dirty="0"/>
          </a:p>
        </p:txBody>
      </p:sp>
      <p:sp>
        <p:nvSpPr>
          <p:cNvPr id="13" name="Text 9"/>
          <p:cNvSpPr/>
          <p:nvPr/>
        </p:nvSpPr>
        <p:spPr>
          <a:xfrm>
            <a:off x="804672" y="2221992"/>
            <a:ext cx="3270352" cy="3218688"/>
          </a:xfrm>
          <a:prstGeom prst="rect">
            <a:avLst/>
          </a:prstGeom>
          <a:noFill/>
          <a:ln/>
        </p:spPr>
        <p:txBody>
          <a:bodyPr wrap="square" lIns="0" tIns="0" rIns="0" bIns="0" rtlCol="0" anchor="t"/>
          <a:lstStyle/>
          <a:p>
            <a:pPr marL="190500" indent="-190500">
              <a:spcAft>
                <a:spcPts val="600"/>
              </a:spcAft>
              <a:buSzPct val="100000"/>
              <a:buChar char="•"/>
            </a:pPr>
            <a:r>
              <a:rPr lang="en-US" sz="1800" dirty="0">
                <a:solidFill>
                  <a:srgbClr val="1B2A30"/>
                </a:solidFill>
                <a:latin typeface="Calibri" pitchFamily="34" charset="0"/>
                <a:ea typeface="Calibri" pitchFamily="34" charset="-122"/>
                <a:cs typeface="Calibri" pitchFamily="34" charset="-120"/>
              </a:rPr>
              <a:t>Elevation rarely reduces the limb</a:t>
            </a:r>
            <a:endParaRPr lang="en-US" sz="1800" dirty="0"/>
          </a:p>
          <a:p>
            <a:pPr marL="190500" indent="-190500">
              <a:spcAft>
                <a:spcPts val="600"/>
              </a:spcAft>
              <a:buSzPct val="100000"/>
              <a:buChar char="•"/>
            </a:pPr>
            <a:r>
              <a:rPr lang="en-US" sz="1800" b="1" dirty="0">
                <a:solidFill>
                  <a:srgbClr val="1B2A30"/>
                </a:solidFill>
                <a:latin typeface="Calibri" pitchFamily="34" charset="0"/>
                <a:ea typeface="Calibri" pitchFamily="34" charset="-122"/>
                <a:cs typeface="Calibri" pitchFamily="34" charset="-120"/>
              </a:rPr>
              <a:t>Early Stage II</a:t>
            </a:r>
            <a:pPr indent="0" marL="0">
              <a:spcAft>
                <a:spcPts val="600"/>
              </a:spcAft>
              <a:buNone/>
            </a:pPr>
            <a:r>
              <a:rPr lang="en-US" sz="1800" dirty="0">
                <a:solidFill>
                  <a:srgbClr val="1B2A30"/>
                </a:solidFill>
                <a:latin typeface="Calibri" pitchFamily="34" charset="0"/>
                <a:ea typeface="Calibri" pitchFamily="34" charset="-122"/>
                <a:cs typeface="Calibri" pitchFamily="34" charset="-120"/>
              </a:rPr>
              <a:t> — pitting is manifest and pronounced</a:t>
            </a:r>
            <a:endParaRPr lang="en-US" sz="1800" dirty="0"/>
          </a:p>
          <a:p>
            <a:pPr marL="190500" indent="-190500">
              <a:spcAft>
                <a:spcPts val="600"/>
              </a:spcAft>
              <a:buSzPct val="100000"/>
              <a:buChar char="•"/>
            </a:pPr>
            <a:r>
              <a:rPr lang="en-US" sz="1800" b="1" dirty="0">
                <a:solidFill>
                  <a:srgbClr val="1B2A30"/>
                </a:solidFill>
                <a:latin typeface="Calibri" pitchFamily="34" charset="0"/>
                <a:ea typeface="Calibri" pitchFamily="34" charset="-122"/>
                <a:cs typeface="Calibri" pitchFamily="34" charset="-120"/>
              </a:rPr>
              <a:t>Late Stage II</a:t>
            </a:r>
            <a:pPr indent="0" marL="0">
              <a:spcAft>
                <a:spcPts val="600"/>
              </a:spcAft>
              <a:buNone/>
            </a:pPr>
            <a:r>
              <a:rPr lang="en-US" sz="1800" dirty="0">
                <a:solidFill>
                  <a:srgbClr val="1B2A30"/>
                </a:solidFill>
                <a:latin typeface="Calibri" pitchFamily="34" charset="0"/>
                <a:ea typeface="Calibri" pitchFamily="34" charset="-122"/>
                <a:cs typeface="Calibri" pitchFamily="34" charset="-120"/>
              </a:rPr>
              <a:t> — pitting may be absent as fibrosis replaces fluid</a:t>
            </a:r>
            <a:endParaRPr lang="en-US" sz="1800" dirty="0"/>
          </a:p>
          <a:p>
            <a:pPr marL="190500" indent="-190500">
              <a:spcAft>
                <a:spcPts val="600"/>
              </a:spcAft>
              <a:buSzPct val="100000"/>
              <a:buChar char="•"/>
            </a:pPr>
            <a:r>
              <a:rPr lang="en-US" sz="1800" dirty="0">
                <a:solidFill>
                  <a:srgbClr val="1B2A30"/>
                </a:solidFill>
                <a:latin typeface="Calibri" pitchFamily="34" charset="0"/>
                <a:ea typeface="Calibri" pitchFamily="34" charset="-122"/>
                <a:cs typeface="Calibri" pitchFamily="34" charset="-120"/>
              </a:rPr>
              <a:t>Tissue feels firm; Stemmer's sign becomes positive</a:t>
            </a:r>
            <a:endParaRPr lang="en-US" sz="1800" dirty="0"/>
          </a:p>
          <a:p>
            <a:pPr marL="190500" indent="-190500">
              <a:spcAft>
                <a:spcPts val="600"/>
              </a:spcAft>
              <a:buSzPct val="100000"/>
              <a:buChar char="•"/>
            </a:pPr>
            <a:r>
              <a:rPr lang="en-US" sz="1800" dirty="0">
                <a:solidFill>
                  <a:srgbClr val="1B2A30"/>
                </a:solidFill>
                <a:latin typeface="Calibri" pitchFamily="34" charset="0"/>
                <a:ea typeface="Calibri" pitchFamily="34" charset="-122"/>
                <a:cs typeface="Calibri" pitchFamily="34" charset="-120"/>
              </a:rPr>
              <a:t>Increasing frequency of cellulitis</a:t>
            </a:r>
            <a:endParaRPr lang="en-US" sz="1800" dirty="0"/>
          </a:p>
          <a:p>
            <a:pPr marL="190500" indent="-190500">
              <a:spcAft>
                <a:spcPts val="600"/>
              </a:spcAft>
              <a:buSzPct val="100000"/>
              <a:buChar char="•"/>
            </a:pPr>
            <a:r>
              <a:rPr lang="en-US" sz="1800" dirty="0">
                <a:solidFill>
                  <a:srgbClr val="1B2A30"/>
                </a:solidFill>
                <a:latin typeface="Calibri" pitchFamily="34" charset="0"/>
                <a:ea typeface="Calibri" pitchFamily="34" charset="-122"/>
                <a:cs typeface="Calibri" pitchFamily="34" charset="-120"/>
              </a:rPr>
              <a:t>Skin thickening becomes apparent</a:t>
            </a:r>
            <a:endParaRPr lang="en-US" sz="1800" dirty="0"/>
          </a:p>
        </p:txBody>
      </p:sp>
      <p:sp>
        <p:nvSpPr>
          <p:cNvPr id="14" name="Shape 10"/>
          <p:cNvSpPr/>
          <p:nvPr/>
        </p:nvSpPr>
        <p:spPr>
          <a:xfrm>
            <a:off x="4541368" y="1691640"/>
            <a:ext cx="3745840" cy="3913632"/>
          </a:xfrm>
          <a:prstGeom prst="roundRect">
            <a:avLst>
              <a:gd name="adj" fmla="val 2197"/>
            </a:avLst>
          </a:prstGeom>
          <a:solidFill>
            <a:srgbClr val="FFFFFF"/>
          </a:solidFill>
          <a:ln w="12700">
            <a:solidFill>
              <a:srgbClr val="DCE6E8"/>
            </a:solidFill>
            <a:prstDash val="solid"/>
          </a:ln>
        </p:spPr>
      </p:sp>
      <p:sp>
        <p:nvSpPr>
          <p:cNvPr id="15" name="Text 11"/>
          <p:cNvSpPr/>
          <p:nvPr/>
        </p:nvSpPr>
        <p:spPr>
          <a:xfrm>
            <a:off x="4779112" y="1837944"/>
            <a:ext cx="3270352" cy="292608"/>
          </a:xfrm>
          <a:prstGeom prst="rect">
            <a:avLst/>
          </a:prstGeom>
          <a:noFill/>
          <a:ln/>
        </p:spPr>
        <p:txBody>
          <a:bodyPr wrap="square" lIns="0" tIns="0" rIns="0" bIns="0" rtlCol="0" anchor="ctr"/>
          <a:lstStyle/>
          <a:p>
            <a:pPr indent="0" marL="0">
              <a:buNone/>
            </a:pPr>
            <a:r>
              <a:rPr lang="en-US" sz="1950" b="1" dirty="0">
                <a:solidFill>
                  <a:srgbClr val="025462"/>
                </a:solidFill>
                <a:latin typeface="Calibri" pitchFamily="34" charset="0"/>
                <a:ea typeface="Calibri" pitchFamily="34" charset="-122"/>
                <a:cs typeface="Calibri" pitchFamily="34" charset="-120"/>
              </a:rPr>
              <a:t>PT implications</a:t>
            </a:r>
            <a:endParaRPr lang="en-US" sz="1950" dirty="0"/>
          </a:p>
        </p:txBody>
      </p:sp>
      <p:sp>
        <p:nvSpPr>
          <p:cNvPr id="16" name="Text 12"/>
          <p:cNvSpPr/>
          <p:nvPr/>
        </p:nvSpPr>
        <p:spPr>
          <a:xfrm>
            <a:off x="4779112" y="2221992"/>
            <a:ext cx="3270352" cy="3218688"/>
          </a:xfrm>
          <a:prstGeom prst="rect">
            <a:avLst/>
          </a:prstGeom>
          <a:noFill/>
          <a:ln/>
        </p:spPr>
        <p:txBody>
          <a:bodyPr wrap="square" lIns="0" tIns="0" rIns="0" bIns="0" rtlCol="0" anchor="t"/>
          <a:lstStyle/>
          <a:p>
            <a:pPr marL="190500" indent="-190500">
              <a:spcAft>
                <a:spcPts val="600"/>
              </a:spcAft>
              <a:buSzPct val="100000"/>
              <a:buChar char="•"/>
            </a:pPr>
            <a:r>
              <a:rPr lang="en-US" sz="1800" dirty="0">
                <a:solidFill>
                  <a:srgbClr val="1B2A30"/>
                </a:solidFill>
                <a:latin typeface="Calibri" pitchFamily="34" charset="0"/>
                <a:ea typeface="Calibri" pitchFamily="34" charset="-122"/>
                <a:cs typeface="Calibri" pitchFamily="34" charset="-120"/>
              </a:rPr>
              <a:t>Full intensive-phase CDT is indicated</a:t>
            </a:r>
            <a:endParaRPr lang="en-US" sz="1800" dirty="0"/>
          </a:p>
          <a:p>
            <a:pPr marL="190500" indent="-190500">
              <a:spcAft>
                <a:spcPts val="600"/>
              </a:spcAft>
              <a:buSzPct val="100000"/>
              <a:buChar char="•"/>
            </a:pPr>
            <a:r>
              <a:rPr lang="en-US" sz="1800" dirty="0">
                <a:solidFill>
                  <a:srgbClr val="1B2A30"/>
                </a:solidFill>
                <a:latin typeface="Calibri" pitchFamily="34" charset="0"/>
                <a:ea typeface="Calibri" pitchFamily="34" charset="-122"/>
                <a:cs typeface="Calibri" pitchFamily="34" charset="-120"/>
              </a:rPr>
              <a:t>Fibrosis requires manual work plus foam/chip padding under bandaging</a:t>
            </a:r>
            <a:endParaRPr lang="en-US" sz="1800" dirty="0"/>
          </a:p>
          <a:p>
            <a:pPr marL="190500" indent="-190500">
              <a:spcAft>
                <a:spcPts val="600"/>
              </a:spcAft>
              <a:buSzPct val="100000"/>
              <a:buChar char="•"/>
            </a:pPr>
            <a:r>
              <a:rPr lang="en-US" sz="1800" dirty="0">
                <a:solidFill>
                  <a:srgbClr val="1B2A30"/>
                </a:solidFill>
                <a:latin typeface="Calibri" pitchFamily="34" charset="0"/>
                <a:ea typeface="Calibri" pitchFamily="34" charset="-122"/>
                <a:cs typeface="Calibri" pitchFamily="34" charset="-120"/>
              </a:rPr>
              <a:t>Realistic goal is volume reduction and stabilization, not cure</a:t>
            </a:r>
            <a:endParaRPr lang="en-US" sz="1800" dirty="0"/>
          </a:p>
          <a:p>
            <a:pPr marL="190500" indent="-190500">
              <a:spcAft>
                <a:spcPts val="600"/>
              </a:spcAft>
              <a:buSzPct val="100000"/>
              <a:buChar char="•"/>
            </a:pPr>
            <a:r>
              <a:rPr lang="en-US" sz="1800" dirty="0">
                <a:solidFill>
                  <a:srgbClr val="1B2A30"/>
                </a:solidFill>
                <a:latin typeface="Calibri" pitchFamily="34" charset="0"/>
                <a:ea typeface="Calibri" pitchFamily="34" charset="-122"/>
                <a:cs typeface="Calibri" pitchFamily="34" charset="-120"/>
              </a:rPr>
              <a:t>Aggressive infection-prevention education</a:t>
            </a:r>
            <a:endParaRPr lang="en-US" sz="1800" dirty="0"/>
          </a:p>
        </p:txBody>
      </p:sp>
      <p:sp>
        <p:nvSpPr>
          <p:cNvPr id="17" name="Text 13"/>
          <p:cNvSpPr/>
          <p:nvPr/>
        </p:nvSpPr>
        <p:spPr>
          <a:xfrm>
            <a:off x="566928" y="5852160"/>
            <a:ext cx="11057839" cy="457200"/>
          </a:xfrm>
          <a:prstGeom prst="rect">
            <a:avLst/>
          </a:prstGeom>
          <a:noFill/>
          <a:ln/>
        </p:spPr>
        <p:txBody>
          <a:bodyPr wrap="square" lIns="0" tIns="0" rIns="0" bIns="0" rtlCol="0" anchor="t"/>
          <a:lstStyle/>
          <a:p>
            <a:pPr indent="0" marL="0">
              <a:buNone/>
            </a:pPr>
            <a:r>
              <a:rPr lang="en-US" sz="1100" i="1" dirty="0">
                <a:solidFill>
                  <a:srgbClr val="36454F"/>
                </a:solidFill>
                <a:latin typeface="Calibri" pitchFamily="34" charset="0"/>
                <a:ea typeface="Calibri" pitchFamily="34" charset="-122"/>
                <a:cs typeface="Calibri" pitchFamily="34" charset="-120"/>
              </a:rPr>
              <a:t>The presence or absence of pitting is what separates early from late Stage II — not the size of the limb.</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16</a:t>
            </a:r>
            <a:endParaRPr lang="en-US" sz="1000" dirty="0"/>
          </a:p>
        </p:txBody>
      </p:sp>
      <p:sp>
        <p:nvSpPr>
          <p:cNvPr id="3" name="Shape 1"/>
          <p:cNvSpPr/>
          <p:nvPr/>
        </p:nvSpPr>
        <p:spPr>
          <a:xfrm>
            <a:off x="566928" y="310896"/>
            <a:ext cx="1371600" cy="384048"/>
          </a:xfrm>
          <a:prstGeom prst="roundRect">
            <a:avLst>
              <a:gd name="adj" fmla="val 47619"/>
            </a:avLst>
          </a:prstGeom>
          <a:solidFill>
            <a:srgbClr val="025462"/>
          </a:solidFill>
          <a:ln w="12700">
            <a:solidFill>
              <a:srgbClr val="025462"/>
            </a:solidFill>
            <a:prstDash val="solid"/>
          </a:ln>
        </p:spPr>
      </p:sp>
      <p:sp>
        <p:nvSpPr>
          <p:cNvPr id="4" name="Text 2"/>
          <p:cNvSpPr/>
          <p:nvPr/>
        </p:nvSpPr>
        <p:spPr>
          <a:xfrm>
            <a:off x="566928" y="310896"/>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III</a:t>
            </a:r>
            <a:endParaRPr lang="en-US" sz="1200" dirty="0"/>
          </a:p>
        </p:txBody>
      </p:sp>
      <p:sp>
        <p:nvSpPr>
          <p:cNvPr id="5" name="Text 3"/>
          <p:cNvSpPr/>
          <p:nvPr/>
        </p:nvSpPr>
        <p:spPr>
          <a:xfrm>
            <a:off x="2121408" y="274320"/>
            <a:ext cx="9503359" cy="457200"/>
          </a:xfrm>
          <a:prstGeom prst="rect">
            <a:avLst/>
          </a:prstGeom>
          <a:noFill/>
          <a:ln/>
        </p:spPr>
        <p:txBody>
          <a:bodyPr wrap="square" lIns="0" tIns="0" rIns="0" bIns="0" rtlCol="0" anchor="ctr"/>
          <a:lstStyle/>
          <a:p>
            <a:pPr indent="0" marL="0">
              <a:buNone/>
            </a:pPr>
            <a:r>
              <a:rPr lang="en-US" sz="3000" b="1" dirty="0">
                <a:solidFill>
                  <a:srgbClr val="025462"/>
                </a:solidFill>
                <a:latin typeface="Cambria" pitchFamily="34" charset="0"/>
                <a:ea typeface="Cambria" pitchFamily="34" charset="-122"/>
                <a:cs typeface="Cambria" pitchFamily="34" charset="-120"/>
              </a:rPr>
              <a:t>Lymphostatic Elephantiasis</a:t>
            </a:r>
            <a:endParaRPr lang="en-US" sz="3000" dirty="0"/>
          </a:p>
        </p:txBody>
      </p:sp>
      <p:sp>
        <p:nvSpPr>
          <p:cNvPr id="6" name="Text 4"/>
          <p:cNvSpPr/>
          <p:nvPr/>
        </p:nvSpPr>
        <p:spPr>
          <a:xfrm>
            <a:off x="566928" y="914400"/>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Extreme volume increase with characteristic trophic skin changes. Pitting is typically absent.</a:t>
            </a:r>
            <a:endParaRPr lang="en-US" sz="1650" dirty="0"/>
          </a:p>
        </p:txBody>
      </p:sp>
      <p:pic>
        <p:nvPicPr>
          <p:cNvPr id="7" name="Image 0" descr="/home/claude/build/assets/photos/stage3_photo.jpg">    </p:cNvPr>
          <p:cNvPicPr>
            <a:picLocks noChangeAspect="1"/>
          </p:cNvPicPr>
          <p:nvPr/>
        </p:nvPicPr>
        <p:blipFill>
          <a:blip r:embed="rId1"/>
          <a:stretch>
            <a:fillRect/>
          </a:stretch>
        </p:blipFill>
        <p:spPr>
          <a:xfrm>
            <a:off x="8561527" y="1572768"/>
            <a:ext cx="3063240" cy="1526647"/>
          </a:xfrm>
          <a:prstGeom prst="rect">
            <a:avLst/>
          </a:prstGeom>
        </p:spPr>
      </p:pic>
      <p:sp>
        <p:nvSpPr>
          <p:cNvPr id="8" name="Text 5"/>
          <p:cNvSpPr/>
          <p:nvPr/>
        </p:nvSpPr>
        <p:spPr>
          <a:xfrm>
            <a:off x="8561527" y="3145135"/>
            <a:ext cx="3063240" cy="274320"/>
          </a:xfrm>
          <a:prstGeom prst="rect">
            <a:avLst/>
          </a:prstGeom>
          <a:noFill/>
          <a:ln/>
        </p:spPr>
        <p:txBody>
          <a:bodyPr wrap="square" lIns="0" tIns="0" rIns="0" bIns="0" rtlCol="0" anchor="t"/>
          <a:lstStyle/>
          <a:p>
            <a:pPr algn="ctr" indent="0" marL="0">
              <a:buNone/>
            </a:pPr>
            <a:r>
              <a:rPr lang="en-US" sz="850" i="1" dirty="0">
                <a:solidFill>
                  <a:srgbClr val="36454F"/>
                </a:solidFill>
                <a:latin typeface="Calibri" pitchFamily="34" charset="0"/>
                <a:ea typeface="Calibri" pitchFamily="34" charset="-122"/>
                <a:cs typeface="Calibri" pitchFamily="34" charset="-120"/>
              </a:rPr>
              <a:t>Stage III — lymphostatic elephantiasis</a:t>
            </a:r>
            <a:endParaRPr lang="en-US" sz="850" dirty="0"/>
          </a:p>
        </p:txBody>
      </p:sp>
      <p:pic>
        <p:nvPicPr>
          <p:cNvPr id="9" name="Image 1" descr="/home/claude/build/assets/photos/stage3_skin.jpg">    </p:cNvPr>
          <p:cNvPicPr>
            <a:picLocks noChangeAspect="1"/>
          </p:cNvPicPr>
          <p:nvPr/>
        </p:nvPicPr>
        <p:blipFill>
          <a:blip r:embed="rId2"/>
          <a:stretch>
            <a:fillRect/>
          </a:stretch>
        </p:blipFill>
        <p:spPr>
          <a:xfrm>
            <a:off x="9678395" y="3712464"/>
            <a:ext cx="829505" cy="1700784"/>
          </a:xfrm>
          <a:prstGeom prst="rect">
            <a:avLst/>
          </a:prstGeom>
        </p:spPr>
      </p:pic>
      <p:sp>
        <p:nvSpPr>
          <p:cNvPr id="10" name="Text 6"/>
          <p:cNvSpPr/>
          <p:nvPr/>
        </p:nvSpPr>
        <p:spPr>
          <a:xfrm>
            <a:off x="8561527" y="5458968"/>
            <a:ext cx="3063240" cy="274320"/>
          </a:xfrm>
          <a:prstGeom prst="rect">
            <a:avLst/>
          </a:prstGeom>
          <a:noFill/>
          <a:ln/>
        </p:spPr>
        <p:txBody>
          <a:bodyPr wrap="square" lIns="0" tIns="0" rIns="0" bIns="0" rtlCol="0" anchor="t"/>
          <a:lstStyle/>
          <a:p>
            <a:pPr algn="ctr" indent="0" marL="0">
              <a:buNone/>
            </a:pPr>
            <a:r>
              <a:rPr lang="en-US" sz="850" i="1" dirty="0">
                <a:solidFill>
                  <a:srgbClr val="36454F"/>
                </a:solidFill>
                <a:latin typeface="Calibri" pitchFamily="34" charset="0"/>
                <a:ea typeface="Calibri" pitchFamily="34" charset="-122"/>
                <a:cs typeface="Calibri" pitchFamily="34" charset="-120"/>
              </a:rPr>
              <a:t>Stage III skin changes with lymphorrhea</a:t>
            </a:r>
            <a:endParaRPr lang="en-US" sz="850" dirty="0"/>
          </a:p>
        </p:txBody>
      </p:sp>
      <p:sp>
        <p:nvSpPr>
          <p:cNvPr id="11" name="Shape 7"/>
          <p:cNvSpPr/>
          <p:nvPr/>
        </p:nvSpPr>
        <p:spPr>
          <a:xfrm>
            <a:off x="566928" y="1705864"/>
            <a:ext cx="3745840" cy="3885184"/>
          </a:xfrm>
          <a:prstGeom prst="roundRect">
            <a:avLst>
              <a:gd name="adj" fmla="val 2197"/>
            </a:avLst>
          </a:prstGeom>
          <a:solidFill>
            <a:srgbClr val="FFFFFF"/>
          </a:solidFill>
          <a:ln w="12700">
            <a:solidFill>
              <a:srgbClr val="DCE6E8"/>
            </a:solidFill>
            <a:prstDash val="solid"/>
          </a:ln>
        </p:spPr>
      </p:sp>
      <p:sp>
        <p:nvSpPr>
          <p:cNvPr id="12" name="Text 8"/>
          <p:cNvSpPr/>
          <p:nvPr/>
        </p:nvSpPr>
        <p:spPr>
          <a:xfrm>
            <a:off x="804672" y="1852168"/>
            <a:ext cx="3270352" cy="292608"/>
          </a:xfrm>
          <a:prstGeom prst="rect">
            <a:avLst/>
          </a:prstGeom>
          <a:noFill/>
          <a:ln/>
        </p:spPr>
        <p:txBody>
          <a:bodyPr wrap="square" lIns="0" tIns="0" rIns="0" bIns="0" rtlCol="0" anchor="ctr"/>
          <a:lstStyle/>
          <a:p>
            <a:pPr indent="0" marL="0">
              <a:buNone/>
            </a:pPr>
            <a:r>
              <a:rPr lang="en-US" sz="1550" b="1" dirty="0">
                <a:solidFill>
                  <a:srgbClr val="025462"/>
                </a:solidFill>
                <a:latin typeface="Calibri" pitchFamily="34" charset="0"/>
                <a:ea typeface="Calibri" pitchFamily="34" charset="-122"/>
                <a:cs typeface="Calibri" pitchFamily="34" charset="-120"/>
              </a:rPr>
              <a:t>Findings</a:t>
            </a:r>
            <a:endParaRPr lang="en-US" sz="1550" dirty="0"/>
          </a:p>
        </p:txBody>
      </p:sp>
      <p:sp>
        <p:nvSpPr>
          <p:cNvPr id="13" name="Text 9"/>
          <p:cNvSpPr/>
          <p:nvPr/>
        </p:nvSpPr>
        <p:spPr>
          <a:xfrm>
            <a:off x="804672" y="2236216"/>
            <a:ext cx="3270352" cy="319024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Marked volume increase and limb distortion</a:t>
            </a:r>
            <a:endParaRPr lang="en-US" sz="1400" dirty="0"/>
          </a:p>
          <a:p>
            <a:pPr marL="190500" indent="-190500">
              <a:spcAft>
                <a:spcPts val="600"/>
              </a:spcAft>
              <a:buSzPct val="100000"/>
              <a:buChar char="•"/>
            </a:pPr>
            <a:r>
              <a:rPr lang="en-US" sz="1400" b="1" dirty="0">
                <a:solidFill>
                  <a:srgbClr val="1B2A30"/>
                </a:solidFill>
                <a:latin typeface="Calibri" pitchFamily="34" charset="0"/>
                <a:ea typeface="Calibri" pitchFamily="34" charset="-122"/>
                <a:cs typeface="Calibri" pitchFamily="34" charset="-120"/>
              </a:rPr>
              <a:t>Pitting absent</a:t>
            </a:r>
            <a:pPr indent="0" marL="0">
              <a:spcAft>
                <a:spcPts val="600"/>
              </a:spcAft>
              <a:buNone/>
            </a:pP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Trophic skin changes — acanthosis, hyperkeratosis</a:t>
            </a:r>
            <a:endParaRPr lang="en-US" sz="1400" dirty="0"/>
          </a:p>
          <a:p>
            <a:pPr marL="190500" indent="-190500">
              <a:spcAft>
                <a:spcPts val="600"/>
              </a:spcAft>
              <a:buSzPct val="100000"/>
              <a:buChar char="•"/>
            </a:pPr>
            <a:r>
              <a:rPr lang="en-US" sz="1400" b="1" dirty="0">
                <a:solidFill>
                  <a:srgbClr val="1B2A30"/>
                </a:solidFill>
                <a:latin typeface="Calibri" pitchFamily="34" charset="0"/>
                <a:ea typeface="Calibri" pitchFamily="34" charset="-122"/>
                <a:cs typeface="Calibri" pitchFamily="34" charset="-120"/>
              </a:rPr>
              <a:t>Papillomas</a:t>
            </a:r>
            <a:pPr indent="0" marL="0">
              <a:spcAft>
                <a:spcPts val="600"/>
              </a:spcAft>
              <a:buNone/>
            </a:pPr>
            <a:r>
              <a:rPr lang="en-US" sz="1400" dirty="0">
                <a:solidFill>
                  <a:srgbClr val="1B2A30"/>
                </a:solidFill>
                <a:latin typeface="Calibri" pitchFamily="34" charset="0"/>
                <a:ea typeface="Calibri" pitchFamily="34" charset="-122"/>
                <a:cs typeface="Calibri" pitchFamily="34" charset="-120"/>
              </a:rPr>
              <a:t> and warty overgrowth</a:t>
            </a:r>
            <a:endParaRPr lang="en-US" sz="1400" dirty="0"/>
          </a:p>
          <a:p>
            <a:pPr marL="190500" indent="-190500">
              <a:spcAft>
                <a:spcPts val="600"/>
              </a:spcAft>
              <a:buSzPct val="100000"/>
              <a:buChar char="•"/>
            </a:pPr>
            <a:r>
              <a:rPr lang="en-US" sz="1400" b="1" dirty="0">
                <a:solidFill>
                  <a:srgbClr val="1B2A30"/>
                </a:solidFill>
                <a:latin typeface="Calibri" pitchFamily="34" charset="0"/>
                <a:ea typeface="Calibri" pitchFamily="34" charset="-122"/>
                <a:cs typeface="Calibri" pitchFamily="34" charset="-120"/>
              </a:rPr>
              <a:t>Deep skin folds</a:t>
            </a:r>
            <a:pPr indent="0" marL="0">
              <a:spcAft>
                <a:spcPts val="600"/>
              </a:spcAft>
              <a:buNone/>
            </a:pPr>
            <a:r>
              <a:rPr lang="en-US" sz="1400" dirty="0">
                <a:solidFill>
                  <a:srgbClr val="1B2A30"/>
                </a:solidFill>
                <a:latin typeface="Calibri" pitchFamily="34" charset="0"/>
                <a:ea typeface="Calibri" pitchFamily="34" charset="-122"/>
                <a:cs typeface="Calibri" pitchFamily="34" charset="-120"/>
              </a:rPr>
              <a:t>, fat deposition</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Lymphorrhea — weeping of lymph fluid through the skin</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Strongly positive Stemmer's sign</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Frequent, sometimes life-threatening infection</a:t>
            </a:r>
            <a:endParaRPr lang="en-US" sz="1400" dirty="0"/>
          </a:p>
        </p:txBody>
      </p:sp>
      <p:sp>
        <p:nvSpPr>
          <p:cNvPr id="14" name="Shape 10"/>
          <p:cNvSpPr/>
          <p:nvPr/>
        </p:nvSpPr>
        <p:spPr>
          <a:xfrm>
            <a:off x="4541368" y="1705864"/>
            <a:ext cx="3745840" cy="3885184"/>
          </a:xfrm>
          <a:prstGeom prst="roundRect">
            <a:avLst>
              <a:gd name="adj" fmla="val 2197"/>
            </a:avLst>
          </a:prstGeom>
          <a:solidFill>
            <a:srgbClr val="FFFFFF"/>
          </a:solidFill>
          <a:ln w="12700">
            <a:solidFill>
              <a:srgbClr val="DCE6E8"/>
            </a:solidFill>
            <a:prstDash val="solid"/>
          </a:ln>
        </p:spPr>
      </p:sp>
      <p:sp>
        <p:nvSpPr>
          <p:cNvPr id="15" name="Text 11"/>
          <p:cNvSpPr/>
          <p:nvPr/>
        </p:nvSpPr>
        <p:spPr>
          <a:xfrm>
            <a:off x="4779112" y="1852168"/>
            <a:ext cx="3270352" cy="292608"/>
          </a:xfrm>
          <a:prstGeom prst="rect">
            <a:avLst/>
          </a:prstGeom>
          <a:noFill/>
          <a:ln/>
        </p:spPr>
        <p:txBody>
          <a:bodyPr wrap="square" lIns="0" tIns="0" rIns="0" bIns="0" rtlCol="0" anchor="ctr"/>
          <a:lstStyle/>
          <a:p>
            <a:pPr indent="0" marL="0">
              <a:buNone/>
            </a:pPr>
            <a:r>
              <a:rPr lang="en-US" sz="1550" b="1" dirty="0">
                <a:solidFill>
                  <a:srgbClr val="025462"/>
                </a:solidFill>
                <a:latin typeface="Calibri" pitchFamily="34" charset="0"/>
                <a:ea typeface="Calibri" pitchFamily="34" charset="-122"/>
                <a:cs typeface="Calibri" pitchFamily="34" charset="-120"/>
              </a:rPr>
              <a:t>PT implications</a:t>
            </a:r>
            <a:endParaRPr lang="en-US" sz="1550" dirty="0"/>
          </a:p>
        </p:txBody>
      </p:sp>
      <p:sp>
        <p:nvSpPr>
          <p:cNvPr id="16" name="Text 12"/>
          <p:cNvSpPr/>
          <p:nvPr/>
        </p:nvSpPr>
        <p:spPr>
          <a:xfrm>
            <a:off x="4779112" y="2236216"/>
            <a:ext cx="3270352" cy="319024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Extended intensive phase; often requires wound care alongside CDT</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Meaningful volume reduction is still achievable — do not write these patients off</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Multilayer bandaging with substantial padding</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Coordinate with physician; surgical options may be considered after conservative management</a:t>
            </a:r>
            <a:endParaRPr lang="en-US" sz="1400" dirty="0"/>
          </a:p>
        </p:txBody>
      </p:sp>
      <p:sp>
        <p:nvSpPr>
          <p:cNvPr id="17" name="Text 13"/>
          <p:cNvSpPr/>
          <p:nvPr/>
        </p:nvSpPr>
        <p:spPr>
          <a:xfrm>
            <a:off x="566928" y="5852160"/>
            <a:ext cx="11057839" cy="457200"/>
          </a:xfrm>
          <a:prstGeom prst="rect">
            <a:avLst/>
          </a:prstGeom>
          <a:noFill/>
          <a:ln/>
        </p:spPr>
        <p:txBody>
          <a:bodyPr wrap="square" lIns="0" tIns="0" rIns="0" bIns="0" rtlCol="0" anchor="t"/>
          <a:lstStyle/>
          <a:p>
            <a:pPr indent="0" marL="0">
              <a:buNone/>
            </a:pPr>
            <a:r>
              <a:rPr lang="en-US" sz="1100" i="1" dirty="0">
                <a:solidFill>
                  <a:srgbClr val="36454F"/>
                </a:solidFill>
                <a:latin typeface="Calibri" pitchFamily="34" charset="0"/>
                <a:ea typeface="Calibri" pitchFamily="34" charset="-122"/>
                <a:cs typeface="Calibri" pitchFamily="34" charset="-120"/>
              </a:rPr>
              <a:t>Stage III is not a treatment failure to be managed passively. Significant reduction is well documented with sustained CDT.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17</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STAGING</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Stage III — Clinical Appearance</a:t>
            </a:r>
            <a:endParaRPr lang="en-US" sz="3400" dirty="0"/>
          </a:p>
        </p:txBody>
      </p:sp>
      <p:pic>
        <p:nvPicPr>
          <p:cNvPr id="5" name="Image 0" descr="/home/claude/build/assets/photos/stage3_photo.jpg">    </p:cNvPr>
          <p:cNvPicPr>
            <a:picLocks noChangeAspect="1"/>
          </p:cNvPicPr>
          <p:nvPr/>
        </p:nvPicPr>
        <p:blipFill>
          <a:blip r:embed="rId1"/>
          <a:stretch>
            <a:fillRect/>
          </a:stretch>
        </p:blipFill>
        <p:spPr>
          <a:xfrm>
            <a:off x="566928" y="1600200"/>
            <a:ext cx="3576218" cy="1782304"/>
          </a:xfrm>
          <a:prstGeom prst="rect">
            <a:avLst/>
          </a:prstGeom>
        </p:spPr>
      </p:pic>
      <p:sp>
        <p:nvSpPr>
          <p:cNvPr id="6" name="Text 3"/>
          <p:cNvSpPr/>
          <p:nvPr/>
        </p:nvSpPr>
        <p:spPr>
          <a:xfrm>
            <a:off x="566928" y="3437368"/>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Stage III — lymphostatic elephantiasis</a:t>
            </a:r>
            <a:endParaRPr lang="en-US" sz="950" dirty="0"/>
          </a:p>
        </p:txBody>
      </p:sp>
      <p:pic>
        <p:nvPicPr>
          <p:cNvPr id="7" name="Image 1" descr="/home/claude/build/assets/photos/stage3_skin.jpg">    </p:cNvPr>
          <p:cNvPicPr>
            <a:picLocks noChangeAspect="1"/>
          </p:cNvPicPr>
          <p:nvPr/>
        </p:nvPicPr>
        <p:blipFill>
          <a:blip r:embed="rId2"/>
          <a:stretch>
            <a:fillRect/>
          </a:stretch>
        </p:blipFill>
        <p:spPr>
          <a:xfrm>
            <a:off x="5063426" y="1600200"/>
            <a:ext cx="2064844" cy="4233672"/>
          </a:xfrm>
          <a:prstGeom prst="rect">
            <a:avLst/>
          </a:prstGeom>
        </p:spPr>
      </p:pic>
      <p:sp>
        <p:nvSpPr>
          <p:cNvPr id="8" name="Text 4"/>
          <p:cNvSpPr/>
          <p:nvPr/>
        </p:nvSpPr>
        <p:spPr>
          <a:xfrm>
            <a:off x="4307738" y="5888736"/>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Stage III skin changes with lymphorrhea</a:t>
            </a:r>
            <a:endParaRPr lang="en-US" sz="950" dirty="0"/>
          </a:p>
        </p:txBody>
      </p:sp>
      <p:pic>
        <p:nvPicPr>
          <p:cNvPr id="9" name="Image 2" descr="/home/claude/build/assets/photos/tbtw_severe_foot.jpg">    </p:cNvPr>
          <p:cNvPicPr>
            <a:picLocks noChangeAspect="1"/>
          </p:cNvPicPr>
          <p:nvPr/>
        </p:nvPicPr>
        <p:blipFill>
          <a:blip r:embed="rId3"/>
          <a:stretch>
            <a:fillRect/>
          </a:stretch>
        </p:blipFill>
        <p:spPr>
          <a:xfrm>
            <a:off x="8048549" y="1600200"/>
            <a:ext cx="3576218" cy="2643292"/>
          </a:xfrm>
          <a:prstGeom prst="rect">
            <a:avLst/>
          </a:prstGeom>
        </p:spPr>
      </p:pic>
      <p:sp>
        <p:nvSpPr>
          <p:cNvPr id="10" name="Text 5"/>
          <p:cNvSpPr/>
          <p:nvPr/>
        </p:nvSpPr>
        <p:spPr>
          <a:xfrm>
            <a:off x="8048549" y="4298356"/>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Severe foot and ankle involvement</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18</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TREATMENT</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Complete Decongestive Therapy</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CDT is the internationally accepted standard of care. It has four components, delivered in two phases.</a:t>
            </a:r>
            <a:endParaRPr lang="en-US" sz="1650" dirty="0"/>
          </a:p>
        </p:txBody>
      </p:sp>
      <p:pic>
        <p:nvPicPr>
          <p:cNvPr id="6" name="Image 0" descr="/home/claude/build/assets/cdt_pillars.png">    </p:cNvPr>
          <p:cNvPicPr>
            <a:picLocks noChangeAspect="1"/>
          </p:cNvPicPr>
          <p:nvPr/>
        </p:nvPicPr>
        <p:blipFill>
          <a:blip r:embed="rId1"/>
          <a:stretch>
            <a:fillRect/>
          </a:stretch>
        </p:blipFill>
        <p:spPr>
          <a:xfrm>
            <a:off x="2040850" y="2231136"/>
            <a:ext cx="8109996" cy="3712464"/>
          </a:xfrm>
          <a:prstGeom prst="rect">
            <a:avLst/>
          </a:prstGeom>
        </p:spPr>
      </p:pic>
      <p:sp>
        <p:nvSpPr>
          <p:cNvPr id="7" name="Text 4"/>
          <p:cNvSpPr/>
          <p:nvPr/>
        </p:nvSpPr>
        <p:spPr>
          <a:xfrm>
            <a:off x="566928" y="6016752"/>
            <a:ext cx="11057839" cy="502920"/>
          </a:xfrm>
          <a:prstGeom prst="rect">
            <a:avLst/>
          </a:prstGeom>
          <a:noFill/>
          <a:ln/>
        </p:spPr>
        <p:txBody>
          <a:bodyPr wrap="square" lIns="0" tIns="0" rIns="0" bIns="0" rtlCol="0" anchor="t"/>
          <a:lstStyle/>
          <a:p>
            <a:pPr indent="0" marL="0">
              <a:buNone/>
            </a:pPr>
            <a:r>
              <a:rPr lang="en-US" sz="1100" i="1" dirty="0">
                <a:solidFill>
                  <a:srgbClr val="36454F"/>
                </a:solidFill>
                <a:latin typeface="Calibri" pitchFamily="34" charset="0"/>
                <a:ea typeface="Calibri" pitchFamily="34" charset="-122"/>
                <a:cs typeface="Calibri" pitchFamily="34" charset="-120"/>
              </a:rPr>
              <a:t>Phase II is where outcomes are actually won or lost. Adherence, not technique, is the usual determinant of long-term result.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19</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TREATMENT</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CDT — Two Phases</a:t>
            </a:r>
            <a:endParaRPr lang="en-US" sz="3400" dirty="0"/>
          </a:p>
        </p:txBody>
      </p:sp>
      <p:sp>
        <p:nvSpPr>
          <p:cNvPr id="5" name="Shape 3"/>
          <p:cNvSpPr/>
          <p:nvPr/>
        </p:nvSpPr>
        <p:spPr>
          <a:xfrm>
            <a:off x="566928" y="1645920"/>
            <a:ext cx="5391760" cy="4343400"/>
          </a:xfrm>
          <a:prstGeom prst="roundRect">
            <a:avLst>
              <a:gd name="adj" fmla="val 1895"/>
            </a:avLst>
          </a:prstGeom>
          <a:solidFill>
            <a:srgbClr val="FFFFFF"/>
          </a:solidFill>
          <a:ln w="12700">
            <a:solidFill>
              <a:srgbClr val="DCE6E8"/>
            </a:solidFill>
            <a:prstDash val="solid"/>
          </a:ln>
        </p:spPr>
      </p:sp>
      <p:sp>
        <p:nvSpPr>
          <p:cNvPr id="6" name="Text 4"/>
          <p:cNvSpPr/>
          <p:nvPr/>
        </p:nvSpPr>
        <p:spPr>
          <a:xfrm>
            <a:off x="841248" y="1847088"/>
            <a:ext cx="4843120" cy="365760"/>
          </a:xfrm>
          <a:prstGeom prst="rect">
            <a:avLst/>
          </a:prstGeom>
          <a:noFill/>
          <a:ln/>
        </p:spPr>
        <p:txBody>
          <a:bodyPr wrap="square" lIns="0" tIns="0" rIns="0" bIns="0" rtlCol="0" anchor="ctr"/>
          <a:lstStyle/>
          <a:p>
            <a:pPr indent="0" marL="0">
              <a:buNone/>
            </a:pPr>
            <a:r>
              <a:rPr lang="en-US" sz="1600" b="1" dirty="0">
                <a:solidFill>
                  <a:srgbClr val="025462"/>
                </a:solidFill>
                <a:latin typeface="Calibri" pitchFamily="34" charset="0"/>
                <a:ea typeface="Calibri" pitchFamily="34" charset="-122"/>
                <a:cs typeface="Calibri" pitchFamily="34" charset="-120"/>
              </a:rPr>
              <a:t>Phase I — Intensive / Reductive</a:t>
            </a:r>
            <a:endParaRPr lang="en-US" sz="1600" dirty="0"/>
          </a:p>
        </p:txBody>
      </p:sp>
      <p:sp>
        <p:nvSpPr>
          <p:cNvPr id="7" name="Text 5"/>
          <p:cNvSpPr/>
          <p:nvPr/>
        </p:nvSpPr>
        <p:spPr>
          <a:xfrm>
            <a:off x="841248" y="2331720"/>
            <a:ext cx="4843120" cy="356616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1B2A30"/>
                </a:solidFill>
                <a:latin typeface="Calibri" pitchFamily="34" charset="0"/>
                <a:ea typeface="Calibri" pitchFamily="34" charset="-122"/>
                <a:cs typeface="Calibri" pitchFamily="34" charset="-120"/>
              </a:rPr>
              <a:t>Typically 3–6 weeks, treatment 4–5x/week, sessions 1–2 hours</a:t>
            </a:r>
            <a:endParaRPr lang="en-US" sz="1300" dirty="0"/>
          </a:p>
          <a:p>
            <a:pPr marL="190500" indent="-190500">
              <a:spcAft>
                <a:spcPts val="600"/>
              </a:spcAft>
              <a:buSzPct val="100000"/>
              <a:buChar char="•"/>
            </a:pPr>
            <a:r>
              <a:rPr lang="en-US" sz="1300" dirty="0">
                <a:solidFill>
                  <a:srgbClr val="1B2A30"/>
                </a:solidFill>
                <a:latin typeface="Calibri" pitchFamily="34" charset="0"/>
                <a:ea typeface="Calibri" pitchFamily="34" charset="-122"/>
                <a:cs typeface="Calibri" pitchFamily="34" charset="-120"/>
              </a:rPr>
              <a:t>MLD, multilayer short-stretch bandaging worn 23 hours/day, exercise, skin care</a:t>
            </a:r>
            <a:endParaRPr lang="en-US" sz="1300" dirty="0"/>
          </a:p>
          <a:p>
            <a:pPr marL="190500" indent="-190500">
              <a:spcAft>
                <a:spcPts val="600"/>
              </a:spcAft>
              <a:buSzPct val="100000"/>
              <a:buChar char="•"/>
            </a:pPr>
            <a:r>
              <a:rPr lang="en-US" sz="1300" dirty="0">
                <a:solidFill>
                  <a:srgbClr val="1B2A30"/>
                </a:solidFill>
                <a:latin typeface="Calibri" pitchFamily="34" charset="0"/>
                <a:ea typeface="Calibri" pitchFamily="34" charset="-122"/>
                <a:cs typeface="Calibri" pitchFamily="34" charset="-120"/>
              </a:rPr>
              <a:t>Re-measure at every visit</a:t>
            </a:r>
            <a:endParaRPr lang="en-US" sz="1300" dirty="0"/>
          </a:p>
          <a:p>
            <a:pPr marL="190500" indent="-190500">
              <a:spcAft>
                <a:spcPts val="600"/>
              </a:spcAft>
              <a:buSzPct val="100000"/>
              <a:buChar char="•"/>
            </a:pPr>
            <a:r>
              <a:rPr lang="en-US" sz="1300" dirty="0">
                <a:solidFill>
                  <a:srgbClr val="1B2A30"/>
                </a:solidFill>
                <a:latin typeface="Calibri" pitchFamily="34" charset="0"/>
                <a:ea typeface="Calibri" pitchFamily="34" charset="-122"/>
                <a:cs typeface="Calibri" pitchFamily="34" charset="-120"/>
              </a:rPr>
              <a:t>Ends when volume plateaus across consecutive sessions</a:t>
            </a:r>
            <a:endParaRPr lang="en-US" sz="1300" dirty="0"/>
          </a:p>
        </p:txBody>
      </p:sp>
      <p:sp>
        <p:nvSpPr>
          <p:cNvPr id="8" name="Shape 6"/>
          <p:cNvSpPr/>
          <p:nvPr/>
        </p:nvSpPr>
        <p:spPr>
          <a:xfrm>
            <a:off x="6233008" y="1645920"/>
            <a:ext cx="5391760" cy="4343400"/>
          </a:xfrm>
          <a:prstGeom prst="roundRect">
            <a:avLst>
              <a:gd name="adj" fmla="val 1895"/>
            </a:avLst>
          </a:prstGeom>
          <a:solidFill>
            <a:srgbClr val="FFFFFF"/>
          </a:solidFill>
          <a:ln w="12700">
            <a:solidFill>
              <a:srgbClr val="DCE6E8"/>
            </a:solidFill>
            <a:prstDash val="solid"/>
          </a:ln>
        </p:spPr>
      </p:sp>
      <p:sp>
        <p:nvSpPr>
          <p:cNvPr id="9" name="Text 7"/>
          <p:cNvSpPr/>
          <p:nvPr/>
        </p:nvSpPr>
        <p:spPr>
          <a:xfrm>
            <a:off x="6507328" y="1847088"/>
            <a:ext cx="4843120" cy="365760"/>
          </a:xfrm>
          <a:prstGeom prst="rect">
            <a:avLst/>
          </a:prstGeom>
          <a:noFill/>
          <a:ln/>
        </p:spPr>
        <p:txBody>
          <a:bodyPr wrap="square" lIns="0" tIns="0" rIns="0" bIns="0" rtlCol="0" anchor="ctr"/>
          <a:lstStyle/>
          <a:p>
            <a:pPr indent="0" marL="0">
              <a:buNone/>
            </a:pPr>
            <a:r>
              <a:rPr lang="en-US" sz="1600" b="1" dirty="0">
                <a:solidFill>
                  <a:srgbClr val="025462"/>
                </a:solidFill>
                <a:latin typeface="Calibri" pitchFamily="34" charset="0"/>
                <a:ea typeface="Calibri" pitchFamily="34" charset="-122"/>
                <a:cs typeface="Calibri" pitchFamily="34" charset="-120"/>
              </a:rPr>
              <a:t>Phase II — Maintenance / Self-Management</a:t>
            </a:r>
            <a:endParaRPr lang="en-US" sz="1600" dirty="0"/>
          </a:p>
        </p:txBody>
      </p:sp>
      <p:sp>
        <p:nvSpPr>
          <p:cNvPr id="10" name="Text 8"/>
          <p:cNvSpPr/>
          <p:nvPr/>
        </p:nvSpPr>
        <p:spPr>
          <a:xfrm>
            <a:off x="6507328" y="2331720"/>
            <a:ext cx="4843120" cy="356616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1B2A30"/>
                </a:solidFill>
                <a:latin typeface="Calibri" pitchFamily="34" charset="0"/>
                <a:ea typeface="Calibri" pitchFamily="34" charset="-122"/>
                <a:cs typeface="Calibri" pitchFamily="34" charset="-120"/>
              </a:rPr>
              <a:t>Fitted compression garment during the day; night garment or bandaging as needed</a:t>
            </a:r>
            <a:endParaRPr lang="en-US" sz="1300" dirty="0"/>
          </a:p>
          <a:p>
            <a:pPr marL="190500" indent="-190500">
              <a:spcAft>
                <a:spcPts val="600"/>
              </a:spcAft>
              <a:buSzPct val="100000"/>
              <a:buChar char="•"/>
            </a:pPr>
            <a:r>
              <a:rPr lang="en-US" sz="1300" dirty="0">
                <a:solidFill>
                  <a:srgbClr val="1B2A30"/>
                </a:solidFill>
                <a:latin typeface="Calibri" pitchFamily="34" charset="0"/>
                <a:ea typeface="Calibri" pitchFamily="34" charset="-122"/>
                <a:cs typeface="Calibri" pitchFamily="34" charset="-120"/>
              </a:rPr>
              <a:t>Self-MLD and home exercise program</a:t>
            </a:r>
            <a:endParaRPr lang="en-US" sz="1300" dirty="0"/>
          </a:p>
          <a:p>
            <a:pPr marL="190500" indent="-190500">
              <a:spcAft>
                <a:spcPts val="600"/>
              </a:spcAft>
              <a:buSzPct val="100000"/>
              <a:buChar char="•"/>
            </a:pPr>
            <a:r>
              <a:rPr lang="en-US" sz="1300" dirty="0">
                <a:solidFill>
                  <a:srgbClr val="1B2A30"/>
                </a:solidFill>
                <a:latin typeface="Calibri" pitchFamily="34" charset="0"/>
                <a:ea typeface="Calibri" pitchFamily="34" charset="-122"/>
                <a:cs typeface="Calibri" pitchFamily="34" charset="-120"/>
              </a:rPr>
              <a:t>Daily skin care and self-inspection</a:t>
            </a:r>
            <a:endParaRPr lang="en-US" sz="1300" dirty="0"/>
          </a:p>
          <a:p>
            <a:pPr marL="190500" indent="-190500">
              <a:spcAft>
                <a:spcPts val="600"/>
              </a:spcAft>
              <a:buSzPct val="100000"/>
              <a:buChar char="•"/>
            </a:pPr>
            <a:r>
              <a:rPr lang="en-US" sz="1300" dirty="0">
                <a:solidFill>
                  <a:srgbClr val="1B2A30"/>
                </a:solidFill>
                <a:latin typeface="Calibri" pitchFamily="34" charset="0"/>
                <a:ea typeface="Calibri" pitchFamily="34" charset="-122"/>
                <a:cs typeface="Calibri" pitchFamily="34" charset="-120"/>
              </a:rPr>
              <a:t>Ongoing surveillance; garments replaced every 4–6 months</a:t>
            </a:r>
            <a:endParaRPr lang="en-US" sz="1300" dirty="0"/>
          </a:p>
          <a:p>
            <a:pPr marL="190500" indent="-190500">
              <a:spcAft>
                <a:spcPts val="600"/>
              </a:spcAft>
              <a:buSzPct val="100000"/>
              <a:buChar char="•"/>
            </a:pPr>
            <a:r>
              <a:rPr lang="en-US" sz="1300" dirty="0">
                <a:solidFill>
                  <a:srgbClr val="1B2A30"/>
                </a:solidFill>
                <a:latin typeface="Calibri" pitchFamily="34" charset="0"/>
                <a:ea typeface="Calibri" pitchFamily="34" charset="-122"/>
                <a:cs typeface="Calibri" pitchFamily="34" charset="-120"/>
              </a:rPr>
              <a:t>Return for a short intensive phase if the limb regresses</a:t>
            </a:r>
            <a:endParaRPr lang="en-US" sz="1300" dirty="0"/>
          </a:p>
        </p:txBody>
      </p:sp>
      <p:sp>
        <p:nvSpPr>
          <p:cNvPr id="11" name="Text 9"/>
          <p:cNvSpPr/>
          <p:nvPr/>
        </p:nvSpPr>
        <p:spPr>
          <a:xfrm>
            <a:off x="566928" y="6080760"/>
            <a:ext cx="11057839" cy="457200"/>
          </a:xfrm>
          <a:prstGeom prst="rect">
            <a:avLst/>
          </a:prstGeom>
          <a:noFill/>
          <a:ln/>
        </p:spPr>
        <p:txBody>
          <a:bodyPr wrap="square" lIns="0" tIns="0" rIns="0" bIns="0" rtlCol="0" anchor="t"/>
          <a:lstStyle/>
          <a:p>
            <a:pPr indent="0" marL="0">
              <a:buNone/>
            </a:pPr>
            <a:r>
              <a:rPr lang="en-US" sz="1200" i="1" dirty="0">
                <a:solidFill>
                  <a:srgbClr val="36454F"/>
                </a:solidFill>
                <a:latin typeface="Calibri" pitchFamily="34" charset="0"/>
                <a:ea typeface="Calibri" pitchFamily="34" charset="-122"/>
                <a:cs typeface="Calibri" pitchFamily="34" charset="-120"/>
              </a:rPr>
              <a:t>Phase II is where outcomes are actually won or lost. Adherence, not technique, is the usual determinant of long-term result.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20</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TREATMENT · CDT 1 OF 4</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Skin &amp; Nail Care</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A lymphedematous limb is immunocompromised tissue. The skin is the last barrier, and every infection causes further lymphatic damage.</a:t>
            </a:r>
            <a:endParaRPr lang="en-US" sz="1650" dirty="0"/>
          </a:p>
        </p:txBody>
      </p:sp>
      <p:sp>
        <p:nvSpPr>
          <p:cNvPr id="6" name="Shape 4"/>
          <p:cNvSpPr/>
          <p:nvPr/>
        </p:nvSpPr>
        <p:spPr>
          <a:xfrm>
            <a:off x="566928" y="2521712"/>
            <a:ext cx="3551834" cy="3478784"/>
          </a:xfrm>
          <a:prstGeom prst="roundRect">
            <a:avLst>
              <a:gd name="adj" fmla="val 2366"/>
            </a:avLst>
          </a:prstGeom>
          <a:solidFill>
            <a:srgbClr val="FFFFFF"/>
          </a:solidFill>
          <a:ln w="12700">
            <a:solidFill>
              <a:srgbClr val="DCE6E8"/>
            </a:solidFill>
            <a:prstDash val="solid"/>
          </a:ln>
        </p:spPr>
      </p:sp>
      <p:sp>
        <p:nvSpPr>
          <p:cNvPr id="7" name="Text 5"/>
          <p:cNvSpPr/>
          <p:nvPr/>
        </p:nvSpPr>
        <p:spPr>
          <a:xfrm>
            <a:off x="786384" y="2649728"/>
            <a:ext cx="3112922" cy="292608"/>
          </a:xfrm>
          <a:prstGeom prst="rect">
            <a:avLst/>
          </a:prstGeom>
          <a:noFill/>
          <a:ln/>
        </p:spPr>
        <p:txBody>
          <a:bodyPr wrap="square" lIns="0" tIns="0" rIns="0" bIns="0" rtlCol="0" anchor="ctr"/>
          <a:lstStyle/>
          <a:p>
            <a:pPr indent="0" marL="0">
              <a:buNone/>
            </a:pPr>
            <a:r>
              <a:rPr lang="en-US" sz="1550" b="1" dirty="0">
                <a:solidFill>
                  <a:srgbClr val="025462"/>
                </a:solidFill>
                <a:latin typeface="Calibri" pitchFamily="34" charset="0"/>
                <a:ea typeface="Calibri" pitchFamily="34" charset="-122"/>
                <a:cs typeface="Calibri" pitchFamily="34" charset="-120"/>
              </a:rPr>
              <a:t>Daily routine</a:t>
            </a:r>
            <a:endParaRPr lang="en-US" sz="1550" dirty="0"/>
          </a:p>
        </p:txBody>
      </p:sp>
      <p:sp>
        <p:nvSpPr>
          <p:cNvPr id="8" name="Text 6"/>
          <p:cNvSpPr/>
          <p:nvPr/>
        </p:nvSpPr>
        <p:spPr>
          <a:xfrm>
            <a:off x="786384" y="3015488"/>
            <a:ext cx="3112922" cy="2820416"/>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Wash with low-pH, fragrance-free cleanser — lymphedematous skin is alkaline-shifted</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Dry thoroughly, especially between the toes and in skin folds</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Apply low-pH emollient to keep the barrier intact</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Inspect the entire limb daily, including between digits and the posterior surface</a:t>
            </a:r>
            <a:endParaRPr lang="en-US" sz="1400" dirty="0"/>
          </a:p>
        </p:txBody>
      </p:sp>
      <p:sp>
        <p:nvSpPr>
          <p:cNvPr id="9" name="Shape 7"/>
          <p:cNvSpPr/>
          <p:nvPr/>
        </p:nvSpPr>
        <p:spPr>
          <a:xfrm>
            <a:off x="4319930" y="2521712"/>
            <a:ext cx="3551834" cy="3478784"/>
          </a:xfrm>
          <a:prstGeom prst="roundRect">
            <a:avLst>
              <a:gd name="adj" fmla="val 2366"/>
            </a:avLst>
          </a:prstGeom>
          <a:solidFill>
            <a:srgbClr val="FFFFFF"/>
          </a:solidFill>
          <a:ln w="12700">
            <a:solidFill>
              <a:srgbClr val="DCE6E8"/>
            </a:solidFill>
            <a:prstDash val="solid"/>
          </a:ln>
        </p:spPr>
      </p:sp>
      <p:sp>
        <p:nvSpPr>
          <p:cNvPr id="10" name="Text 8"/>
          <p:cNvSpPr/>
          <p:nvPr/>
        </p:nvSpPr>
        <p:spPr>
          <a:xfrm>
            <a:off x="4539386" y="2649728"/>
            <a:ext cx="3112922" cy="292608"/>
          </a:xfrm>
          <a:prstGeom prst="rect">
            <a:avLst/>
          </a:prstGeom>
          <a:noFill/>
          <a:ln/>
        </p:spPr>
        <p:txBody>
          <a:bodyPr wrap="square" lIns="0" tIns="0" rIns="0" bIns="0" rtlCol="0" anchor="ctr"/>
          <a:lstStyle/>
          <a:p>
            <a:pPr indent="0" marL="0">
              <a:buNone/>
            </a:pPr>
            <a:r>
              <a:rPr lang="en-US" sz="1550" b="1" dirty="0">
                <a:solidFill>
                  <a:srgbClr val="025462"/>
                </a:solidFill>
                <a:latin typeface="Calibri" pitchFamily="34" charset="0"/>
                <a:ea typeface="Calibri" pitchFamily="34" charset="-122"/>
                <a:cs typeface="Calibri" pitchFamily="34" charset="-120"/>
              </a:rPr>
              <a:t>Prevention</a:t>
            </a:r>
            <a:endParaRPr lang="en-US" sz="1550" dirty="0"/>
          </a:p>
        </p:txBody>
      </p:sp>
      <p:sp>
        <p:nvSpPr>
          <p:cNvPr id="11" name="Text 9"/>
          <p:cNvSpPr/>
          <p:nvPr/>
        </p:nvSpPr>
        <p:spPr>
          <a:xfrm>
            <a:off x="4539386" y="3015488"/>
            <a:ext cx="3112922" cy="2820416"/>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Treat tinea pedis and onychomycosis aggressively — a common cellulitis entry point</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Nails cut straight across; avoid cutting cuticles</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Avoid blood draws, IVs, and BP cuffs on the at-risk limb where an alternative exists</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Protect during gardening, cooking, pet handling; gloves and insect repellent</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Prompt antiseptic care for any break in the skin</a:t>
            </a:r>
            <a:endParaRPr lang="en-US" sz="1400" dirty="0"/>
          </a:p>
        </p:txBody>
      </p:sp>
      <p:sp>
        <p:nvSpPr>
          <p:cNvPr id="12" name="Shape 10"/>
          <p:cNvSpPr/>
          <p:nvPr/>
        </p:nvSpPr>
        <p:spPr>
          <a:xfrm>
            <a:off x="8072933" y="2521712"/>
            <a:ext cx="3551834" cy="3478784"/>
          </a:xfrm>
          <a:prstGeom prst="roundRect">
            <a:avLst>
              <a:gd name="adj" fmla="val 2366"/>
            </a:avLst>
          </a:prstGeom>
          <a:solidFill>
            <a:srgbClr val="FFFFFF"/>
          </a:solidFill>
          <a:ln w="12700">
            <a:solidFill>
              <a:srgbClr val="DCE6E8"/>
            </a:solidFill>
            <a:prstDash val="solid"/>
          </a:ln>
        </p:spPr>
      </p:sp>
      <p:sp>
        <p:nvSpPr>
          <p:cNvPr id="13" name="Text 11"/>
          <p:cNvSpPr/>
          <p:nvPr/>
        </p:nvSpPr>
        <p:spPr>
          <a:xfrm>
            <a:off x="8292389" y="2649728"/>
            <a:ext cx="3112922" cy="292608"/>
          </a:xfrm>
          <a:prstGeom prst="rect">
            <a:avLst/>
          </a:prstGeom>
          <a:noFill/>
          <a:ln/>
        </p:spPr>
        <p:txBody>
          <a:bodyPr wrap="square" lIns="0" tIns="0" rIns="0" bIns="0" rtlCol="0" anchor="ctr"/>
          <a:lstStyle/>
          <a:p>
            <a:pPr indent="0" marL="0">
              <a:buNone/>
            </a:pPr>
            <a:r>
              <a:rPr lang="en-US" sz="1550" b="1" dirty="0">
                <a:solidFill>
                  <a:srgbClr val="025462"/>
                </a:solidFill>
                <a:latin typeface="Calibri" pitchFamily="34" charset="0"/>
                <a:ea typeface="Calibri" pitchFamily="34" charset="-122"/>
                <a:cs typeface="Calibri" pitchFamily="34" charset="-120"/>
              </a:rPr>
              <a:t>Teach the patient to recognize cellulitis</a:t>
            </a:r>
            <a:endParaRPr lang="en-US" sz="1550" dirty="0"/>
          </a:p>
        </p:txBody>
      </p:sp>
      <p:sp>
        <p:nvSpPr>
          <p:cNvPr id="14" name="Text 12"/>
          <p:cNvSpPr/>
          <p:nvPr/>
        </p:nvSpPr>
        <p:spPr>
          <a:xfrm>
            <a:off x="8292389" y="3015488"/>
            <a:ext cx="3112922" cy="2820416"/>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Spreading redness, heat, tenderness, sudden limb enlargement</a:t>
            </a: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Fever, chills, malaise, flu-like onset</a:t>
            </a:r>
            <a:endParaRPr lang="en-US" sz="1400" dirty="0"/>
          </a:p>
          <a:p>
            <a:pPr marL="190500" indent="-190500">
              <a:spcAft>
                <a:spcPts val="600"/>
              </a:spcAft>
              <a:buSzPct val="100000"/>
              <a:buChar char="•"/>
            </a:pPr>
            <a:r>
              <a:rPr lang="en-US" sz="1400" b="1" dirty="0">
                <a:solidFill>
                  <a:srgbClr val="1B2A30"/>
                </a:solidFill>
                <a:latin typeface="Calibri" pitchFamily="34" charset="0"/>
                <a:ea typeface="Calibri" pitchFamily="34" charset="-122"/>
                <a:cs typeface="Calibri" pitchFamily="34" charset="-120"/>
              </a:rPr>
              <a:t>Seek care same-day. Stop MLD and compression until treated.</a:t>
            </a:r>
            <a:pPr indent="0" marL="0">
              <a:spcAft>
                <a:spcPts val="600"/>
              </a:spcAft>
              <a:buNone/>
            </a:pPr>
            <a:endParaRPr lang="en-US" sz="1400" dirty="0"/>
          </a:p>
          <a:p>
            <a:pPr marL="190500" indent="-190500">
              <a:spcAft>
                <a:spcPts val="600"/>
              </a:spcAft>
              <a:buSzPct val="100000"/>
              <a:buChar char="•"/>
            </a:pPr>
            <a:r>
              <a:rPr lang="en-US" sz="1400" dirty="0">
                <a:solidFill>
                  <a:srgbClr val="1B2A30"/>
                </a:solidFill>
                <a:latin typeface="Calibri" pitchFamily="34" charset="0"/>
                <a:ea typeface="Calibri" pitchFamily="34" charset="-122"/>
                <a:cs typeface="Calibri" pitchFamily="34" charset="-120"/>
              </a:rPr>
              <a:t>Recurrent cellulitis may warrant prophylactic antibiotics — physician decision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21</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TREATMENT · CDT 1 OF 4</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Skin Breakdown — What to Watch For</a:t>
            </a:r>
            <a:endParaRPr lang="en-US" sz="3400" dirty="0"/>
          </a:p>
        </p:txBody>
      </p:sp>
      <p:pic>
        <p:nvPicPr>
          <p:cNvPr id="5" name="Image 0" descr="/home/claude/build/assets/photos/tbtw_skin_changes.jpg">    </p:cNvPr>
          <p:cNvPicPr>
            <a:picLocks noChangeAspect="1"/>
          </p:cNvPicPr>
          <p:nvPr/>
        </p:nvPicPr>
        <p:blipFill>
          <a:blip r:embed="rId1"/>
          <a:stretch>
            <a:fillRect/>
          </a:stretch>
        </p:blipFill>
        <p:spPr>
          <a:xfrm>
            <a:off x="566928" y="1600200"/>
            <a:ext cx="5446624" cy="4025765"/>
          </a:xfrm>
          <a:prstGeom prst="rect">
            <a:avLst/>
          </a:prstGeom>
        </p:spPr>
      </p:pic>
      <p:sp>
        <p:nvSpPr>
          <p:cNvPr id="6" name="Text 3"/>
          <p:cNvSpPr/>
          <p:nvPr/>
        </p:nvSpPr>
        <p:spPr>
          <a:xfrm>
            <a:off x="566928" y="5680829"/>
            <a:ext cx="5446624"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Crusting and weeping at the ankle</a:t>
            </a:r>
            <a:endParaRPr lang="en-US" sz="950" dirty="0"/>
          </a:p>
        </p:txBody>
      </p:sp>
      <p:pic>
        <p:nvPicPr>
          <p:cNvPr id="7" name="Image 1" descr="/home/claude/build/assets/photos/tbtw_lymphorrhea.jpg">    </p:cNvPr>
          <p:cNvPicPr>
            <a:picLocks noChangeAspect="1"/>
          </p:cNvPicPr>
          <p:nvPr/>
        </p:nvPicPr>
        <p:blipFill>
          <a:blip r:embed="rId2"/>
          <a:stretch>
            <a:fillRect/>
          </a:stretch>
        </p:blipFill>
        <p:spPr>
          <a:xfrm>
            <a:off x="6178144" y="1600200"/>
            <a:ext cx="5446624" cy="4025765"/>
          </a:xfrm>
          <a:prstGeom prst="rect">
            <a:avLst/>
          </a:prstGeom>
        </p:spPr>
      </p:pic>
      <p:sp>
        <p:nvSpPr>
          <p:cNvPr id="8" name="Text 4"/>
          <p:cNvSpPr/>
          <p:nvPr/>
        </p:nvSpPr>
        <p:spPr>
          <a:xfrm>
            <a:off x="6178144" y="5680829"/>
            <a:ext cx="5446624"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Lymphorrhea and crusting, lower leg</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22</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TREATMENT · CDT 2 OF 4</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Manual Lymphatic Drainage</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A specific, very light manual technique that stimulates lymphangion contraction and redirects lymph across watersheds into functioning territories.</a:t>
            </a:r>
            <a:endParaRPr lang="en-US" sz="1650" dirty="0"/>
          </a:p>
        </p:txBody>
      </p:sp>
      <p:pic>
        <p:nvPicPr>
          <p:cNvPr id="6" name="Image 0" descr="/home/claude/build/assets/mld_flow.png">    </p:cNvPr>
          <p:cNvPicPr>
            <a:picLocks noChangeAspect="1"/>
          </p:cNvPicPr>
          <p:nvPr/>
        </p:nvPicPr>
        <p:blipFill>
          <a:blip r:embed="rId1"/>
          <a:stretch>
            <a:fillRect/>
          </a:stretch>
        </p:blipFill>
        <p:spPr>
          <a:xfrm>
            <a:off x="6732727" y="2895893"/>
            <a:ext cx="4892040" cy="2145205"/>
          </a:xfrm>
          <a:prstGeom prst="rect">
            <a:avLst/>
          </a:prstGeom>
        </p:spPr>
      </p:pic>
      <p:sp>
        <p:nvSpPr>
          <p:cNvPr id="7" name="Shape 4"/>
          <p:cNvSpPr/>
          <p:nvPr/>
        </p:nvSpPr>
        <p:spPr>
          <a:xfrm>
            <a:off x="566928" y="2231136"/>
            <a:ext cx="5754319" cy="1938528"/>
          </a:xfrm>
          <a:prstGeom prst="roundRect">
            <a:avLst>
              <a:gd name="adj" fmla="val 4245"/>
            </a:avLst>
          </a:prstGeom>
          <a:solidFill>
            <a:srgbClr val="FFFFFF"/>
          </a:solidFill>
          <a:ln w="12700">
            <a:solidFill>
              <a:srgbClr val="DCE6E8"/>
            </a:solidFill>
            <a:prstDash val="solid"/>
          </a:ln>
        </p:spPr>
      </p:sp>
      <p:sp>
        <p:nvSpPr>
          <p:cNvPr id="8" name="Text 5"/>
          <p:cNvSpPr/>
          <p:nvPr/>
        </p:nvSpPr>
        <p:spPr>
          <a:xfrm>
            <a:off x="822960" y="2359152"/>
            <a:ext cx="5242255" cy="274320"/>
          </a:xfrm>
          <a:prstGeom prst="rect">
            <a:avLst/>
          </a:prstGeom>
          <a:noFill/>
          <a:ln/>
        </p:spPr>
        <p:txBody>
          <a:bodyPr wrap="square" lIns="0" tIns="0" rIns="0" bIns="0" rtlCol="0" anchor="ctr"/>
          <a:lstStyle/>
          <a:p>
            <a:pPr indent="0" marL="0">
              <a:buNone/>
            </a:pPr>
            <a:r>
              <a:rPr lang="en-US" sz="1500" b="1" dirty="0">
                <a:solidFill>
                  <a:srgbClr val="025462"/>
                </a:solidFill>
                <a:latin typeface="Calibri" pitchFamily="34" charset="0"/>
                <a:ea typeface="Calibri" pitchFamily="34" charset="-122"/>
                <a:cs typeface="Calibri" pitchFamily="34" charset="-120"/>
              </a:rPr>
              <a:t>Technique principles</a:t>
            </a:r>
            <a:endParaRPr lang="en-US" sz="1500" dirty="0"/>
          </a:p>
        </p:txBody>
      </p:sp>
      <p:sp>
        <p:nvSpPr>
          <p:cNvPr id="9" name="Text 6"/>
          <p:cNvSpPr/>
          <p:nvPr/>
        </p:nvSpPr>
        <p:spPr>
          <a:xfrm>
            <a:off x="822960" y="2706624"/>
            <a:ext cx="5242255" cy="1298448"/>
          </a:xfrm>
          <a:prstGeom prst="rect">
            <a:avLst/>
          </a:prstGeom>
          <a:noFill/>
          <a:ln/>
        </p:spPr>
        <p:txBody>
          <a:bodyPr wrap="square" lIns="0" tIns="0" rIns="0" bIns="0" rtlCol="0" anchor="t"/>
          <a:lstStyle/>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Very light pressure</a:t>
            </a:r>
            <a:pPr indent="0" marL="0">
              <a:spcAft>
                <a:spcPts val="600"/>
              </a:spcAft>
              <a:buNone/>
            </a:pPr>
            <a:r>
              <a:rPr lang="en-US" sz="1350" dirty="0">
                <a:solidFill>
                  <a:srgbClr val="1B2A30"/>
                </a:solidFill>
                <a:latin typeface="Calibri" pitchFamily="34" charset="0"/>
                <a:ea typeface="Calibri" pitchFamily="34" charset="-122"/>
                <a:cs typeface="Calibri" pitchFamily="34" charset="-120"/>
              </a:rPr>
              <a:t> — skin stretch only</a:t>
            </a:r>
            <a:endParaRPr lang="en-US" sz="1350" dirty="0"/>
          </a:p>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~1 stroke/second</a:t>
            </a:r>
            <a:pPr indent="0" marL="0">
              <a:spcAft>
                <a:spcPts val="600"/>
              </a:spcAft>
              <a:buNone/>
            </a:pPr>
            <a:r>
              <a:rPr lang="en-US" sz="1350" dirty="0">
                <a:solidFill>
                  <a:srgbClr val="1B2A30"/>
                </a:solidFill>
                <a:latin typeface="Calibri" pitchFamily="34" charset="0"/>
                <a:ea typeface="Calibri" pitchFamily="34" charset="-122"/>
                <a:cs typeface="Calibri" pitchFamily="34" charset="-120"/>
              </a:rPr>
              <a:t> — matches lymphangion rate</a:t>
            </a:r>
            <a:endParaRPr lang="en-US" sz="1350" dirty="0"/>
          </a:p>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Clear proximal before distal</a:t>
            </a:r>
            <a:pPr indent="0" marL="0">
              <a:spcAft>
                <a:spcPts val="600"/>
              </a:spcAft>
              <a:buNone/>
            </a:pPr>
            <a:endParaRPr lang="en-US" sz="1350" dirty="0"/>
          </a:p>
          <a:p>
            <a:pPr marL="190500" indent="-190500">
              <a:spcAft>
                <a:spcPts val="600"/>
              </a:spcAft>
              <a:buSzPct val="100000"/>
              <a:buChar char="•"/>
            </a:pPr>
            <a:r>
              <a:rPr lang="en-US" sz="1350" dirty="0">
                <a:solidFill>
                  <a:srgbClr val="1B2A30"/>
                </a:solidFill>
                <a:latin typeface="Calibri" pitchFamily="34" charset="0"/>
                <a:ea typeface="Calibri" pitchFamily="34" charset="-122"/>
                <a:cs typeface="Calibri" pitchFamily="34" charset="-120"/>
              </a:rPr>
              <a:t>Skin moves with the hand — no lubricant, no gliding</a:t>
            </a:r>
            <a:endParaRPr lang="en-US" sz="1350" dirty="0"/>
          </a:p>
        </p:txBody>
      </p:sp>
      <p:sp>
        <p:nvSpPr>
          <p:cNvPr id="10" name="Shape 7"/>
          <p:cNvSpPr/>
          <p:nvPr/>
        </p:nvSpPr>
        <p:spPr>
          <a:xfrm>
            <a:off x="566928" y="4334256"/>
            <a:ext cx="5754319" cy="1938528"/>
          </a:xfrm>
          <a:prstGeom prst="roundRect">
            <a:avLst>
              <a:gd name="adj" fmla="val 4245"/>
            </a:avLst>
          </a:prstGeom>
          <a:solidFill>
            <a:srgbClr val="FFFFFF"/>
          </a:solidFill>
          <a:ln w="12700">
            <a:solidFill>
              <a:srgbClr val="DCE6E8"/>
            </a:solidFill>
            <a:prstDash val="solid"/>
          </a:ln>
        </p:spPr>
      </p:sp>
      <p:sp>
        <p:nvSpPr>
          <p:cNvPr id="11" name="Text 8"/>
          <p:cNvSpPr/>
          <p:nvPr/>
        </p:nvSpPr>
        <p:spPr>
          <a:xfrm>
            <a:off x="822960" y="4462272"/>
            <a:ext cx="5242255" cy="274320"/>
          </a:xfrm>
          <a:prstGeom prst="rect">
            <a:avLst/>
          </a:prstGeom>
          <a:noFill/>
          <a:ln/>
        </p:spPr>
        <p:txBody>
          <a:bodyPr wrap="square" lIns="0" tIns="0" rIns="0" bIns="0" rtlCol="0" anchor="ctr"/>
          <a:lstStyle/>
          <a:p>
            <a:pPr indent="0" marL="0">
              <a:buNone/>
            </a:pPr>
            <a:r>
              <a:rPr lang="en-US" sz="1500" b="1" dirty="0">
                <a:solidFill>
                  <a:srgbClr val="025462"/>
                </a:solidFill>
                <a:latin typeface="Calibri" pitchFamily="34" charset="0"/>
                <a:ea typeface="Calibri" pitchFamily="34" charset="-122"/>
                <a:cs typeface="Calibri" pitchFamily="34" charset="-120"/>
              </a:rPr>
              <a:t>Contraindications</a:t>
            </a:r>
            <a:endParaRPr lang="en-US" sz="1500" dirty="0"/>
          </a:p>
        </p:txBody>
      </p:sp>
      <p:sp>
        <p:nvSpPr>
          <p:cNvPr id="12" name="Text 9"/>
          <p:cNvSpPr/>
          <p:nvPr/>
        </p:nvSpPr>
        <p:spPr>
          <a:xfrm>
            <a:off x="822960" y="4809744"/>
            <a:ext cx="5242255" cy="1298448"/>
          </a:xfrm>
          <a:prstGeom prst="rect">
            <a:avLst/>
          </a:prstGeom>
          <a:noFill/>
          <a:ln/>
        </p:spPr>
        <p:txBody>
          <a:bodyPr wrap="square" lIns="0" tIns="0" rIns="0" bIns="0" rtlCol="0" anchor="t"/>
          <a:lstStyle/>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Acute cellulitis or infection</a:t>
            </a:r>
            <a:pPr indent="0" marL="0">
              <a:spcAft>
                <a:spcPts val="600"/>
              </a:spcAft>
              <a:buNone/>
            </a:pPr>
            <a:endParaRPr lang="en-US" sz="1350" dirty="0"/>
          </a:p>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Acute DVT</a:t>
            </a:r>
            <a:pPr indent="0" marL="0">
              <a:spcAft>
                <a:spcPts val="600"/>
              </a:spcAft>
              <a:buNone/>
            </a:pPr>
            <a:endParaRPr lang="en-US" sz="1350" dirty="0"/>
          </a:p>
          <a:p>
            <a:pPr marL="190500" indent="-190500">
              <a:spcAft>
                <a:spcPts val="600"/>
              </a:spcAft>
              <a:buSzPct val="100000"/>
              <a:buChar char="•"/>
            </a:pPr>
            <a:r>
              <a:rPr lang="en-US" sz="1350" b="1" dirty="0">
                <a:solidFill>
                  <a:srgbClr val="1B2A30"/>
                </a:solidFill>
                <a:latin typeface="Calibri" pitchFamily="34" charset="0"/>
                <a:ea typeface="Calibri" pitchFamily="34" charset="-122"/>
                <a:cs typeface="Calibri" pitchFamily="34" charset="-120"/>
              </a:rPr>
              <a:t>Decompensated heart failure</a:t>
            </a:r>
            <a:pPr indent="0" marL="0">
              <a:spcAft>
                <a:spcPts val="600"/>
              </a:spcAft>
              <a:buNone/>
            </a:pPr>
            <a:endParaRPr lang="en-US" sz="1350" dirty="0"/>
          </a:p>
          <a:p>
            <a:pPr marL="190500" indent="-190500">
              <a:spcAft>
                <a:spcPts val="600"/>
              </a:spcAft>
              <a:buSzPct val="100000"/>
              <a:buChar char="•"/>
            </a:pPr>
            <a:r>
              <a:rPr lang="en-US" sz="1350" dirty="0">
                <a:solidFill>
                  <a:srgbClr val="1B2A30"/>
                </a:solidFill>
                <a:latin typeface="Calibri" pitchFamily="34" charset="0"/>
                <a:ea typeface="Calibri" pitchFamily="34" charset="-122"/>
                <a:cs typeface="Calibri" pitchFamily="34" charset="-120"/>
              </a:rPr>
              <a:t>Caution: active malignancy — coordinate with oncology</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23</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TREATMENT · CDT 3 OF 4</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Compression Therapy</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The single most important component for maintaining reduction. Without compression, gains from MLD reverse within hours.</a:t>
            </a:r>
            <a:endParaRPr lang="en-US" sz="1650" dirty="0"/>
          </a:p>
        </p:txBody>
      </p:sp>
      <p:sp>
        <p:nvSpPr>
          <p:cNvPr id="6" name="Shape 4"/>
          <p:cNvSpPr/>
          <p:nvPr/>
        </p:nvSpPr>
        <p:spPr>
          <a:xfrm>
            <a:off x="566928" y="2253996"/>
            <a:ext cx="3551834" cy="4014216"/>
          </a:xfrm>
          <a:prstGeom prst="roundRect">
            <a:avLst>
              <a:gd name="adj" fmla="val 2317"/>
            </a:avLst>
          </a:prstGeom>
          <a:solidFill>
            <a:srgbClr val="FFFFFF"/>
          </a:solidFill>
          <a:ln w="12700">
            <a:solidFill>
              <a:srgbClr val="DCE6E8"/>
            </a:solidFill>
            <a:prstDash val="solid"/>
          </a:ln>
        </p:spPr>
      </p:sp>
      <p:sp>
        <p:nvSpPr>
          <p:cNvPr id="7" name="Text 5"/>
          <p:cNvSpPr/>
          <p:nvPr/>
        </p:nvSpPr>
        <p:spPr>
          <a:xfrm>
            <a:off x="786384" y="2382012"/>
            <a:ext cx="3112922" cy="292608"/>
          </a:xfrm>
          <a:prstGeom prst="rect">
            <a:avLst/>
          </a:prstGeom>
          <a:noFill/>
          <a:ln/>
        </p:spPr>
        <p:txBody>
          <a:bodyPr wrap="square" lIns="0" tIns="0" rIns="0" bIns="0" rtlCol="0" anchor="ctr"/>
          <a:lstStyle/>
          <a:p>
            <a:pPr indent="0" marL="0">
              <a:buNone/>
            </a:pPr>
            <a:r>
              <a:rPr lang="en-US" sz="2050" b="1" dirty="0">
                <a:solidFill>
                  <a:srgbClr val="025462"/>
                </a:solidFill>
                <a:latin typeface="Calibri" pitchFamily="34" charset="0"/>
                <a:ea typeface="Calibri" pitchFamily="34" charset="-122"/>
                <a:cs typeface="Calibri" pitchFamily="34" charset="-120"/>
              </a:rPr>
              <a:t>Phase I — short-stretch bandaging</a:t>
            </a:r>
            <a:endParaRPr lang="en-US" sz="2050" dirty="0"/>
          </a:p>
        </p:txBody>
      </p:sp>
      <p:sp>
        <p:nvSpPr>
          <p:cNvPr id="8" name="Text 6"/>
          <p:cNvSpPr/>
          <p:nvPr/>
        </p:nvSpPr>
        <p:spPr>
          <a:xfrm>
            <a:off x="786384" y="2747772"/>
            <a:ext cx="3112922" cy="3355848"/>
          </a:xfrm>
          <a:prstGeom prst="rect">
            <a:avLst/>
          </a:prstGeom>
          <a:noFill/>
          <a:ln/>
        </p:spPr>
        <p:txBody>
          <a:bodyPr wrap="square" lIns="0" tIns="0" rIns="0" bIns="0" rtlCol="0" anchor="t"/>
          <a:lstStyle/>
          <a:p>
            <a:pPr marL="190500" indent="-190500">
              <a:spcAft>
                <a:spcPts val="600"/>
              </a:spcAft>
              <a:buSzPct val="100000"/>
              <a:buChar char="•"/>
            </a:pPr>
            <a:r>
              <a:rPr lang="en-US" sz="1900" b="1" dirty="0">
                <a:solidFill>
                  <a:srgbClr val="1B2A30"/>
                </a:solidFill>
                <a:latin typeface="Calibri" pitchFamily="34" charset="0"/>
                <a:ea typeface="Calibri" pitchFamily="34" charset="-122"/>
                <a:cs typeface="Calibri" pitchFamily="34" charset="-120"/>
              </a:rPr>
              <a:t>Short-stretch</a:t>
            </a:r>
            <a:pPr indent="0" marL="0">
              <a:spcAft>
                <a:spcPts val="600"/>
              </a:spcAft>
              <a:buNone/>
            </a:pPr>
            <a:r>
              <a:rPr lang="en-US" sz="1900" dirty="0">
                <a:solidFill>
                  <a:srgbClr val="1B2A30"/>
                </a:solidFill>
                <a:latin typeface="Calibri" pitchFamily="34" charset="0"/>
                <a:ea typeface="Calibri" pitchFamily="34" charset="-122"/>
                <a:cs typeface="Calibri" pitchFamily="34" charset="-120"/>
              </a:rPr>
              <a:t> — low resting, high working pressure</a:t>
            </a:r>
            <a:endParaRPr lang="en-US" sz="1900" dirty="0"/>
          </a:p>
          <a:p>
            <a:pPr marL="190500" indent="-190500">
              <a:spcAft>
                <a:spcPts val="600"/>
              </a:spcAft>
              <a:buSzPct val="100000"/>
              <a:buChar char="•"/>
            </a:pPr>
            <a:r>
              <a:rPr lang="en-US" sz="1900" b="1" dirty="0">
                <a:solidFill>
                  <a:srgbClr val="1B2A30"/>
                </a:solidFill>
                <a:latin typeface="Calibri" pitchFamily="34" charset="0"/>
                <a:ea typeface="Calibri" pitchFamily="34" charset="-122"/>
                <a:cs typeface="Calibri" pitchFamily="34" charset="-120"/>
              </a:rPr>
              <a:t>Never long-stretch/ACE</a:t>
            </a:r>
            <a:pPr indent="0" marL="0">
              <a:spcAft>
                <a:spcPts val="600"/>
              </a:spcAft>
              <a:buNone/>
            </a:pPr>
            <a:r>
              <a:rPr lang="en-US" sz="1900" dirty="0">
                <a:solidFill>
                  <a:srgbClr val="1B2A30"/>
                </a:solidFill>
                <a:latin typeface="Calibri" pitchFamily="34" charset="0"/>
                <a:ea typeface="Calibri" pitchFamily="34" charset="-122"/>
                <a:cs typeface="Calibri" pitchFamily="34" charset="-120"/>
              </a:rPr>
              <a:t> — tourniquet risk</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Layered: stockinette, digits, padding, bandage</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Foam over fibrosis; gradient higher distally</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Worn 23 hrs/day</a:t>
            </a:r>
            <a:endParaRPr lang="en-US" sz="1900" dirty="0"/>
          </a:p>
        </p:txBody>
      </p:sp>
      <p:sp>
        <p:nvSpPr>
          <p:cNvPr id="9" name="Shape 7"/>
          <p:cNvSpPr/>
          <p:nvPr/>
        </p:nvSpPr>
        <p:spPr>
          <a:xfrm>
            <a:off x="4319930" y="2253996"/>
            <a:ext cx="3551834" cy="4014216"/>
          </a:xfrm>
          <a:prstGeom prst="roundRect">
            <a:avLst>
              <a:gd name="adj" fmla="val 2317"/>
            </a:avLst>
          </a:prstGeom>
          <a:solidFill>
            <a:srgbClr val="FFFFFF"/>
          </a:solidFill>
          <a:ln w="12700">
            <a:solidFill>
              <a:srgbClr val="DCE6E8"/>
            </a:solidFill>
            <a:prstDash val="solid"/>
          </a:ln>
        </p:spPr>
      </p:sp>
      <p:sp>
        <p:nvSpPr>
          <p:cNvPr id="10" name="Text 8"/>
          <p:cNvSpPr/>
          <p:nvPr/>
        </p:nvSpPr>
        <p:spPr>
          <a:xfrm>
            <a:off x="4539386" y="2382012"/>
            <a:ext cx="3112922" cy="292608"/>
          </a:xfrm>
          <a:prstGeom prst="rect">
            <a:avLst/>
          </a:prstGeom>
          <a:noFill/>
          <a:ln/>
        </p:spPr>
        <p:txBody>
          <a:bodyPr wrap="square" lIns="0" tIns="0" rIns="0" bIns="0" rtlCol="0" anchor="ctr"/>
          <a:lstStyle/>
          <a:p>
            <a:pPr indent="0" marL="0">
              <a:buNone/>
            </a:pPr>
            <a:r>
              <a:rPr lang="en-US" sz="2050" b="1" dirty="0">
                <a:solidFill>
                  <a:srgbClr val="025462"/>
                </a:solidFill>
                <a:latin typeface="Calibri" pitchFamily="34" charset="0"/>
                <a:ea typeface="Calibri" pitchFamily="34" charset="-122"/>
                <a:cs typeface="Calibri" pitchFamily="34" charset="-120"/>
              </a:rPr>
              <a:t>Phase II — garments</a:t>
            </a:r>
            <a:endParaRPr lang="en-US" sz="2050" dirty="0"/>
          </a:p>
        </p:txBody>
      </p:sp>
      <p:sp>
        <p:nvSpPr>
          <p:cNvPr id="11" name="Text 9"/>
          <p:cNvSpPr/>
          <p:nvPr/>
        </p:nvSpPr>
        <p:spPr>
          <a:xfrm>
            <a:off x="4539386" y="2747772"/>
            <a:ext cx="3112922" cy="3355848"/>
          </a:xfrm>
          <a:prstGeom prst="rect">
            <a:avLst/>
          </a:prstGeom>
          <a:noFill/>
          <a:ln/>
        </p:spPr>
        <p:txBody>
          <a:bodyPr wrap="square" lIns="0" tIns="0" rIns="0" bIns="0" rtlCol="0" anchor="t"/>
          <a:lstStyle/>
          <a:p>
            <a:pPr marL="190500" indent="-190500">
              <a:spcAft>
                <a:spcPts val="600"/>
              </a:spcAft>
              <a:buSzPct val="100000"/>
              <a:buChar char="•"/>
            </a:pPr>
            <a:r>
              <a:rPr lang="en-US" sz="1900" b="1" dirty="0">
                <a:solidFill>
                  <a:srgbClr val="1B2A30"/>
                </a:solidFill>
                <a:latin typeface="Calibri" pitchFamily="34" charset="0"/>
                <a:ea typeface="Calibri" pitchFamily="34" charset="-122"/>
                <a:cs typeface="Calibri" pitchFamily="34" charset="-120"/>
              </a:rPr>
              <a:t>Class 1 (20–30)</a:t>
            </a:r>
            <a:pPr indent="0" marL="0">
              <a:spcAft>
                <a:spcPts val="600"/>
              </a:spcAft>
              <a:buNone/>
            </a:pPr>
            <a:r>
              <a:rPr lang="en-US" sz="1900" dirty="0">
                <a:solidFill>
                  <a:srgbClr val="1B2A30"/>
                </a:solidFill>
                <a:latin typeface="Calibri" pitchFamily="34" charset="0"/>
                <a:ea typeface="Calibri" pitchFamily="34" charset="-122"/>
                <a:cs typeface="Calibri" pitchFamily="34" charset="-120"/>
              </a:rPr>
              <a:t> — upper limb, mild, prophylaxis</a:t>
            </a:r>
            <a:endParaRPr lang="en-US" sz="1900" dirty="0"/>
          </a:p>
          <a:p>
            <a:pPr marL="190500" indent="-190500">
              <a:spcAft>
                <a:spcPts val="600"/>
              </a:spcAft>
              <a:buSzPct val="100000"/>
              <a:buChar char="•"/>
            </a:pPr>
            <a:r>
              <a:rPr lang="en-US" sz="1900" b="1" dirty="0">
                <a:solidFill>
                  <a:srgbClr val="1B2A30"/>
                </a:solidFill>
                <a:latin typeface="Calibri" pitchFamily="34" charset="0"/>
                <a:ea typeface="Calibri" pitchFamily="34" charset="-122"/>
                <a:cs typeface="Calibri" pitchFamily="34" charset="-120"/>
              </a:rPr>
              <a:t>Class 2 (30–40)</a:t>
            </a:r>
            <a:pPr indent="0" marL="0">
              <a:spcAft>
                <a:spcPts val="600"/>
              </a:spcAft>
              <a:buNone/>
            </a:pPr>
            <a:r>
              <a:rPr lang="en-US" sz="1900" dirty="0">
                <a:solidFill>
                  <a:srgbClr val="1B2A30"/>
                </a:solidFill>
                <a:latin typeface="Calibri" pitchFamily="34" charset="0"/>
                <a:ea typeface="Calibri" pitchFamily="34" charset="-122"/>
                <a:cs typeface="Calibri" pitchFamily="34" charset="-120"/>
              </a:rPr>
              <a:t> — most lower limb</a:t>
            </a:r>
            <a:endParaRPr lang="en-US" sz="1900" dirty="0"/>
          </a:p>
          <a:p>
            <a:pPr marL="190500" indent="-190500">
              <a:spcAft>
                <a:spcPts val="600"/>
              </a:spcAft>
              <a:buSzPct val="100000"/>
              <a:buChar char="•"/>
            </a:pPr>
            <a:r>
              <a:rPr lang="en-US" sz="1900" b="1" dirty="0">
                <a:solidFill>
                  <a:srgbClr val="1B2A30"/>
                </a:solidFill>
                <a:latin typeface="Calibri" pitchFamily="34" charset="0"/>
                <a:ea typeface="Calibri" pitchFamily="34" charset="-122"/>
                <a:cs typeface="Calibri" pitchFamily="34" charset="-120"/>
              </a:rPr>
              <a:t>Class 3 (40–50)</a:t>
            </a:r>
            <a:pPr indent="0" marL="0">
              <a:spcAft>
                <a:spcPts val="600"/>
              </a:spcAft>
              <a:buNone/>
            </a:pPr>
            <a:r>
              <a:rPr lang="en-US" sz="1900" dirty="0">
                <a:solidFill>
                  <a:srgbClr val="1B2A30"/>
                </a:solidFill>
                <a:latin typeface="Calibri" pitchFamily="34" charset="0"/>
                <a:ea typeface="Calibri" pitchFamily="34" charset="-122"/>
                <a:cs typeface="Calibri" pitchFamily="34" charset="-120"/>
              </a:rPr>
              <a:t> — severe lower limb</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Flat-knit preferred; custom for irregular shape</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Replace every 4–6 months</a:t>
            </a:r>
            <a:endParaRPr lang="en-US" sz="1900" dirty="0"/>
          </a:p>
        </p:txBody>
      </p:sp>
      <p:sp>
        <p:nvSpPr>
          <p:cNvPr id="12" name="Shape 10"/>
          <p:cNvSpPr/>
          <p:nvPr/>
        </p:nvSpPr>
        <p:spPr>
          <a:xfrm>
            <a:off x="8072933" y="2253996"/>
            <a:ext cx="3551834" cy="4014216"/>
          </a:xfrm>
          <a:prstGeom prst="roundRect">
            <a:avLst>
              <a:gd name="adj" fmla="val 2317"/>
            </a:avLst>
          </a:prstGeom>
          <a:solidFill>
            <a:srgbClr val="FFFFFF"/>
          </a:solidFill>
          <a:ln w="12700">
            <a:solidFill>
              <a:srgbClr val="DCE6E8"/>
            </a:solidFill>
            <a:prstDash val="solid"/>
          </a:ln>
        </p:spPr>
      </p:sp>
      <p:sp>
        <p:nvSpPr>
          <p:cNvPr id="13" name="Text 11"/>
          <p:cNvSpPr/>
          <p:nvPr/>
        </p:nvSpPr>
        <p:spPr>
          <a:xfrm>
            <a:off x="8292389" y="2382012"/>
            <a:ext cx="3112922" cy="292608"/>
          </a:xfrm>
          <a:prstGeom prst="rect">
            <a:avLst/>
          </a:prstGeom>
          <a:noFill/>
          <a:ln/>
        </p:spPr>
        <p:txBody>
          <a:bodyPr wrap="square" lIns="0" tIns="0" rIns="0" bIns="0" rtlCol="0" anchor="ctr"/>
          <a:lstStyle/>
          <a:p>
            <a:pPr indent="0" marL="0">
              <a:buNone/>
            </a:pPr>
            <a:r>
              <a:rPr lang="en-US" sz="2050" b="1" dirty="0">
                <a:solidFill>
                  <a:srgbClr val="025462"/>
                </a:solidFill>
                <a:latin typeface="Calibri" pitchFamily="34" charset="0"/>
                <a:ea typeface="Calibri" pitchFamily="34" charset="-122"/>
                <a:cs typeface="Calibri" pitchFamily="34" charset="-120"/>
              </a:rPr>
              <a:t>Precautions</a:t>
            </a:r>
            <a:endParaRPr lang="en-US" sz="2050" dirty="0"/>
          </a:p>
        </p:txBody>
      </p:sp>
      <p:sp>
        <p:nvSpPr>
          <p:cNvPr id="14" name="Text 12"/>
          <p:cNvSpPr/>
          <p:nvPr/>
        </p:nvSpPr>
        <p:spPr>
          <a:xfrm>
            <a:off x="8292389" y="2747772"/>
            <a:ext cx="3112922" cy="3355848"/>
          </a:xfrm>
          <a:prstGeom prst="rect">
            <a:avLst/>
          </a:prstGeom>
          <a:noFill/>
          <a:ln/>
        </p:spPr>
        <p:txBody>
          <a:bodyPr wrap="square" lIns="0" tIns="0" rIns="0" bIns="0" rtlCol="0" anchor="t"/>
          <a:lstStyle/>
          <a:p>
            <a:pPr marL="190500" indent="-190500">
              <a:spcAft>
                <a:spcPts val="600"/>
              </a:spcAft>
              <a:buSzPct val="100000"/>
              <a:buChar char="•"/>
            </a:pPr>
            <a:r>
              <a:rPr lang="en-US" sz="1900" b="1" dirty="0">
                <a:solidFill>
                  <a:srgbClr val="1B2A30"/>
                </a:solidFill>
                <a:latin typeface="Calibri" pitchFamily="34" charset="0"/>
                <a:ea typeface="Calibri" pitchFamily="34" charset="-122"/>
                <a:cs typeface="Calibri" pitchFamily="34" charset="-120"/>
              </a:rPr>
              <a:t>Check ABI.</a:t>
            </a:r>
            <a:pPr indent="0" marL="0">
              <a:spcAft>
                <a:spcPts val="600"/>
              </a:spcAft>
              <a:buNone/>
            </a:pPr>
            <a:r>
              <a:rPr lang="en-US" sz="1900" dirty="0">
                <a:solidFill>
                  <a:srgbClr val="1B2A30"/>
                </a:solidFill>
                <a:latin typeface="Calibri" pitchFamily="34" charset="0"/>
                <a:ea typeface="Calibri" pitchFamily="34" charset="-122"/>
                <a:cs typeface="Calibri" pitchFamily="34" charset="-120"/>
              </a:rPr>
              <a:t> &lt; 0.8 caution, &lt; 0.5 contraindicated</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Decompensated heart failure</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Acute DVT, acute infection, severe neuropathy</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24</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TREATMENT · CDT 4 OF 4</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Remedial Exercise</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The skeletal muscle pump is a primary driver of lymph transport. Exercise performed under compression is decongestive therapy.</a:t>
            </a:r>
            <a:endParaRPr lang="en-US" sz="1650" dirty="0"/>
          </a:p>
        </p:txBody>
      </p:sp>
      <p:sp>
        <p:nvSpPr>
          <p:cNvPr id="6" name="Shape 4"/>
          <p:cNvSpPr/>
          <p:nvPr/>
        </p:nvSpPr>
        <p:spPr>
          <a:xfrm>
            <a:off x="566928" y="2418080"/>
            <a:ext cx="3551834" cy="3686048"/>
          </a:xfrm>
          <a:prstGeom prst="roundRect">
            <a:avLst>
              <a:gd name="adj" fmla="val 2317"/>
            </a:avLst>
          </a:prstGeom>
          <a:solidFill>
            <a:srgbClr val="FFFFFF"/>
          </a:solidFill>
          <a:ln w="12700">
            <a:solidFill>
              <a:srgbClr val="DCE6E8"/>
            </a:solidFill>
            <a:prstDash val="solid"/>
          </a:ln>
        </p:spPr>
      </p:sp>
      <p:sp>
        <p:nvSpPr>
          <p:cNvPr id="7" name="Text 5"/>
          <p:cNvSpPr/>
          <p:nvPr/>
        </p:nvSpPr>
        <p:spPr>
          <a:xfrm>
            <a:off x="786384" y="2546096"/>
            <a:ext cx="3112922" cy="292608"/>
          </a:xfrm>
          <a:prstGeom prst="rect">
            <a:avLst/>
          </a:prstGeom>
          <a:noFill/>
          <a:ln/>
        </p:spPr>
        <p:txBody>
          <a:bodyPr wrap="square" lIns="0" tIns="0" rIns="0" bIns="0" rtlCol="0" anchor="ctr"/>
          <a:lstStyle/>
          <a:p>
            <a:pPr indent="0" marL="0">
              <a:buNone/>
            </a:pPr>
            <a:r>
              <a:rPr lang="en-US" sz="2050" b="1" dirty="0">
                <a:solidFill>
                  <a:srgbClr val="025462"/>
                </a:solidFill>
                <a:latin typeface="Calibri" pitchFamily="34" charset="0"/>
                <a:ea typeface="Calibri" pitchFamily="34" charset="-122"/>
                <a:cs typeface="Calibri" pitchFamily="34" charset="-120"/>
              </a:rPr>
              <a:t>Principles</a:t>
            </a:r>
            <a:endParaRPr lang="en-US" sz="2050" dirty="0"/>
          </a:p>
        </p:txBody>
      </p:sp>
      <p:sp>
        <p:nvSpPr>
          <p:cNvPr id="8" name="Text 6"/>
          <p:cNvSpPr/>
          <p:nvPr/>
        </p:nvSpPr>
        <p:spPr>
          <a:xfrm>
            <a:off x="786384" y="2911856"/>
            <a:ext cx="3112922" cy="3027680"/>
          </a:xfrm>
          <a:prstGeom prst="rect">
            <a:avLst/>
          </a:prstGeom>
          <a:noFill/>
          <a:ln/>
        </p:spPr>
        <p:txBody>
          <a:bodyPr wrap="square" lIns="0" tIns="0" rIns="0" bIns="0" rtlCol="0" anchor="t"/>
          <a:lstStyle/>
          <a:p>
            <a:pPr marL="190500" indent="-190500">
              <a:spcAft>
                <a:spcPts val="600"/>
              </a:spcAft>
              <a:buSzPct val="100000"/>
              <a:buChar char="•"/>
            </a:pPr>
            <a:r>
              <a:rPr lang="en-US" sz="1900" b="1" dirty="0">
                <a:solidFill>
                  <a:srgbClr val="1B2A30"/>
                </a:solidFill>
                <a:latin typeface="Calibri" pitchFamily="34" charset="0"/>
                <a:ea typeface="Calibri" pitchFamily="34" charset="-122"/>
                <a:cs typeface="Calibri" pitchFamily="34" charset="-120"/>
              </a:rPr>
              <a:t>Always with compression in place</a:t>
            </a:r>
            <a:pPr indent="0" marL="0">
              <a:spcAft>
                <a:spcPts val="600"/>
              </a:spcAft>
              <a:buNone/>
            </a:pP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Start with diaphragmatic breathing</a:t>
            </a:r>
            <a:endParaRPr lang="en-US" sz="1900" dirty="0"/>
          </a:p>
          <a:p>
            <a:pPr marL="190500" indent="-190500">
              <a:spcAft>
                <a:spcPts val="600"/>
              </a:spcAft>
              <a:buSzPct val="100000"/>
              <a:buChar char="•"/>
            </a:pPr>
            <a:r>
              <a:rPr lang="en-US" sz="1900" b="1" dirty="0">
                <a:solidFill>
                  <a:srgbClr val="1B2A30"/>
                </a:solidFill>
                <a:latin typeface="Calibri" pitchFamily="34" charset="0"/>
                <a:ea typeface="Calibri" pitchFamily="34" charset="-122"/>
                <a:cs typeface="Calibri" pitchFamily="34" charset="-120"/>
              </a:rPr>
              <a:t>Proximal to distal</a:t>
            </a:r>
            <a:pPr indent="0" marL="0">
              <a:spcAft>
                <a:spcPts val="600"/>
              </a:spcAft>
              <a:buNone/>
            </a:pP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Slow and rhythmic; no Valsalva</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Low resistance, higher repetition</a:t>
            </a:r>
            <a:endParaRPr lang="en-US" sz="1900" dirty="0"/>
          </a:p>
        </p:txBody>
      </p:sp>
      <p:sp>
        <p:nvSpPr>
          <p:cNvPr id="9" name="Shape 7"/>
          <p:cNvSpPr/>
          <p:nvPr/>
        </p:nvSpPr>
        <p:spPr>
          <a:xfrm>
            <a:off x="4319930" y="2418080"/>
            <a:ext cx="3551834" cy="3686048"/>
          </a:xfrm>
          <a:prstGeom prst="roundRect">
            <a:avLst>
              <a:gd name="adj" fmla="val 2317"/>
            </a:avLst>
          </a:prstGeom>
          <a:solidFill>
            <a:srgbClr val="FFFFFF"/>
          </a:solidFill>
          <a:ln w="12700">
            <a:solidFill>
              <a:srgbClr val="DCE6E8"/>
            </a:solidFill>
            <a:prstDash val="solid"/>
          </a:ln>
        </p:spPr>
      </p:sp>
      <p:sp>
        <p:nvSpPr>
          <p:cNvPr id="10" name="Text 8"/>
          <p:cNvSpPr/>
          <p:nvPr/>
        </p:nvSpPr>
        <p:spPr>
          <a:xfrm>
            <a:off x="4539386" y="2546096"/>
            <a:ext cx="3112922" cy="292608"/>
          </a:xfrm>
          <a:prstGeom prst="rect">
            <a:avLst/>
          </a:prstGeom>
          <a:noFill/>
          <a:ln/>
        </p:spPr>
        <p:txBody>
          <a:bodyPr wrap="square" lIns="0" tIns="0" rIns="0" bIns="0" rtlCol="0" anchor="ctr"/>
          <a:lstStyle/>
          <a:p>
            <a:pPr indent="0" marL="0">
              <a:buNone/>
            </a:pPr>
            <a:r>
              <a:rPr lang="en-US" sz="2050" b="1" dirty="0">
                <a:solidFill>
                  <a:srgbClr val="025462"/>
                </a:solidFill>
                <a:latin typeface="Calibri" pitchFamily="34" charset="0"/>
                <a:ea typeface="Calibri" pitchFamily="34" charset="-122"/>
                <a:cs typeface="Calibri" pitchFamily="34" charset="-120"/>
              </a:rPr>
              <a:t>Programme components</a:t>
            </a:r>
            <a:endParaRPr lang="en-US" sz="2050" dirty="0"/>
          </a:p>
        </p:txBody>
      </p:sp>
      <p:sp>
        <p:nvSpPr>
          <p:cNvPr id="11" name="Text 9"/>
          <p:cNvSpPr/>
          <p:nvPr/>
        </p:nvSpPr>
        <p:spPr>
          <a:xfrm>
            <a:off x="4539386" y="2911856"/>
            <a:ext cx="3112922" cy="3027680"/>
          </a:xfrm>
          <a:prstGeom prst="rect">
            <a:avLst/>
          </a:prstGeom>
          <a:noFill/>
          <a:ln/>
        </p:spPr>
        <p:txBody>
          <a:bodyPr wrap="square" lIns="0" tIns="0" rIns="0" bIns="0" rtlCol="0" anchor="t"/>
          <a:lstStyle/>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Diaphragmatic breathing to start and finish</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Cervical and shoulder girdle mobility</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Trunk and core activation</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Active ROM, proximal → distal</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Aerobic — walking, cycling, aquatic</a:t>
            </a:r>
            <a:endParaRPr lang="en-US" sz="1900" dirty="0"/>
          </a:p>
        </p:txBody>
      </p:sp>
      <p:sp>
        <p:nvSpPr>
          <p:cNvPr id="12" name="Shape 10"/>
          <p:cNvSpPr/>
          <p:nvPr/>
        </p:nvSpPr>
        <p:spPr>
          <a:xfrm>
            <a:off x="8072933" y="2418080"/>
            <a:ext cx="3551834" cy="3686048"/>
          </a:xfrm>
          <a:prstGeom prst="roundRect">
            <a:avLst>
              <a:gd name="adj" fmla="val 2317"/>
            </a:avLst>
          </a:prstGeom>
          <a:solidFill>
            <a:srgbClr val="FFFFFF"/>
          </a:solidFill>
          <a:ln w="12700">
            <a:solidFill>
              <a:srgbClr val="DCE6E8"/>
            </a:solidFill>
            <a:prstDash val="solid"/>
          </a:ln>
        </p:spPr>
      </p:sp>
      <p:sp>
        <p:nvSpPr>
          <p:cNvPr id="13" name="Text 11"/>
          <p:cNvSpPr/>
          <p:nvPr/>
        </p:nvSpPr>
        <p:spPr>
          <a:xfrm>
            <a:off x="8292389" y="2546096"/>
            <a:ext cx="3112922" cy="292608"/>
          </a:xfrm>
          <a:prstGeom prst="rect">
            <a:avLst/>
          </a:prstGeom>
          <a:noFill/>
          <a:ln/>
        </p:spPr>
        <p:txBody>
          <a:bodyPr wrap="square" lIns="0" tIns="0" rIns="0" bIns="0" rtlCol="0" anchor="ctr"/>
          <a:lstStyle/>
          <a:p>
            <a:pPr indent="0" marL="0">
              <a:buNone/>
            </a:pPr>
            <a:r>
              <a:rPr lang="en-US" sz="2050" b="1" dirty="0">
                <a:solidFill>
                  <a:srgbClr val="025462"/>
                </a:solidFill>
                <a:latin typeface="Calibri" pitchFamily="34" charset="0"/>
                <a:ea typeface="Calibri" pitchFamily="34" charset="-122"/>
                <a:cs typeface="Calibri" pitchFamily="34" charset="-120"/>
              </a:rPr>
              <a:t>The resistance training question — settled</a:t>
            </a:r>
            <a:endParaRPr lang="en-US" sz="2050" dirty="0"/>
          </a:p>
        </p:txBody>
      </p:sp>
      <p:sp>
        <p:nvSpPr>
          <p:cNvPr id="14" name="Text 12"/>
          <p:cNvSpPr/>
          <p:nvPr/>
        </p:nvSpPr>
        <p:spPr>
          <a:xfrm>
            <a:off x="8292389" y="2911856"/>
            <a:ext cx="3112922" cy="3027680"/>
          </a:xfrm>
          <a:prstGeom prst="rect">
            <a:avLst/>
          </a:prstGeom>
          <a:noFill/>
          <a:ln/>
        </p:spPr>
        <p:txBody>
          <a:bodyPr wrap="square" lIns="0" tIns="0" rIns="0" bIns="0" rtlCol="0" anchor="t"/>
          <a:lstStyle/>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Progressive resistance training does not cause or worsen lymphedema</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The PAL trial demonstrated safety</a:t>
            </a:r>
            <a:endParaRPr lang="en-US" sz="1900" dirty="0"/>
          </a:p>
          <a:p>
            <a:pPr marL="190500" indent="-190500">
              <a:spcAft>
                <a:spcPts val="600"/>
              </a:spcAft>
              <a:buSzPct val="100000"/>
              <a:buChar char="•"/>
            </a:pPr>
            <a:r>
              <a:rPr lang="en-US" sz="1900" dirty="0">
                <a:solidFill>
                  <a:srgbClr val="1B2A30"/>
                </a:solidFill>
                <a:latin typeface="Calibri" pitchFamily="34" charset="0"/>
                <a:ea typeface="Calibri" pitchFamily="34" charset="-122"/>
                <a:cs typeface="Calibri" pitchFamily="34" charset="-120"/>
              </a:rPr>
              <a:t>May reduce flare incidence</a:t>
            </a:r>
            <a:endParaRPr lang="en-US" sz="1900" dirty="0"/>
          </a:p>
          <a:p>
            <a:pPr marL="190500" indent="-190500">
              <a:spcAft>
                <a:spcPts val="600"/>
              </a:spcAft>
              <a:buSzPct val="100000"/>
              <a:buChar char="•"/>
            </a:pPr>
            <a:r>
              <a:rPr lang="en-US" sz="1900" b="1" dirty="0">
                <a:solidFill>
                  <a:srgbClr val="1B2A30"/>
                </a:solidFill>
                <a:latin typeface="Calibri" pitchFamily="34" charset="0"/>
                <a:ea typeface="Calibri" pitchFamily="34" charset="-122"/>
                <a:cs typeface="Calibri" pitchFamily="34" charset="-120"/>
              </a:rPr>
              <a:t>Do not tell patients to avoid using the limb</a:t>
            </a:r>
            <a:pPr indent="0" marL="0">
              <a:spcAft>
                <a:spcPts val="600"/>
              </a:spcAft>
              <a:buNone/>
            </a:pP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25</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TREATMENT · LONG-TERM</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Long-Term Compression Garments</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Phase II is where the result is held. The garment has to fit the limb, the diagnosis, and the patient's hands — a garment that cannot be donned will not be worn.</a:t>
            </a:r>
            <a:endParaRPr lang="en-US" sz="1650" dirty="0"/>
          </a:p>
        </p:txBody>
      </p:sp>
      <p:sp>
        <p:nvSpPr>
          <p:cNvPr id="6" name="Shape 4"/>
          <p:cNvSpPr/>
          <p:nvPr/>
        </p:nvSpPr>
        <p:spPr>
          <a:xfrm>
            <a:off x="566928" y="2231136"/>
            <a:ext cx="3551834" cy="3968496"/>
          </a:xfrm>
          <a:prstGeom prst="roundRect">
            <a:avLst>
              <a:gd name="adj" fmla="val 2317"/>
            </a:avLst>
          </a:prstGeom>
          <a:solidFill>
            <a:srgbClr val="FFFFFF"/>
          </a:solidFill>
          <a:ln w="12700">
            <a:solidFill>
              <a:srgbClr val="DCE6E8"/>
            </a:solidFill>
            <a:prstDash val="solid"/>
          </a:ln>
        </p:spPr>
      </p:sp>
      <p:sp>
        <p:nvSpPr>
          <p:cNvPr id="7" name="Text 5"/>
          <p:cNvSpPr/>
          <p:nvPr/>
        </p:nvSpPr>
        <p:spPr>
          <a:xfrm>
            <a:off x="786384" y="2359152"/>
            <a:ext cx="3112922" cy="310896"/>
          </a:xfrm>
          <a:prstGeom prst="rect">
            <a:avLst/>
          </a:prstGeom>
          <a:noFill/>
          <a:ln/>
        </p:spPr>
        <p:txBody>
          <a:bodyPr wrap="square" lIns="0" tIns="0" rIns="0" bIns="0" rtlCol="0" anchor="ctr"/>
          <a:lstStyle/>
          <a:p>
            <a:pPr indent="0" marL="0">
              <a:buNone/>
            </a:pPr>
            <a:r>
              <a:rPr lang="en-US" sz="1850" b="1" dirty="0">
                <a:solidFill>
                  <a:srgbClr val="025462"/>
                </a:solidFill>
                <a:latin typeface="Calibri" pitchFamily="34" charset="0"/>
                <a:ea typeface="Calibri" pitchFamily="34" charset="-122"/>
                <a:cs typeface="Calibri" pitchFamily="34" charset="-120"/>
              </a:rPr>
              <a:t>Lower limb options</a:t>
            </a:r>
            <a:endParaRPr lang="en-US" sz="1850" dirty="0"/>
          </a:p>
        </p:txBody>
      </p:sp>
      <p:sp>
        <p:nvSpPr>
          <p:cNvPr id="8" name="Text 6"/>
          <p:cNvSpPr/>
          <p:nvPr/>
        </p:nvSpPr>
        <p:spPr>
          <a:xfrm>
            <a:off x="786384" y="2743200"/>
            <a:ext cx="3112922" cy="3291840"/>
          </a:xfrm>
          <a:prstGeom prst="rect">
            <a:avLst/>
          </a:prstGeom>
          <a:noFill/>
          <a:ln/>
        </p:spPr>
        <p:txBody>
          <a:bodyPr wrap="square" lIns="0" tIns="0" rIns="0" bIns="0" rtlCol="0" anchor="t"/>
          <a:lstStyle/>
          <a:p>
            <a:pPr marL="190500" indent="-190500">
              <a:spcAft>
                <a:spcPts val="600"/>
              </a:spcAft>
              <a:buSzPct val="100000"/>
              <a:buChar char="•"/>
            </a:pPr>
            <a:r>
              <a:rPr lang="en-US" sz="1700" b="1" dirty="0">
                <a:solidFill>
                  <a:srgbClr val="1B2A30"/>
                </a:solidFill>
                <a:latin typeface="Calibri" pitchFamily="34" charset="0"/>
                <a:ea typeface="Calibri" pitchFamily="34" charset="-122"/>
                <a:cs typeface="Calibri" pitchFamily="34" charset="-120"/>
              </a:rPr>
              <a:t>Knee-high</a:t>
            </a:r>
            <a:pPr indent="0" marL="0">
              <a:spcAft>
                <a:spcPts val="600"/>
              </a:spcAft>
              <a:buNone/>
            </a:pPr>
            <a:r>
              <a:rPr lang="en-US" sz="1700" dirty="0">
                <a:solidFill>
                  <a:srgbClr val="1B2A30"/>
                </a:solidFill>
                <a:latin typeface="Calibri" pitchFamily="34" charset="0"/>
                <a:ea typeface="Calibri" pitchFamily="34" charset="-122"/>
                <a:cs typeface="Calibri" pitchFamily="34" charset="-120"/>
              </a:rPr>
              <a:t> — most common; easiest to don, best adherence</a:t>
            </a:r>
            <a:endParaRPr lang="en-US" sz="1700" dirty="0"/>
          </a:p>
          <a:p>
            <a:pPr marL="190500" indent="-190500">
              <a:spcAft>
                <a:spcPts val="600"/>
              </a:spcAft>
              <a:buSzPct val="100000"/>
              <a:buChar char="•"/>
            </a:pPr>
            <a:r>
              <a:rPr lang="en-US" sz="1700" b="1" dirty="0">
                <a:solidFill>
                  <a:srgbClr val="1B2A30"/>
                </a:solidFill>
                <a:latin typeface="Calibri" pitchFamily="34" charset="0"/>
                <a:ea typeface="Calibri" pitchFamily="34" charset="-122"/>
                <a:cs typeface="Calibri" pitchFamily="34" charset="-120"/>
              </a:rPr>
              <a:t>Thigh-high</a:t>
            </a:r>
            <a:pPr indent="0" marL="0">
              <a:spcAft>
                <a:spcPts val="600"/>
              </a:spcAft>
              <a:buNone/>
            </a:pPr>
            <a:r>
              <a:rPr lang="en-US" sz="1700" dirty="0">
                <a:solidFill>
                  <a:srgbClr val="1B2A30"/>
                </a:solidFill>
                <a:latin typeface="Calibri" pitchFamily="34" charset="0"/>
                <a:ea typeface="Calibri" pitchFamily="34" charset="-122"/>
                <a:cs typeface="Calibri" pitchFamily="34" charset="-120"/>
              </a:rPr>
              <a:t> — swelling above the knee; needs a silicone band</a:t>
            </a:r>
            <a:endParaRPr lang="en-US" sz="1700" dirty="0"/>
          </a:p>
          <a:p>
            <a:pPr marL="190500" indent="-190500">
              <a:spcAft>
                <a:spcPts val="600"/>
              </a:spcAft>
              <a:buSzPct val="100000"/>
              <a:buChar char="•"/>
            </a:pPr>
            <a:r>
              <a:rPr lang="en-US" sz="1700" b="1" dirty="0">
                <a:solidFill>
                  <a:srgbClr val="1B2A30"/>
                </a:solidFill>
                <a:latin typeface="Calibri" pitchFamily="34" charset="0"/>
                <a:ea typeface="Calibri" pitchFamily="34" charset="-122"/>
                <a:cs typeface="Calibri" pitchFamily="34" charset="-120"/>
              </a:rPr>
              <a:t>Pantyhose / waist-high</a:t>
            </a:r>
            <a:pPr indent="0" marL="0">
              <a:spcAft>
                <a:spcPts val="600"/>
              </a:spcAft>
              <a:buNone/>
            </a:pPr>
            <a:r>
              <a:rPr lang="en-US" sz="1700" dirty="0">
                <a:solidFill>
                  <a:srgbClr val="1B2A30"/>
                </a:solidFill>
                <a:latin typeface="Calibri" pitchFamily="34" charset="0"/>
                <a:ea typeface="Calibri" pitchFamily="34" charset="-122"/>
                <a:cs typeface="Calibri" pitchFamily="34" charset="-120"/>
              </a:rPr>
              <a:t> — bilateral or genital involvement</a:t>
            </a:r>
            <a:endParaRPr lang="en-US" sz="1700" dirty="0"/>
          </a:p>
          <a:p>
            <a:pPr marL="190500" indent="-190500">
              <a:spcAft>
                <a:spcPts val="600"/>
              </a:spcAft>
              <a:buSzPct val="100000"/>
              <a:buChar char="•"/>
            </a:pPr>
            <a:r>
              <a:rPr lang="en-US" sz="1700" b="1" dirty="0">
                <a:solidFill>
                  <a:srgbClr val="1B2A30"/>
                </a:solidFill>
                <a:latin typeface="Calibri" pitchFamily="34" charset="0"/>
                <a:ea typeface="Calibri" pitchFamily="34" charset="-122"/>
                <a:cs typeface="Calibri" pitchFamily="34" charset="-120"/>
              </a:rPr>
              <a:t>Capri</a:t>
            </a:r>
            <a:pPr indent="0" marL="0">
              <a:spcAft>
                <a:spcPts val="600"/>
              </a:spcAft>
              <a:buNone/>
            </a:pPr>
            <a:r>
              <a:rPr lang="en-US" sz="1700" dirty="0">
                <a:solidFill>
                  <a:srgbClr val="1B2A30"/>
                </a:solidFill>
                <a:latin typeface="Calibri" pitchFamily="34" charset="0"/>
                <a:ea typeface="Calibri" pitchFamily="34" charset="-122"/>
                <a:cs typeface="Calibri" pitchFamily="34" charset="-120"/>
              </a:rPr>
              <a:t> — thigh and knee, spared calf. Common in lipedema.</a:t>
            </a:r>
            <a:endParaRPr lang="en-US" sz="1700" dirty="0"/>
          </a:p>
        </p:txBody>
      </p:sp>
      <p:sp>
        <p:nvSpPr>
          <p:cNvPr id="9" name="Shape 7"/>
          <p:cNvSpPr/>
          <p:nvPr/>
        </p:nvSpPr>
        <p:spPr>
          <a:xfrm>
            <a:off x="4319930" y="2231136"/>
            <a:ext cx="3551834" cy="3968496"/>
          </a:xfrm>
          <a:prstGeom prst="roundRect">
            <a:avLst>
              <a:gd name="adj" fmla="val 2317"/>
            </a:avLst>
          </a:prstGeom>
          <a:solidFill>
            <a:srgbClr val="FFFFFF"/>
          </a:solidFill>
          <a:ln w="12700">
            <a:solidFill>
              <a:srgbClr val="DCE6E8"/>
            </a:solidFill>
            <a:prstDash val="solid"/>
          </a:ln>
        </p:spPr>
      </p:sp>
      <p:sp>
        <p:nvSpPr>
          <p:cNvPr id="10" name="Text 8"/>
          <p:cNvSpPr/>
          <p:nvPr/>
        </p:nvSpPr>
        <p:spPr>
          <a:xfrm>
            <a:off x="4539386" y="2359152"/>
            <a:ext cx="3112922" cy="310896"/>
          </a:xfrm>
          <a:prstGeom prst="rect">
            <a:avLst/>
          </a:prstGeom>
          <a:noFill/>
          <a:ln/>
        </p:spPr>
        <p:txBody>
          <a:bodyPr wrap="square" lIns="0" tIns="0" rIns="0" bIns="0" rtlCol="0" anchor="ctr"/>
          <a:lstStyle/>
          <a:p>
            <a:pPr indent="0" marL="0">
              <a:buNone/>
            </a:pPr>
            <a:r>
              <a:rPr lang="en-US" sz="1850" b="1" dirty="0">
                <a:solidFill>
                  <a:srgbClr val="025462"/>
                </a:solidFill>
                <a:latin typeface="Calibri" pitchFamily="34" charset="0"/>
                <a:ea typeface="Calibri" pitchFamily="34" charset="-122"/>
                <a:cs typeface="Calibri" pitchFamily="34" charset="-120"/>
              </a:rPr>
              <a:t>Velcro adjustable wraps</a:t>
            </a:r>
            <a:endParaRPr lang="en-US" sz="1850" dirty="0"/>
          </a:p>
        </p:txBody>
      </p:sp>
      <p:sp>
        <p:nvSpPr>
          <p:cNvPr id="11" name="Text 9"/>
          <p:cNvSpPr/>
          <p:nvPr/>
        </p:nvSpPr>
        <p:spPr>
          <a:xfrm>
            <a:off x="4539386" y="2743200"/>
            <a:ext cx="3112922" cy="3291840"/>
          </a:xfrm>
          <a:prstGeom prst="rect">
            <a:avLst/>
          </a:prstGeom>
          <a:noFill/>
          <a:ln/>
        </p:spPr>
        <p:txBody>
          <a:bodyPr wrap="square" lIns="0" tIns="0" rIns="0" bIns="0" rtlCol="0" anchor="t"/>
          <a:lstStyle/>
          <a:p>
            <a:pPr marL="190500" indent="-190500">
              <a:spcAft>
                <a:spcPts val="600"/>
              </a:spcAft>
              <a:buSzPct val="100000"/>
              <a:buChar char="•"/>
            </a:pPr>
            <a:r>
              <a:rPr lang="en-US" sz="1700" dirty="0">
                <a:solidFill>
                  <a:srgbClr val="1B2A30"/>
                </a:solidFill>
                <a:latin typeface="Calibri" pitchFamily="34" charset="0"/>
                <a:ea typeface="Calibri" pitchFamily="34" charset="-122"/>
                <a:cs typeface="Calibri" pitchFamily="34" charset="-120"/>
              </a:rPr>
              <a:t>Inelastic, overlapping Velcro straps</a:t>
            </a:r>
            <a:endParaRPr lang="en-US" sz="1700" dirty="0"/>
          </a:p>
          <a:p>
            <a:pPr marL="190500" indent="-190500">
              <a:spcAft>
                <a:spcPts val="600"/>
              </a:spcAft>
              <a:buSzPct val="100000"/>
              <a:buChar char="•"/>
            </a:pPr>
            <a:r>
              <a:rPr lang="en-US" sz="1700" b="1" dirty="0">
                <a:solidFill>
                  <a:srgbClr val="1B2A30"/>
                </a:solidFill>
                <a:latin typeface="Calibri" pitchFamily="34" charset="0"/>
                <a:ea typeface="Calibri" pitchFamily="34" charset="-122"/>
                <a:cs typeface="Calibri" pitchFamily="34" charset="-120"/>
              </a:rPr>
              <a:t>Patient-adjustable</a:t>
            </a:r>
            <a:pPr indent="0" marL="0">
              <a:spcAft>
                <a:spcPts val="600"/>
              </a:spcAft>
              <a:buNone/>
            </a:pPr>
            <a:r>
              <a:rPr lang="en-US" sz="1700" dirty="0">
                <a:solidFill>
                  <a:srgbClr val="1B2A30"/>
                </a:solidFill>
                <a:latin typeface="Calibri" pitchFamily="34" charset="0"/>
                <a:ea typeface="Calibri" pitchFamily="34" charset="-122"/>
                <a:cs typeface="Calibri" pitchFamily="34" charset="-120"/>
              </a:rPr>
              <a:t> through the day</a:t>
            </a:r>
            <a:endParaRPr lang="en-US" sz="1700" dirty="0"/>
          </a:p>
          <a:p>
            <a:pPr marL="190500" indent="-190500">
              <a:spcAft>
                <a:spcPts val="600"/>
              </a:spcAft>
              <a:buSzPct val="100000"/>
              <a:buChar char="•"/>
            </a:pPr>
            <a:r>
              <a:rPr lang="en-US" sz="1700" dirty="0">
                <a:solidFill>
                  <a:srgbClr val="1B2A30"/>
                </a:solidFill>
                <a:latin typeface="Calibri" pitchFamily="34" charset="0"/>
                <a:ea typeface="Calibri" pitchFamily="34" charset="-122"/>
                <a:cs typeface="Calibri" pitchFamily="34" charset="-120"/>
              </a:rPr>
              <a:t>Far easier with arthritis, weak grip, or limited reach</a:t>
            </a:r>
            <a:endParaRPr lang="en-US" sz="1700" dirty="0"/>
          </a:p>
          <a:p>
            <a:pPr marL="190500" indent="-190500">
              <a:spcAft>
                <a:spcPts val="600"/>
              </a:spcAft>
              <a:buSzPct val="100000"/>
              <a:buChar char="•"/>
            </a:pPr>
            <a:r>
              <a:rPr lang="en-US" sz="1700" dirty="0">
                <a:solidFill>
                  <a:srgbClr val="1B2A30"/>
                </a:solidFill>
                <a:latin typeface="Calibri" pitchFamily="34" charset="0"/>
                <a:ea typeface="Calibri" pitchFamily="34" charset="-122"/>
                <a:cs typeface="Calibri" pitchFamily="34" charset="-120"/>
              </a:rPr>
              <a:t>Available for calf, foot/ankle, and upper limb</a:t>
            </a:r>
            <a:endParaRPr lang="en-US" sz="1700" dirty="0"/>
          </a:p>
          <a:p>
            <a:pPr marL="190500" indent="-190500">
              <a:spcAft>
                <a:spcPts val="600"/>
              </a:spcAft>
              <a:buSzPct val="100000"/>
              <a:buChar char="•"/>
            </a:pPr>
            <a:r>
              <a:rPr lang="en-US" sz="1700" dirty="0">
                <a:solidFill>
                  <a:srgbClr val="1B2A30"/>
                </a:solidFill>
                <a:latin typeface="Calibri" pitchFamily="34" charset="0"/>
                <a:ea typeface="Calibri" pitchFamily="34" charset="-122"/>
                <a:cs typeface="Calibri" pitchFamily="34" charset="-120"/>
              </a:rPr>
              <a:t>Juzo Wrap, Jobst FarrowWrap, Circaid</a:t>
            </a:r>
            <a:endParaRPr lang="en-US" sz="1700" dirty="0"/>
          </a:p>
        </p:txBody>
      </p:sp>
      <p:sp>
        <p:nvSpPr>
          <p:cNvPr id="12" name="Shape 10"/>
          <p:cNvSpPr/>
          <p:nvPr/>
        </p:nvSpPr>
        <p:spPr>
          <a:xfrm>
            <a:off x="8072933" y="2231136"/>
            <a:ext cx="3551834" cy="3968496"/>
          </a:xfrm>
          <a:prstGeom prst="roundRect">
            <a:avLst>
              <a:gd name="adj" fmla="val 2317"/>
            </a:avLst>
          </a:prstGeom>
          <a:solidFill>
            <a:srgbClr val="FFFFFF"/>
          </a:solidFill>
          <a:ln w="12700">
            <a:solidFill>
              <a:srgbClr val="DCE6E8"/>
            </a:solidFill>
            <a:prstDash val="solid"/>
          </a:ln>
        </p:spPr>
      </p:sp>
      <p:sp>
        <p:nvSpPr>
          <p:cNvPr id="13" name="Text 11"/>
          <p:cNvSpPr/>
          <p:nvPr/>
        </p:nvSpPr>
        <p:spPr>
          <a:xfrm>
            <a:off x="8292389" y="2359152"/>
            <a:ext cx="3112922" cy="310896"/>
          </a:xfrm>
          <a:prstGeom prst="rect">
            <a:avLst/>
          </a:prstGeom>
          <a:noFill/>
          <a:ln/>
        </p:spPr>
        <p:txBody>
          <a:bodyPr wrap="square" lIns="0" tIns="0" rIns="0" bIns="0" rtlCol="0" anchor="ctr"/>
          <a:lstStyle/>
          <a:p>
            <a:pPr indent="0" marL="0">
              <a:buNone/>
            </a:pPr>
            <a:r>
              <a:rPr lang="en-US" sz="1850" b="1" dirty="0">
                <a:solidFill>
                  <a:srgbClr val="025462"/>
                </a:solidFill>
                <a:latin typeface="Calibri" pitchFamily="34" charset="0"/>
                <a:ea typeface="Calibri" pitchFamily="34" charset="-122"/>
                <a:cs typeface="Calibri" pitchFamily="34" charset="-120"/>
              </a:rPr>
              <a:t>Flat-knit vs. circular-knit</a:t>
            </a:r>
            <a:endParaRPr lang="en-US" sz="1850" dirty="0"/>
          </a:p>
        </p:txBody>
      </p:sp>
      <p:sp>
        <p:nvSpPr>
          <p:cNvPr id="14" name="Text 12"/>
          <p:cNvSpPr/>
          <p:nvPr/>
        </p:nvSpPr>
        <p:spPr>
          <a:xfrm>
            <a:off x="8292389" y="2743200"/>
            <a:ext cx="3112922" cy="3291840"/>
          </a:xfrm>
          <a:prstGeom prst="rect">
            <a:avLst/>
          </a:prstGeom>
          <a:noFill/>
          <a:ln/>
        </p:spPr>
        <p:txBody>
          <a:bodyPr wrap="square" lIns="0" tIns="0" rIns="0" bIns="0" rtlCol="0" anchor="t"/>
          <a:lstStyle/>
          <a:p>
            <a:pPr marL="190500" indent="-190500">
              <a:spcAft>
                <a:spcPts val="600"/>
              </a:spcAft>
              <a:buSzPct val="100000"/>
              <a:buChar char="•"/>
            </a:pPr>
            <a:r>
              <a:rPr lang="en-US" sz="1700" b="1" dirty="0">
                <a:solidFill>
                  <a:srgbClr val="1B2A30"/>
                </a:solidFill>
                <a:latin typeface="Calibri" pitchFamily="34" charset="0"/>
                <a:ea typeface="Calibri" pitchFamily="34" charset="-122"/>
                <a:cs typeface="Calibri" pitchFamily="34" charset="-120"/>
              </a:rPr>
              <a:t>Flat-knit</a:t>
            </a:r>
            <a:pPr indent="0" marL="0">
              <a:spcAft>
                <a:spcPts val="600"/>
              </a:spcAft>
              <a:buNone/>
            </a:pPr>
            <a:r>
              <a:rPr lang="en-US" sz="1700" dirty="0">
                <a:solidFill>
                  <a:srgbClr val="1B2A30"/>
                </a:solidFill>
                <a:latin typeface="Calibri" pitchFamily="34" charset="0"/>
                <a:ea typeface="Calibri" pitchFamily="34" charset="-122"/>
                <a:cs typeface="Calibri" pitchFamily="34" charset="-120"/>
              </a:rPr>
              <a:t> — seamed, made to measure, stiffer. Preferred for lymphedema.</a:t>
            </a:r>
            <a:endParaRPr lang="en-US" sz="1700" dirty="0"/>
          </a:p>
          <a:p>
            <a:pPr marL="190500" indent="-190500">
              <a:spcAft>
                <a:spcPts val="600"/>
              </a:spcAft>
              <a:buSzPct val="100000"/>
              <a:buChar char="•"/>
            </a:pPr>
            <a:r>
              <a:rPr lang="en-US" sz="1700" b="1" dirty="0">
                <a:solidFill>
                  <a:srgbClr val="1B2A30"/>
                </a:solidFill>
                <a:latin typeface="Calibri" pitchFamily="34" charset="0"/>
                <a:ea typeface="Calibri" pitchFamily="34" charset="-122"/>
                <a:cs typeface="Calibri" pitchFamily="34" charset="-120"/>
              </a:rPr>
              <a:t>Circular-knit</a:t>
            </a:r>
            <a:pPr indent="0" marL="0">
              <a:spcAft>
                <a:spcPts val="600"/>
              </a:spcAft>
              <a:buNone/>
            </a:pPr>
            <a:r>
              <a:rPr lang="en-US" sz="1700" dirty="0">
                <a:solidFill>
                  <a:srgbClr val="1B2A30"/>
                </a:solidFill>
                <a:latin typeface="Calibri" pitchFamily="34" charset="0"/>
                <a:ea typeface="Calibri" pitchFamily="34" charset="-122"/>
                <a:cs typeface="Calibri" pitchFamily="34" charset="-120"/>
              </a:rPr>
              <a:t> — thinner, more cosmetic, tourniquets at folds</a:t>
            </a:r>
            <a:endParaRPr lang="en-US" sz="1700" dirty="0"/>
          </a:p>
          <a:p>
            <a:pPr marL="190500" indent="-190500">
              <a:spcAft>
                <a:spcPts val="600"/>
              </a:spcAft>
              <a:buSzPct val="100000"/>
              <a:buChar char="•"/>
            </a:pPr>
            <a:r>
              <a:rPr lang="en-US" sz="1700" dirty="0">
                <a:solidFill>
                  <a:srgbClr val="1B2A30"/>
                </a:solidFill>
                <a:latin typeface="Calibri" pitchFamily="34" charset="0"/>
                <a:ea typeface="Calibri" pitchFamily="34" charset="-122"/>
                <a:cs typeface="Calibri" pitchFamily="34" charset="-120"/>
              </a:rPr>
              <a:t>Any distortion, fibrosis, or deep folds → flat-knit</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26</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TREATMENT · LONG-TERM</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Custom Garments &amp; Prescribing</a:t>
            </a:r>
            <a:endParaRPr lang="en-US" sz="3400" dirty="0"/>
          </a:p>
        </p:txBody>
      </p:sp>
      <p:sp>
        <p:nvSpPr>
          <p:cNvPr id="5" name="Shape 3"/>
          <p:cNvSpPr/>
          <p:nvPr/>
        </p:nvSpPr>
        <p:spPr>
          <a:xfrm>
            <a:off x="566928" y="1627632"/>
            <a:ext cx="5400904" cy="4178808"/>
          </a:xfrm>
          <a:prstGeom prst="roundRect">
            <a:avLst>
              <a:gd name="adj" fmla="val 1969"/>
            </a:avLst>
          </a:prstGeom>
          <a:solidFill>
            <a:srgbClr val="FFFFFF"/>
          </a:solidFill>
          <a:ln w="12700">
            <a:solidFill>
              <a:srgbClr val="DCE6E8"/>
            </a:solidFill>
            <a:prstDash val="solid"/>
          </a:ln>
        </p:spPr>
      </p:sp>
      <p:sp>
        <p:nvSpPr>
          <p:cNvPr id="6" name="Text 4"/>
          <p:cNvSpPr/>
          <p:nvPr/>
        </p:nvSpPr>
        <p:spPr>
          <a:xfrm>
            <a:off x="804672" y="1773936"/>
            <a:ext cx="4925416" cy="310896"/>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Custom garments — when off-the-shelf will not do</a:t>
            </a:r>
            <a:endParaRPr lang="en-US" sz="2150" dirty="0"/>
          </a:p>
        </p:txBody>
      </p:sp>
      <p:sp>
        <p:nvSpPr>
          <p:cNvPr id="7" name="Text 5"/>
          <p:cNvSpPr/>
          <p:nvPr/>
        </p:nvSpPr>
        <p:spPr>
          <a:xfrm>
            <a:off x="804672" y="2176272"/>
            <a:ext cx="4925416" cy="3465576"/>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Measurements outside standard sizing</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Marked distortion, deep folds, lobules</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Toe caps, gauntlets, gloves, sleeves</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Compression bras</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for trunk and chest wall</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Genital, head and neck; 2–3 weeks to fabricate</a:t>
            </a:r>
            <a:endParaRPr lang="en-US" sz="2000" dirty="0"/>
          </a:p>
        </p:txBody>
      </p:sp>
      <p:sp>
        <p:nvSpPr>
          <p:cNvPr id="8" name="Shape 6"/>
          <p:cNvSpPr/>
          <p:nvPr/>
        </p:nvSpPr>
        <p:spPr>
          <a:xfrm>
            <a:off x="6223864" y="1627632"/>
            <a:ext cx="5400904" cy="4178808"/>
          </a:xfrm>
          <a:prstGeom prst="roundRect">
            <a:avLst>
              <a:gd name="adj" fmla="val 1969"/>
            </a:avLst>
          </a:prstGeom>
          <a:solidFill>
            <a:srgbClr val="FFFFFF"/>
          </a:solidFill>
          <a:ln w="12700">
            <a:solidFill>
              <a:srgbClr val="DCE6E8"/>
            </a:solidFill>
            <a:prstDash val="solid"/>
          </a:ln>
        </p:spPr>
      </p:sp>
      <p:sp>
        <p:nvSpPr>
          <p:cNvPr id="9" name="Text 7"/>
          <p:cNvSpPr/>
          <p:nvPr/>
        </p:nvSpPr>
        <p:spPr>
          <a:xfrm>
            <a:off x="6461608" y="1773936"/>
            <a:ext cx="4925416" cy="310896"/>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Practical prescribing</a:t>
            </a:r>
            <a:endParaRPr lang="en-US" sz="2150" dirty="0"/>
          </a:p>
        </p:txBody>
      </p:sp>
      <p:sp>
        <p:nvSpPr>
          <p:cNvPr id="10" name="Text 8"/>
          <p:cNvSpPr/>
          <p:nvPr/>
        </p:nvSpPr>
        <p:spPr>
          <a:xfrm>
            <a:off x="6461608" y="2176272"/>
            <a:ext cx="4925416" cy="3465576"/>
          </a:xfrm>
          <a:prstGeom prst="rect">
            <a:avLst/>
          </a:prstGeom>
          <a:noFill/>
          <a:ln/>
        </p:spPr>
        <p:txBody>
          <a:bodyPr wrap="square" lIns="0" tIns="0" rIns="0" bIns="0" rtlCol="0" anchor="t"/>
          <a:lstStyle/>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Two garments</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so one is always clean</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Replace every 4–6 months — elastic fatigues before it looks worn</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Check arterial status first; ABI &lt; 0.8 caution</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Donning aids: rubber gloves, donner, slip-sock</a:t>
            </a:r>
            <a:endParaRPr lang="en-US" sz="2000" dirty="0"/>
          </a:p>
        </p:txBody>
      </p:sp>
      <p:sp>
        <p:nvSpPr>
          <p:cNvPr id="11" name="Text 9"/>
          <p:cNvSpPr/>
          <p:nvPr/>
        </p:nvSpPr>
        <p:spPr>
          <a:xfrm>
            <a:off x="566928" y="5934456"/>
            <a:ext cx="11057839" cy="566928"/>
          </a:xfrm>
          <a:prstGeom prst="rect">
            <a:avLst/>
          </a:prstGeom>
          <a:noFill/>
          <a:ln/>
        </p:spPr>
        <p:txBody>
          <a:bodyPr wrap="square" lIns="0" tIns="0" rIns="0" bIns="0" rtlCol="0" anchor="t"/>
          <a:lstStyle/>
          <a:p>
            <a:pPr indent="0" marL="0">
              <a:buNone/>
            </a:pPr>
            <a:r>
              <a:rPr lang="en-US" sz="1100" i="1" dirty="0">
                <a:solidFill>
                  <a:srgbClr val="36454F"/>
                </a:solidFill>
                <a:latin typeface="Calibri" pitchFamily="34" charset="0"/>
                <a:ea typeface="Calibri" pitchFamily="34" charset="-122"/>
                <a:cs typeface="Calibri" pitchFamily="34" charset="-120"/>
              </a:rPr>
              <a:t>The most common cause of Phase II failure is not the wrong pressure class — it is a garment the patient cannot physically get on. Assess grip, reach, and vision before prescribing, and reach for an adjustable wrap when donning is the limiting factor.</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27</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TREATMENT · LONG-TERM</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Garment Types</a:t>
            </a:r>
            <a:endParaRPr lang="en-US" sz="3400" dirty="0"/>
          </a:p>
        </p:txBody>
      </p:sp>
      <p:pic>
        <p:nvPicPr>
          <p:cNvPr id="5" name="Image 0" descr="/home/claude/build/assets/photos/garment_thigh_high.jpg">    </p:cNvPr>
          <p:cNvPicPr>
            <a:picLocks noChangeAspect="1"/>
          </p:cNvPicPr>
          <p:nvPr/>
        </p:nvPicPr>
        <p:blipFill>
          <a:blip r:embed="rId1"/>
          <a:stretch>
            <a:fillRect/>
          </a:stretch>
        </p:blipFill>
        <p:spPr>
          <a:xfrm>
            <a:off x="1288232" y="1600200"/>
            <a:ext cx="2133611" cy="1824228"/>
          </a:xfrm>
          <a:prstGeom prst="rect">
            <a:avLst/>
          </a:prstGeom>
        </p:spPr>
      </p:pic>
      <p:sp>
        <p:nvSpPr>
          <p:cNvPr id="6" name="Text 3"/>
          <p:cNvSpPr/>
          <p:nvPr/>
        </p:nvSpPr>
        <p:spPr>
          <a:xfrm>
            <a:off x="566928" y="3479292"/>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Thigh-high with silicone band</a:t>
            </a:r>
            <a:endParaRPr lang="en-US" sz="950" dirty="0"/>
          </a:p>
        </p:txBody>
      </p:sp>
      <p:pic>
        <p:nvPicPr>
          <p:cNvPr id="7" name="Image 1" descr="/home/claude/build/assets/photos/garment_pantyhose.jpg">    </p:cNvPr>
          <p:cNvPicPr>
            <a:picLocks noChangeAspect="1"/>
          </p:cNvPicPr>
          <p:nvPr/>
        </p:nvPicPr>
        <p:blipFill>
          <a:blip r:embed="rId2"/>
          <a:stretch>
            <a:fillRect/>
          </a:stretch>
        </p:blipFill>
        <p:spPr>
          <a:xfrm>
            <a:off x="5170887" y="1600200"/>
            <a:ext cx="1849921" cy="1824228"/>
          </a:xfrm>
          <a:prstGeom prst="rect">
            <a:avLst/>
          </a:prstGeom>
        </p:spPr>
      </p:pic>
      <p:sp>
        <p:nvSpPr>
          <p:cNvPr id="8" name="Text 4"/>
          <p:cNvSpPr/>
          <p:nvPr/>
        </p:nvSpPr>
        <p:spPr>
          <a:xfrm>
            <a:off x="4307738" y="3479292"/>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Pantyhose / waist-high</a:t>
            </a:r>
            <a:endParaRPr lang="en-US" sz="950" dirty="0"/>
          </a:p>
        </p:txBody>
      </p:sp>
      <p:pic>
        <p:nvPicPr>
          <p:cNvPr id="9" name="Image 2" descr="/home/claude/build/assets/photos/garment_wrap_calf.jpg">    </p:cNvPr>
          <p:cNvPicPr>
            <a:picLocks noChangeAspect="1"/>
          </p:cNvPicPr>
          <p:nvPr/>
        </p:nvPicPr>
        <p:blipFill>
          <a:blip r:embed="rId3"/>
          <a:stretch>
            <a:fillRect/>
          </a:stretch>
        </p:blipFill>
        <p:spPr>
          <a:xfrm>
            <a:off x="8851873" y="1600200"/>
            <a:ext cx="1969570" cy="1824228"/>
          </a:xfrm>
          <a:prstGeom prst="rect">
            <a:avLst/>
          </a:prstGeom>
        </p:spPr>
      </p:pic>
      <p:sp>
        <p:nvSpPr>
          <p:cNvPr id="10" name="Text 5"/>
          <p:cNvSpPr/>
          <p:nvPr/>
        </p:nvSpPr>
        <p:spPr>
          <a:xfrm>
            <a:off x="8048549" y="3479292"/>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Velcro adjustable wrap — calf</a:t>
            </a:r>
            <a:endParaRPr lang="en-US" sz="950" dirty="0"/>
          </a:p>
        </p:txBody>
      </p:sp>
      <p:pic>
        <p:nvPicPr>
          <p:cNvPr id="11" name="Image 3" descr="/home/claude/build/assets/photos/garment_wrap_arm.jpg">    </p:cNvPr>
          <p:cNvPicPr>
            <a:picLocks noChangeAspect="1"/>
          </p:cNvPicPr>
          <p:nvPr/>
        </p:nvPicPr>
        <p:blipFill>
          <a:blip r:embed="rId4"/>
          <a:stretch>
            <a:fillRect/>
          </a:stretch>
        </p:blipFill>
        <p:spPr>
          <a:xfrm>
            <a:off x="1254210" y="4009644"/>
            <a:ext cx="2201654" cy="1824228"/>
          </a:xfrm>
          <a:prstGeom prst="rect">
            <a:avLst/>
          </a:prstGeom>
        </p:spPr>
      </p:pic>
      <p:sp>
        <p:nvSpPr>
          <p:cNvPr id="12" name="Text 6"/>
          <p:cNvSpPr/>
          <p:nvPr/>
        </p:nvSpPr>
        <p:spPr>
          <a:xfrm>
            <a:off x="566928" y="5888736"/>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Velcro adjustable wrap — upper limb</a:t>
            </a:r>
            <a:endParaRPr lang="en-US" sz="950" dirty="0"/>
          </a:p>
        </p:txBody>
      </p:sp>
      <p:pic>
        <p:nvPicPr>
          <p:cNvPr id="13" name="Image 4" descr="/home/claude/build/assets/photos/garment_wrap_foot.jpg">    </p:cNvPr>
          <p:cNvPicPr>
            <a:picLocks noChangeAspect="1"/>
          </p:cNvPicPr>
          <p:nvPr/>
        </p:nvPicPr>
        <p:blipFill>
          <a:blip r:embed="rId5"/>
          <a:stretch>
            <a:fillRect/>
          </a:stretch>
        </p:blipFill>
        <p:spPr>
          <a:xfrm>
            <a:off x="5112660" y="4009644"/>
            <a:ext cx="1966376" cy="1824228"/>
          </a:xfrm>
          <a:prstGeom prst="rect">
            <a:avLst/>
          </a:prstGeom>
        </p:spPr>
      </p:pic>
      <p:sp>
        <p:nvSpPr>
          <p:cNvPr id="14" name="Text 7"/>
          <p:cNvSpPr/>
          <p:nvPr/>
        </p:nvSpPr>
        <p:spPr>
          <a:xfrm>
            <a:off x="4307738" y="5888736"/>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Velcro adjustable wrap — foot and ankle</a:t>
            </a:r>
            <a:endParaRPr lang="en-US" sz="950" dirty="0"/>
          </a:p>
        </p:txBody>
      </p:sp>
      <p:pic>
        <p:nvPicPr>
          <p:cNvPr id="15" name="Image 5" descr="/home/claude/build/assets/photos/garment_bra.jpg">    </p:cNvPr>
          <p:cNvPicPr>
            <a:picLocks noChangeAspect="1"/>
          </p:cNvPicPr>
          <p:nvPr/>
        </p:nvPicPr>
        <p:blipFill>
          <a:blip r:embed="rId6"/>
          <a:stretch>
            <a:fillRect/>
          </a:stretch>
        </p:blipFill>
        <p:spPr>
          <a:xfrm>
            <a:off x="9063047" y="4009644"/>
            <a:ext cx="1547222" cy="1824228"/>
          </a:xfrm>
          <a:prstGeom prst="rect">
            <a:avLst/>
          </a:prstGeom>
        </p:spPr>
      </p:pic>
      <p:sp>
        <p:nvSpPr>
          <p:cNvPr id="16" name="Text 8"/>
          <p:cNvSpPr/>
          <p:nvPr/>
        </p:nvSpPr>
        <p:spPr>
          <a:xfrm>
            <a:off x="8048549" y="5888736"/>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Compression bra — trunk and chest wall</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28</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LIPEDEMA</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Lipedema — A Different Disease</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A chronic disorder of adipose tissue, almost exclusively affecting women, routinely misdiagnosed as obesity or lymphedema for years before recognition.</a:t>
            </a:r>
            <a:endParaRPr lang="en-US" sz="1650" dirty="0"/>
          </a:p>
        </p:txBody>
      </p:sp>
      <p:pic>
        <p:nvPicPr>
          <p:cNvPr id="6" name="Image 0" descr="/home/claude/build/assets/lipedema_cuff.png">    </p:cNvPr>
          <p:cNvPicPr>
            <a:picLocks noChangeAspect="1"/>
          </p:cNvPicPr>
          <p:nvPr/>
        </p:nvPicPr>
        <p:blipFill>
          <a:blip r:embed="rId1"/>
          <a:stretch>
            <a:fillRect/>
          </a:stretch>
        </p:blipFill>
        <p:spPr>
          <a:xfrm>
            <a:off x="6732727" y="2801699"/>
            <a:ext cx="4892040" cy="2333594"/>
          </a:xfrm>
          <a:prstGeom prst="rect">
            <a:avLst/>
          </a:prstGeom>
        </p:spPr>
      </p:pic>
      <p:sp>
        <p:nvSpPr>
          <p:cNvPr id="7" name="Shape 4"/>
          <p:cNvSpPr/>
          <p:nvPr/>
        </p:nvSpPr>
        <p:spPr>
          <a:xfrm>
            <a:off x="566928" y="2231136"/>
            <a:ext cx="5754319" cy="3133344"/>
          </a:xfrm>
          <a:prstGeom prst="roundRect">
            <a:avLst>
              <a:gd name="adj" fmla="val 2626"/>
            </a:avLst>
          </a:prstGeom>
          <a:solidFill>
            <a:srgbClr val="FFFFFF"/>
          </a:solidFill>
          <a:ln w="12700">
            <a:solidFill>
              <a:srgbClr val="DCE6E8"/>
            </a:solidFill>
            <a:prstDash val="solid"/>
          </a:ln>
        </p:spPr>
      </p:sp>
      <p:sp>
        <p:nvSpPr>
          <p:cNvPr id="8" name="Text 5"/>
          <p:cNvSpPr/>
          <p:nvPr/>
        </p:nvSpPr>
        <p:spPr>
          <a:xfrm>
            <a:off x="822960" y="2359152"/>
            <a:ext cx="5242255" cy="274320"/>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Defining features</a:t>
            </a:r>
            <a:endParaRPr lang="en-US" sz="2150" dirty="0"/>
          </a:p>
        </p:txBody>
      </p:sp>
      <p:sp>
        <p:nvSpPr>
          <p:cNvPr id="9" name="Text 6"/>
          <p:cNvSpPr/>
          <p:nvPr/>
        </p:nvSpPr>
        <p:spPr>
          <a:xfrm>
            <a:off x="822960" y="2706624"/>
            <a:ext cx="5242255" cy="2493264"/>
          </a:xfrm>
          <a:prstGeom prst="rect">
            <a:avLst/>
          </a:prstGeom>
          <a:noFill/>
          <a:ln/>
        </p:spPr>
        <p:txBody>
          <a:bodyPr wrap="square" lIns="0" tIns="0" rIns="0" bIns="0" rtlCol="0" anchor="t"/>
          <a:lstStyle/>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Bilateral and symmetrical</a:t>
            </a:r>
            <a:pPr indent="0" marL="0">
              <a:spcAft>
                <a:spcPts val="600"/>
              </a:spcAft>
              <a:buNone/>
            </a:pP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Painful</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tender to pressure. Diagnostic, not incidental.</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Bruises easily</a:t>
            </a:r>
            <a:pPr indent="0" marL="0">
              <a:spcAft>
                <a:spcPts val="600"/>
              </a:spcAft>
              <a:buNone/>
            </a:pP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Spares the feet</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sharp ankle cuff</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Diet-resistant</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negative Stemmer's</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29</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LIPEDEMA</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Lipedema — Clinical Appearance</a:t>
            </a:r>
            <a:endParaRPr lang="en-US" sz="3400" dirty="0"/>
          </a:p>
        </p:txBody>
      </p:sp>
      <p:pic>
        <p:nvPicPr>
          <p:cNvPr id="5" name="Image 0" descr="/home/claude/build/assets/photos/lip_clinical_legs.jpg">    </p:cNvPr>
          <p:cNvPicPr>
            <a:picLocks noChangeAspect="1"/>
          </p:cNvPicPr>
          <p:nvPr/>
        </p:nvPicPr>
        <p:blipFill>
          <a:blip r:embed="rId1"/>
          <a:stretch>
            <a:fillRect/>
          </a:stretch>
        </p:blipFill>
        <p:spPr>
          <a:xfrm>
            <a:off x="619055" y="1600200"/>
            <a:ext cx="3471965" cy="4233672"/>
          </a:xfrm>
          <a:prstGeom prst="rect">
            <a:avLst/>
          </a:prstGeom>
        </p:spPr>
      </p:pic>
      <p:sp>
        <p:nvSpPr>
          <p:cNvPr id="6" name="Text 3"/>
          <p:cNvSpPr/>
          <p:nvPr/>
        </p:nvSpPr>
        <p:spPr>
          <a:xfrm>
            <a:off x="566928" y="5888736"/>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Lipedema — note the ankle cuff and spared feet</a:t>
            </a:r>
            <a:endParaRPr lang="en-US" sz="950" dirty="0"/>
          </a:p>
        </p:txBody>
      </p:sp>
      <p:pic>
        <p:nvPicPr>
          <p:cNvPr id="7" name="Image 1" descr="/home/claude/build/assets/photos/lip_body_2.jpg">    </p:cNvPr>
          <p:cNvPicPr>
            <a:picLocks noChangeAspect="1"/>
          </p:cNvPicPr>
          <p:nvPr/>
        </p:nvPicPr>
        <p:blipFill>
          <a:blip r:embed="rId2"/>
          <a:stretch>
            <a:fillRect/>
          </a:stretch>
        </p:blipFill>
        <p:spPr>
          <a:xfrm>
            <a:off x="4323613" y="1600200"/>
            <a:ext cx="3544470" cy="4233672"/>
          </a:xfrm>
          <a:prstGeom prst="rect">
            <a:avLst/>
          </a:prstGeom>
        </p:spPr>
      </p:pic>
      <p:sp>
        <p:nvSpPr>
          <p:cNvPr id="8" name="Text 4"/>
          <p:cNvSpPr/>
          <p:nvPr/>
        </p:nvSpPr>
        <p:spPr>
          <a:xfrm>
            <a:off x="4307738" y="5888736"/>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Disproportionate lower-body distribution</a:t>
            </a:r>
            <a:endParaRPr lang="en-US" sz="950" dirty="0"/>
          </a:p>
        </p:txBody>
      </p:sp>
      <p:pic>
        <p:nvPicPr>
          <p:cNvPr id="9" name="Image 2" descr="/home/claude/build/assets/photos/lip_before_front.jpg">    </p:cNvPr>
          <p:cNvPicPr>
            <a:picLocks noChangeAspect="1"/>
          </p:cNvPicPr>
          <p:nvPr/>
        </p:nvPicPr>
        <p:blipFill>
          <a:blip r:embed="rId3"/>
          <a:stretch>
            <a:fillRect/>
          </a:stretch>
        </p:blipFill>
        <p:spPr>
          <a:xfrm>
            <a:off x="8272040" y="1600200"/>
            <a:ext cx="3129236" cy="4233672"/>
          </a:xfrm>
          <a:prstGeom prst="rect">
            <a:avLst/>
          </a:prstGeom>
        </p:spPr>
      </p:pic>
      <p:sp>
        <p:nvSpPr>
          <p:cNvPr id="10" name="Text 5"/>
          <p:cNvSpPr/>
          <p:nvPr/>
        </p:nvSpPr>
        <p:spPr>
          <a:xfrm>
            <a:off x="8048549" y="5888736"/>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Before diagnosis — anterior</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30</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LIPEDEMA</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Lipedema — Etiology &amp; Misdiagnosis</a:t>
            </a:r>
            <a:endParaRPr lang="en-US" sz="3400" dirty="0"/>
          </a:p>
        </p:txBody>
      </p:sp>
      <p:sp>
        <p:nvSpPr>
          <p:cNvPr id="5" name="Shape 3"/>
          <p:cNvSpPr/>
          <p:nvPr/>
        </p:nvSpPr>
        <p:spPr>
          <a:xfrm>
            <a:off x="566928" y="1892808"/>
            <a:ext cx="5428336" cy="2733040"/>
          </a:xfrm>
          <a:prstGeom prst="roundRect">
            <a:avLst>
              <a:gd name="adj" fmla="val 3011"/>
            </a:avLst>
          </a:prstGeom>
          <a:solidFill>
            <a:srgbClr val="FFFFFF"/>
          </a:solidFill>
          <a:ln w="12700">
            <a:solidFill>
              <a:srgbClr val="DCE6E8"/>
            </a:solidFill>
            <a:prstDash val="solid"/>
          </a:ln>
        </p:spPr>
      </p:sp>
      <p:sp>
        <p:nvSpPr>
          <p:cNvPr id="6" name="Text 4"/>
          <p:cNvSpPr/>
          <p:nvPr/>
        </p:nvSpPr>
        <p:spPr>
          <a:xfrm>
            <a:off x="786384" y="2020824"/>
            <a:ext cx="4989424"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Etiology</a:t>
            </a:r>
            <a:endParaRPr lang="en-US" sz="2150" dirty="0"/>
          </a:p>
        </p:txBody>
      </p:sp>
      <p:sp>
        <p:nvSpPr>
          <p:cNvPr id="7" name="Text 5"/>
          <p:cNvSpPr/>
          <p:nvPr/>
        </p:nvSpPr>
        <p:spPr>
          <a:xfrm>
            <a:off x="786384" y="2386584"/>
            <a:ext cx="4989424" cy="2074672"/>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Cause unknown; strong familial pattern</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Hormonally triggered</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puberty, pregnancy, menopause</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Evidence points to a connective tissue component</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Reported in up to ~11% of women</a:t>
            </a:r>
            <a:endParaRPr lang="en-US" sz="2000" dirty="0"/>
          </a:p>
        </p:txBody>
      </p:sp>
      <p:sp>
        <p:nvSpPr>
          <p:cNvPr id="8" name="Shape 6"/>
          <p:cNvSpPr/>
          <p:nvPr/>
        </p:nvSpPr>
        <p:spPr>
          <a:xfrm>
            <a:off x="6196432" y="1892808"/>
            <a:ext cx="5428336" cy="2733040"/>
          </a:xfrm>
          <a:prstGeom prst="roundRect">
            <a:avLst>
              <a:gd name="adj" fmla="val 3011"/>
            </a:avLst>
          </a:prstGeom>
          <a:solidFill>
            <a:srgbClr val="FFFFFF"/>
          </a:solidFill>
          <a:ln w="12700">
            <a:solidFill>
              <a:srgbClr val="DCE6E8"/>
            </a:solidFill>
            <a:prstDash val="solid"/>
          </a:ln>
        </p:spPr>
      </p:sp>
      <p:sp>
        <p:nvSpPr>
          <p:cNvPr id="9" name="Text 7"/>
          <p:cNvSpPr/>
          <p:nvPr/>
        </p:nvSpPr>
        <p:spPr>
          <a:xfrm>
            <a:off x="6415888" y="2020824"/>
            <a:ext cx="4989424"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Why the misdiagnosis matters</a:t>
            </a:r>
            <a:endParaRPr lang="en-US" sz="2150" dirty="0"/>
          </a:p>
        </p:txBody>
      </p:sp>
      <p:sp>
        <p:nvSpPr>
          <p:cNvPr id="10" name="Text 8"/>
          <p:cNvSpPr/>
          <p:nvPr/>
        </p:nvSpPr>
        <p:spPr>
          <a:xfrm>
            <a:off x="6415888" y="2386584"/>
            <a:ext cx="4989424" cy="2074672"/>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Patients are told to lose weight — it does not work</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Years of shame and ineffective treatment</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Delay allows progression to lymphatic involvement</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A correct diagnosis is itself therapeutic</a:t>
            </a:r>
            <a:pPr indent="0" marL="0">
              <a:spcAft>
                <a:spcPts val="600"/>
              </a:spcAft>
              <a:buNone/>
            </a:pP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31</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LIPEDEMA</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Lipedema Staging — Stages 1 &amp; 2</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Classically staged 1 through 3 by skin and tissue architecture. A fourth stage — lipo-lymphedema — is widely used clinically but is contested.</a:t>
            </a:r>
            <a:endParaRPr lang="en-US" sz="1650" dirty="0"/>
          </a:p>
        </p:txBody>
      </p:sp>
      <p:sp>
        <p:nvSpPr>
          <p:cNvPr id="6" name="Shape 4"/>
          <p:cNvSpPr/>
          <p:nvPr/>
        </p:nvSpPr>
        <p:spPr>
          <a:xfrm>
            <a:off x="566928" y="2231136"/>
            <a:ext cx="5391760" cy="3246120"/>
          </a:xfrm>
          <a:prstGeom prst="roundRect">
            <a:avLst>
              <a:gd name="adj" fmla="val 2535"/>
            </a:avLst>
          </a:prstGeom>
          <a:solidFill>
            <a:srgbClr val="FFFFFF"/>
          </a:solidFill>
          <a:ln w="12700">
            <a:solidFill>
              <a:srgbClr val="DCE6E8"/>
            </a:solidFill>
            <a:prstDash val="solid"/>
          </a:ln>
        </p:spPr>
      </p:sp>
      <p:sp>
        <p:nvSpPr>
          <p:cNvPr id="7" name="Shape 5"/>
          <p:cNvSpPr/>
          <p:nvPr/>
        </p:nvSpPr>
        <p:spPr>
          <a:xfrm>
            <a:off x="822960" y="2414016"/>
            <a:ext cx="1051560" cy="329184"/>
          </a:xfrm>
          <a:prstGeom prst="roundRect">
            <a:avLst>
              <a:gd name="adj" fmla="val 50000"/>
            </a:avLst>
          </a:prstGeom>
          <a:solidFill>
            <a:srgbClr val="028090"/>
          </a:solidFill>
          <a:ln w="12700">
            <a:solidFill>
              <a:srgbClr val="028090"/>
            </a:solidFill>
            <a:prstDash val="solid"/>
          </a:ln>
        </p:spPr>
      </p:sp>
      <p:sp>
        <p:nvSpPr>
          <p:cNvPr id="8" name="Text 6"/>
          <p:cNvSpPr/>
          <p:nvPr/>
        </p:nvSpPr>
        <p:spPr>
          <a:xfrm>
            <a:off x="822960" y="2414016"/>
            <a:ext cx="10515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1</a:t>
            </a:r>
            <a:endParaRPr lang="en-US" sz="1100" dirty="0"/>
          </a:p>
        </p:txBody>
      </p:sp>
      <p:sp>
        <p:nvSpPr>
          <p:cNvPr id="9" name="Text 7"/>
          <p:cNvSpPr/>
          <p:nvPr/>
        </p:nvSpPr>
        <p:spPr>
          <a:xfrm>
            <a:off x="1984248" y="2414016"/>
            <a:ext cx="3700120" cy="329184"/>
          </a:xfrm>
          <a:prstGeom prst="rect">
            <a:avLst/>
          </a:prstGeom>
          <a:noFill/>
          <a:ln/>
        </p:spPr>
        <p:txBody>
          <a:bodyPr wrap="square" lIns="0" tIns="0" rIns="0" bIns="0" rtlCol="0" anchor="ctr"/>
          <a:lstStyle/>
          <a:p>
            <a:pPr indent="0" marL="0">
              <a:buNone/>
            </a:pPr>
            <a:r>
              <a:rPr lang="en-US" sz="1400" b="1" dirty="0">
                <a:solidFill>
                  <a:srgbClr val="025462"/>
                </a:solidFill>
                <a:latin typeface="Calibri" pitchFamily="34" charset="0"/>
                <a:ea typeface="Calibri" pitchFamily="34" charset="-122"/>
                <a:cs typeface="Calibri" pitchFamily="34" charset="-120"/>
              </a:rPr>
              <a:t>Smooth skin surface</a:t>
            </a:r>
            <a:endParaRPr lang="en-US" sz="1400" dirty="0"/>
          </a:p>
        </p:txBody>
      </p:sp>
      <p:sp>
        <p:nvSpPr>
          <p:cNvPr id="10" name="Text 8"/>
          <p:cNvSpPr/>
          <p:nvPr/>
        </p:nvSpPr>
        <p:spPr>
          <a:xfrm>
            <a:off x="822960" y="2889504"/>
            <a:ext cx="4879696" cy="2423160"/>
          </a:xfrm>
          <a:prstGeom prst="rect">
            <a:avLst/>
          </a:prstGeom>
          <a:noFill/>
          <a:ln/>
        </p:spPr>
        <p:txBody>
          <a:bodyPr wrap="square" lIns="0" tIns="0" rIns="0" bIns="0" rtlCol="0" anchor="t"/>
          <a:lstStyle/>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Skin surface normal and smooth</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Enlarged hypodermis; homogeneous thickening of subcutaneous tissue</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Fat is often soft; small nodules may be palpable — described as rice-like or pearl-sized</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Fat accumulation around pelvis, buttocks, and hips</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Limbs tender and prone to bruising</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Swelling may improve with rest and elevation</a:t>
            </a:r>
            <a:endParaRPr lang="en-US" sz="1150" dirty="0"/>
          </a:p>
        </p:txBody>
      </p:sp>
      <p:sp>
        <p:nvSpPr>
          <p:cNvPr id="11" name="Shape 9"/>
          <p:cNvSpPr/>
          <p:nvPr/>
        </p:nvSpPr>
        <p:spPr>
          <a:xfrm>
            <a:off x="6233008" y="2231136"/>
            <a:ext cx="5391760" cy="3246120"/>
          </a:xfrm>
          <a:prstGeom prst="roundRect">
            <a:avLst>
              <a:gd name="adj" fmla="val 2535"/>
            </a:avLst>
          </a:prstGeom>
          <a:solidFill>
            <a:srgbClr val="FFFFFF"/>
          </a:solidFill>
          <a:ln w="12700">
            <a:solidFill>
              <a:srgbClr val="DCE6E8"/>
            </a:solidFill>
            <a:prstDash val="solid"/>
          </a:ln>
        </p:spPr>
      </p:sp>
      <p:sp>
        <p:nvSpPr>
          <p:cNvPr id="12" name="Shape 10"/>
          <p:cNvSpPr/>
          <p:nvPr/>
        </p:nvSpPr>
        <p:spPr>
          <a:xfrm>
            <a:off x="6489040" y="2414016"/>
            <a:ext cx="1051560" cy="329184"/>
          </a:xfrm>
          <a:prstGeom prst="roundRect">
            <a:avLst>
              <a:gd name="adj" fmla="val 50000"/>
            </a:avLst>
          </a:prstGeom>
          <a:solidFill>
            <a:srgbClr val="028090"/>
          </a:solidFill>
          <a:ln w="12700">
            <a:solidFill>
              <a:srgbClr val="028090"/>
            </a:solidFill>
            <a:prstDash val="solid"/>
          </a:ln>
        </p:spPr>
      </p:sp>
      <p:sp>
        <p:nvSpPr>
          <p:cNvPr id="13" name="Text 11"/>
          <p:cNvSpPr/>
          <p:nvPr/>
        </p:nvSpPr>
        <p:spPr>
          <a:xfrm>
            <a:off x="6489040" y="2414016"/>
            <a:ext cx="10515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2</a:t>
            </a:r>
            <a:endParaRPr lang="en-US" sz="1100" dirty="0"/>
          </a:p>
        </p:txBody>
      </p:sp>
      <p:sp>
        <p:nvSpPr>
          <p:cNvPr id="14" name="Text 12"/>
          <p:cNvSpPr/>
          <p:nvPr/>
        </p:nvSpPr>
        <p:spPr>
          <a:xfrm>
            <a:off x="7650328" y="2414016"/>
            <a:ext cx="3700120" cy="329184"/>
          </a:xfrm>
          <a:prstGeom prst="rect">
            <a:avLst/>
          </a:prstGeom>
          <a:noFill/>
          <a:ln/>
        </p:spPr>
        <p:txBody>
          <a:bodyPr wrap="square" lIns="0" tIns="0" rIns="0" bIns="0" rtlCol="0" anchor="ctr"/>
          <a:lstStyle/>
          <a:p>
            <a:pPr indent="0" marL="0">
              <a:buNone/>
            </a:pPr>
            <a:r>
              <a:rPr lang="en-US" sz="1400" b="1" dirty="0">
                <a:solidFill>
                  <a:srgbClr val="025462"/>
                </a:solidFill>
                <a:latin typeface="Calibri" pitchFamily="34" charset="0"/>
                <a:ea typeface="Calibri" pitchFamily="34" charset="-122"/>
                <a:cs typeface="Calibri" pitchFamily="34" charset="-120"/>
              </a:rPr>
              <a:t>Uneven, dimpled skin</a:t>
            </a:r>
            <a:endParaRPr lang="en-US" sz="1400" dirty="0"/>
          </a:p>
        </p:txBody>
      </p:sp>
      <p:sp>
        <p:nvSpPr>
          <p:cNvPr id="15" name="Text 13"/>
          <p:cNvSpPr/>
          <p:nvPr/>
        </p:nvSpPr>
        <p:spPr>
          <a:xfrm>
            <a:off x="6489040" y="2889504"/>
            <a:ext cx="4879696" cy="2423160"/>
          </a:xfrm>
          <a:prstGeom prst="rect">
            <a:avLst/>
          </a:prstGeom>
          <a:noFill/>
          <a:ln/>
        </p:spPr>
        <p:txBody>
          <a:bodyPr wrap="square" lIns="0" tIns="0" rIns="0" bIns="0" rtlCol="0" anchor="t"/>
          <a:lstStyle/>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Skin surface becomes bumpy and wave-like with indentations</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Nodular structures in the thickened subcutis — lipomas, angiolipomas</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Subcutaneous tissue feels tougher and more nodular</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Fat build-up extends down the legs toward the ankles</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Swelling less responsive to rest and elevation than Stage 1</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Symptoms range from mild to severe</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32</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LIPEDEMA</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Lipedema Staging — Stage 3 &amp; Lipo-lymphedema</a:t>
            </a:r>
            <a:endParaRPr lang="en-US" sz="3400" dirty="0"/>
          </a:p>
        </p:txBody>
      </p:sp>
      <p:sp>
        <p:nvSpPr>
          <p:cNvPr id="5" name="Shape 3"/>
          <p:cNvSpPr/>
          <p:nvPr/>
        </p:nvSpPr>
        <p:spPr>
          <a:xfrm>
            <a:off x="566928" y="1691640"/>
            <a:ext cx="5391760" cy="3200400"/>
          </a:xfrm>
          <a:prstGeom prst="roundRect">
            <a:avLst>
              <a:gd name="adj" fmla="val 2571"/>
            </a:avLst>
          </a:prstGeom>
          <a:solidFill>
            <a:srgbClr val="FFFFFF"/>
          </a:solidFill>
          <a:ln w="12700">
            <a:solidFill>
              <a:srgbClr val="DCE6E8"/>
            </a:solidFill>
            <a:prstDash val="solid"/>
          </a:ln>
        </p:spPr>
      </p:sp>
      <p:sp>
        <p:nvSpPr>
          <p:cNvPr id="6" name="Shape 4"/>
          <p:cNvSpPr/>
          <p:nvPr/>
        </p:nvSpPr>
        <p:spPr>
          <a:xfrm>
            <a:off x="822960" y="1874520"/>
            <a:ext cx="1051560" cy="329184"/>
          </a:xfrm>
          <a:prstGeom prst="roundRect">
            <a:avLst>
              <a:gd name="adj" fmla="val 50000"/>
            </a:avLst>
          </a:prstGeom>
          <a:solidFill>
            <a:srgbClr val="028090"/>
          </a:solidFill>
          <a:ln w="12700">
            <a:solidFill>
              <a:srgbClr val="028090"/>
            </a:solidFill>
            <a:prstDash val="solid"/>
          </a:ln>
        </p:spPr>
      </p:sp>
      <p:sp>
        <p:nvSpPr>
          <p:cNvPr id="7" name="Text 5"/>
          <p:cNvSpPr/>
          <p:nvPr/>
        </p:nvSpPr>
        <p:spPr>
          <a:xfrm>
            <a:off x="822960" y="1874520"/>
            <a:ext cx="10515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3</a:t>
            </a:r>
            <a:endParaRPr lang="en-US" sz="1100" dirty="0"/>
          </a:p>
        </p:txBody>
      </p:sp>
      <p:sp>
        <p:nvSpPr>
          <p:cNvPr id="8" name="Text 6"/>
          <p:cNvSpPr/>
          <p:nvPr/>
        </p:nvSpPr>
        <p:spPr>
          <a:xfrm>
            <a:off x="1984248" y="1874520"/>
            <a:ext cx="3700120" cy="329184"/>
          </a:xfrm>
          <a:prstGeom prst="rect">
            <a:avLst/>
          </a:prstGeom>
          <a:noFill/>
          <a:ln/>
        </p:spPr>
        <p:txBody>
          <a:bodyPr wrap="square" lIns="0" tIns="0" rIns="0" bIns="0" rtlCol="0" anchor="ctr"/>
          <a:lstStyle/>
          <a:p>
            <a:pPr indent="0" marL="0">
              <a:buNone/>
            </a:pPr>
            <a:r>
              <a:rPr lang="en-US" sz="1400" b="1" dirty="0">
                <a:solidFill>
                  <a:srgbClr val="025462"/>
                </a:solidFill>
                <a:latin typeface="Calibri" pitchFamily="34" charset="0"/>
                <a:ea typeface="Calibri" pitchFamily="34" charset="-122"/>
                <a:cs typeface="Calibri" pitchFamily="34" charset="-120"/>
              </a:rPr>
              <a:t>Large deformations</a:t>
            </a:r>
            <a:endParaRPr lang="en-US" sz="1400" dirty="0"/>
          </a:p>
        </p:txBody>
      </p:sp>
      <p:sp>
        <p:nvSpPr>
          <p:cNvPr id="9" name="Text 7"/>
          <p:cNvSpPr/>
          <p:nvPr/>
        </p:nvSpPr>
        <p:spPr>
          <a:xfrm>
            <a:off x="822960" y="2350008"/>
            <a:ext cx="4879696" cy="2377440"/>
          </a:xfrm>
          <a:prstGeom prst="rect">
            <a:avLst/>
          </a:prstGeom>
          <a:noFill/>
          <a:ln/>
        </p:spPr>
        <p:txBody>
          <a:bodyPr wrap="square" lIns="0" tIns="0" rIns="0" bIns="0" rtlCol="0" anchor="t"/>
          <a:lstStyle/>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Further hardening of connective tissue</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Bulky, overhanging extrusions of skin and fat</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Marked deformation of thighs and around the knees</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Persistent swelling not resolving with rest or elevation</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Mobility significantly impaired; highest rate of orthopedic complication</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May be associated with secondary lymphedema</a:t>
            </a:r>
            <a:endParaRPr lang="en-US" sz="1150" dirty="0"/>
          </a:p>
        </p:txBody>
      </p:sp>
      <p:sp>
        <p:nvSpPr>
          <p:cNvPr id="10" name="Shape 8"/>
          <p:cNvSpPr/>
          <p:nvPr/>
        </p:nvSpPr>
        <p:spPr>
          <a:xfrm>
            <a:off x="6233008" y="1691640"/>
            <a:ext cx="5391760" cy="3200400"/>
          </a:xfrm>
          <a:prstGeom prst="roundRect">
            <a:avLst>
              <a:gd name="adj" fmla="val 2571"/>
            </a:avLst>
          </a:prstGeom>
          <a:solidFill>
            <a:srgbClr val="FFFFFF"/>
          </a:solidFill>
          <a:ln w="12700">
            <a:solidFill>
              <a:srgbClr val="DCE6E8"/>
            </a:solidFill>
            <a:prstDash val="solid"/>
          </a:ln>
        </p:spPr>
      </p:sp>
      <p:sp>
        <p:nvSpPr>
          <p:cNvPr id="11" name="Shape 9"/>
          <p:cNvSpPr/>
          <p:nvPr/>
        </p:nvSpPr>
        <p:spPr>
          <a:xfrm>
            <a:off x="6489040" y="1874520"/>
            <a:ext cx="1051560" cy="329184"/>
          </a:xfrm>
          <a:prstGeom prst="roundRect">
            <a:avLst>
              <a:gd name="adj" fmla="val 50000"/>
            </a:avLst>
          </a:prstGeom>
          <a:solidFill>
            <a:srgbClr val="028090"/>
          </a:solidFill>
          <a:ln w="12700">
            <a:solidFill>
              <a:srgbClr val="028090"/>
            </a:solidFill>
            <a:prstDash val="solid"/>
          </a:ln>
        </p:spPr>
      </p:sp>
      <p:sp>
        <p:nvSpPr>
          <p:cNvPr id="12" name="Text 10"/>
          <p:cNvSpPr/>
          <p:nvPr/>
        </p:nvSpPr>
        <p:spPr>
          <a:xfrm>
            <a:off x="6489040" y="1874520"/>
            <a:ext cx="10515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4</a:t>
            </a:r>
            <a:endParaRPr lang="en-US" sz="1100" dirty="0"/>
          </a:p>
        </p:txBody>
      </p:sp>
      <p:sp>
        <p:nvSpPr>
          <p:cNvPr id="13" name="Text 11"/>
          <p:cNvSpPr/>
          <p:nvPr/>
        </p:nvSpPr>
        <p:spPr>
          <a:xfrm>
            <a:off x="7650328" y="1874520"/>
            <a:ext cx="3700120" cy="329184"/>
          </a:xfrm>
          <a:prstGeom prst="rect">
            <a:avLst/>
          </a:prstGeom>
          <a:noFill/>
          <a:ln/>
        </p:spPr>
        <p:txBody>
          <a:bodyPr wrap="square" lIns="0" tIns="0" rIns="0" bIns="0" rtlCol="0" anchor="ctr"/>
          <a:lstStyle/>
          <a:p>
            <a:pPr indent="0" marL="0">
              <a:buNone/>
            </a:pPr>
            <a:r>
              <a:rPr lang="en-US" sz="1400" b="1" dirty="0">
                <a:solidFill>
                  <a:srgbClr val="025462"/>
                </a:solidFill>
                <a:latin typeface="Calibri" pitchFamily="34" charset="0"/>
                <a:ea typeface="Calibri" pitchFamily="34" charset="-122"/>
                <a:cs typeface="Calibri" pitchFamily="34" charset="-120"/>
              </a:rPr>
              <a:t>Lipo-lymphedema</a:t>
            </a:r>
            <a:endParaRPr lang="en-US" sz="1400" dirty="0"/>
          </a:p>
        </p:txBody>
      </p:sp>
      <p:sp>
        <p:nvSpPr>
          <p:cNvPr id="14" name="Text 12"/>
          <p:cNvSpPr/>
          <p:nvPr/>
        </p:nvSpPr>
        <p:spPr>
          <a:xfrm>
            <a:off x="6489040" y="2350008"/>
            <a:ext cx="4879696" cy="2377440"/>
          </a:xfrm>
          <a:prstGeom prst="rect">
            <a:avLst/>
          </a:prstGeom>
          <a:noFill/>
          <a:ln/>
        </p:spPr>
        <p:txBody>
          <a:bodyPr wrap="square" lIns="0" tIns="0" rIns="0" bIns="0" rtlCol="0" anchor="t"/>
          <a:lstStyle/>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Lipedema plus secondary lymphedema in the same limbs</a:t>
            </a:r>
            <a:endParaRPr lang="en-US" sz="1150" dirty="0"/>
          </a:p>
          <a:p>
            <a:pPr marL="190500" indent="-190500">
              <a:spcAft>
                <a:spcPts val="600"/>
              </a:spcAft>
              <a:buSzPct val="100000"/>
              <a:buChar char="•"/>
            </a:pPr>
            <a:r>
              <a:rPr lang="en-US" sz="1150" b="1" dirty="0">
                <a:solidFill>
                  <a:srgbClr val="1B2A30"/>
                </a:solidFill>
                <a:latin typeface="Calibri" pitchFamily="34" charset="0"/>
                <a:ea typeface="Calibri" pitchFamily="34" charset="-122"/>
                <a:cs typeface="Calibri" pitchFamily="34" charset="-120"/>
              </a:rPr>
              <a:t>The feet begin to swell</a:t>
            </a:r>
            <a:pPr indent="0" marL="0">
              <a:spcAft>
                <a:spcPts val="600"/>
              </a:spcAft>
              <a:buNone/>
            </a:pPr>
            <a:r>
              <a:rPr lang="en-US" sz="1150" dirty="0">
                <a:solidFill>
                  <a:srgbClr val="1B2A30"/>
                </a:solidFill>
                <a:latin typeface="Calibri" pitchFamily="34" charset="0"/>
                <a:ea typeface="Calibri" pitchFamily="34" charset="-122"/>
                <a:cs typeface="Calibri" pitchFamily="34" charset="-120"/>
              </a:rPr>
              <a:t> — the defining change</a:t>
            </a:r>
            <a:endParaRPr lang="en-US" sz="1150" dirty="0"/>
          </a:p>
          <a:p>
            <a:pPr marL="190500" indent="-190500">
              <a:spcAft>
                <a:spcPts val="600"/>
              </a:spcAft>
              <a:buSzPct val="100000"/>
              <a:buChar char="•"/>
            </a:pPr>
            <a:r>
              <a:rPr lang="en-US" sz="1150" b="1" dirty="0">
                <a:solidFill>
                  <a:srgbClr val="1B2A30"/>
                </a:solidFill>
                <a:latin typeface="Calibri" pitchFamily="34" charset="0"/>
                <a:ea typeface="Calibri" pitchFamily="34" charset="-122"/>
                <a:cs typeface="Calibri" pitchFamily="34" charset="-120"/>
              </a:rPr>
              <a:t>Stemmer's sign becomes positive</a:t>
            </a:r>
            <a:pPr indent="0" marL="0">
              <a:spcAft>
                <a:spcPts val="600"/>
              </a:spcAft>
              <a:buNone/>
            </a:pP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Skin over the toes thickens; pitting appears</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Diagnosis moves from lipedema to lipo-lymphedema</a:t>
            </a:r>
            <a:endParaRPr lang="en-US" sz="1150" dirty="0"/>
          </a:p>
          <a:p>
            <a:pPr marL="190500" indent="-1905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Lymphoscintigraphy can document the degree of drainage impairment</a:t>
            </a:r>
            <a:endParaRPr lang="en-US" sz="1150" dirty="0"/>
          </a:p>
        </p:txBody>
      </p:sp>
      <p:sp>
        <p:nvSpPr>
          <p:cNvPr id="15" name="Text 13"/>
          <p:cNvSpPr/>
          <p:nvPr/>
        </p:nvSpPr>
        <p:spPr>
          <a:xfrm>
            <a:off x="566928" y="5038344"/>
            <a:ext cx="11057839" cy="548640"/>
          </a:xfrm>
          <a:prstGeom prst="rect">
            <a:avLst/>
          </a:prstGeom>
          <a:noFill/>
          <a:ln/>
        </p:spPr>
        <p:txBody>
          <a:bodyPr wrap="square" lIns="0" tIns="0" rIns="0" bIns="0" rtlCol="0" anchor="t"/>
          <a:lstStyle/>
          <a:p>
            <a:pPr indent="0" marL="0">
              <a:buNone/>
            </a:pPr>
            <a:r>
              <a:rPr lang="en-US" sz="1050" i="1" dirty="0">
                <a:solidFill>
                  <a:srgbClr val="9E3A5A"/>
                </a:solidFill>
                <a:latin typeface="Calibri" pitchFamily="34" charset="0"/>
                <a:ea typeface="Calibri" pitchFamily="34" charset="-122"/>
                <a:cs typeface="Calibri" pitchFamily="34" charset="-120"/>
              </a:rPr>
              <a:t>IMPORTANT CAVEAT: The Lipedema Foundation no longer uses a 'Stage 4' designation, on the grounds that the lymphatic system can be compromised at any stage — lymphatic impairment is documented in Stages 2 and 3. Present Stage 4 as lipo-lymphedema, and note the debate. This is the intellectually honest framing and it will be the question a sharp student asks.</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33</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LIPEDEMA</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Lipedema vs. Lymphedema</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The differential that matters most in practice — and the one most often gotten wrong.</a:t>
            </a:r>
            <a:endParaRPr lang="en-US" sz="16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2231136"/>
          <a:ext cx="11057839" cy="914400"/>
        </p:xfrm>
        <a:graphic>
          <a:graphicData uri="http://schemas.openxmlformats.org/drawingml/2006/table">
            <a:tbl>
              <a:tblPr/>
              <a:tblGrid>
                <a:gridCol w="2377440"/>
                <a:gridCol w="4343400"/>
                <a:gridCol w="4352544"/>
              </a:tblGrid>
              <a:tr h="30175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02546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Lipedema</a:t>
                      </a:r>
                      <a:endParaRPr lang="en-US" sz="12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02546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Lymphedema</a:t>
                      </a:r>
                      <a:endParaRPr lang="en-US" sz="12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025462"/>
                    </a:solidFill>
                  </a:tcPr>
                </a:tc>
              </a:tr>
              <a:tr h="301752">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Sex</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Almost exclusively women</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Either sex</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r>
              <a:tr h="301752">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Symmetry</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Bilateral, symmetrical</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Often unilateral; symmetry not required</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Feet</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SPARED — sharp ankle cuff</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INVOLVED — swelling includes feet/toes</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r>
              <a:tr h="301752">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Stemmer's sign</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Negative</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Positive</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Pain</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Painful, tender to pressure</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Painless early; tension pain when advanced</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r>
              <a:tr h="301752">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Bruising</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Bruises easily</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Not characteristic</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Pitting</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Typically non-pitting</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Pitting early; non-pitting when fibrotic</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r>
              <a:tr h="301752">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Distribution</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Proximal-dominant, disproportionate</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Distal parts always more affected</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Family history</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Commonly positive</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Positive only in primary lymphedema</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r>
              <a:tr h="301752">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Response to diet</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Affected fat is diet-resistant</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Not primarily fat; weight loss reduces risk</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025462"/>
                          </a:solidFill>
                          <a:latin typeface="Calibri" pitchFamily="34" charset="0"/>
                          <a:ea typeface="Calibri" pitchFamily="34" charset="-122"/>
                          <a:cs typeface="Calibri" pitchFamily="34" charset="-120"/>
                        </a:rPr>
                        <a:t>Onset trigger</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Puberty, pregnancy, menopause</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Surgery, radiation, infection, trauma</a:t>
                      </a:r>
                      <a:endParaRPr lang="en-US" sz="1100" dirty="0">
                        <a:latin typeface="Calibri" charset="0"/>
                        <a:ea typeface="Calibri" charset="0"/>
                        <a:cs typeface="Calibri" charset="0"/>
                      </a:endParaRPr>
                    </a:p>
                  </a:txBody>
                  <a:tcPr marL="91440" marR="91440" marT="45720" marB="45720" anchor="ctr">
                    <a:lnL w="12700" cap="flat" cmpd="sng" algn="ctr">
                      <a:solidFill>
                        <a:srgbClr val="DCE6E8"/>
                      </a:solidFill>
                      <a:prstDash val="solid"/>
                      <a:round/>
                      <a:headEnd type="none" w="med" len="med"/>
                      <a:tailEnd type="none" w="med" len="med"/>
                    </a:lnL>
                    <a:lnR w="12700" cap="flat" cmpd="sng" algn="ctr">
                      <a:solidFill>
                        <a:srgbClr val="DCE6E8"/>
                      </a:solidFill>
                      <a:prstDash val="solid"/>
                      <a:round/>
                      <a:headEnd type="none" w="med" len="med"/>
                      <a:tailEnd type="none" w="med" len="med"/>
                    </a:lnR>
                    <a:lnT w="12700" cap="flat" cmpd="sng" algn="ctr">
                      <a:solidFill>
                        <a:srgbClr val="DCE6E8"/>
                      </a:solidFill>
                      <a:prstDash val="solid"/>
                      <a:round/>
                      <a:headEnd type="none" w="med" len="med"/>
                      <a:tailEnd type="none" w="med" len="med"/>
                    </a:lnT>
                    <a:lnB w="12700" cap="flat" cmpd="sng" algn="ctr">
                      <a:solidFill>
                        <a:srgbClr val="DCE6E8"/>
                      </a:solidFill>
                      <a:prstDash val="solid"/>
                      <a:round/>
                      <a:headEnd type="none" w="med" len="med"/>
                      <a:tailEnd type="none" w="med" len="med"/>
                    </a:lnB>
                    <a:solidFill>
                      <a:srgbClr val="F4F8F9"/>
                    </a:solidFill>
                  </a:tcPr>
                </a:tc>
              </a:tr>
            </a:tbl>
          </a:graphicData>
        </a:graphic>
      </p:graphicFrame>
      <p:sp>
        <p:nvSpPr>
          <p:cNvPr id="7" name="Text 4"/>
          <p:cNvSpPr/>
          <p:nvPr/>
        </p:nvSpPr>
        <p:spPr>
          <a:xfrm>
            <a:off x="566928" y="6080760"/>
            <a:ext cx="11057839" cy="457200"/>
          </a:xfrm>
          <a:prstGeom prst="rect">
            <a:avLst/>
          </a:prstGeom>
          <a:noFill/>
          <a:ln/>
        </p:spPr>
        <p:txBody>
          <a:bodyPr wrap="square" lIns="0" tIns="0" rIns="0" bIns="0" rtlCol="0" anchor="t"/>
          <a:lstStyle/>
          <a:p>
            <a:pPr indent="0" marL="0">
              <a:buNone/>
            </a:pPr>
            <a:r>
              <a:rPr lang="en-US" sz="1050" i="1" dirty="0">
                <a:solidFill>
                  <a:srgbClr val="36454F"/>
                </a:solidFill>
                <a:latin typeface="Calibri" pitchFamily="34" charset="0"/>
                <a:ea typeface="Calibri" pitchFamily="34" charset="-122"/>
                <a:cs typeface="Calibri" pitchFamily="34" charset="-120"/>
              </a:rPr>
              <a:t>They co-exist. Lipedema does not itself cause lymphedema — but central obesity, which frequently accompanies it, substantially raises lymphedema risk. Treat what you find.</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34</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LIPEDEMA</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PT Management of Lipedema</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Conservative management does not remove lipedema fat. It manages pain, controls fluid, preserves mobility, and slows progression.</a:t>
            </a:r>
            <a:endParaRPr lang="en-US" sz="1650" dirty="0"/>
          </a:p>
        </p:txBody>
      </p:sp>
      <p:sp>
        <p:nvSpPr>
          <p:cNvPr id="6" name="Shape 4"/>
          <p:cNvSpPr/>
          <p:nvPr/>
        </p:nvSpPr>
        <p:spPr>
          <a:xfrm>
            <a:off x="566928" y="2376424"/>
            <a:ext cx="3551834" cy="3769360"/>
          </a:xfrm>
          <a:prstGeom prst="roundRect">
            <a:avLst>
              <a:gd name="adj" fmla="val 2317"/>
            </a:avLst>
          </a:prstGeom>
          <a:solidFill>
            <a:srgbClr val="FFFFFF"/>
          </a:solidFill>
          <a:ln w="12700">
            <a:solidFill>
              <a:srgbClr val="DCE6E8"/>
            </a:solidFill>
            <a:prstDash val="solid"/>
          </a:ln>
        </p:spPr>
      </p:sp>
      <p:sp>
        <p:nvSpPr>
          <p:cNvPr id="7" name="Text 5"/>
          <p:cNvSpPr/>
          <p:nvPr/>
        </p:nvSpPr>
        <p:spPr>
          <a:xfrm>
            <a:off x="786384" y="2504440"/>
            <a:ext cx="3112922"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What PT can achieve</a:t>
            </a:r>
            <a:endParaRPr lang="en-US" sz="2150" dirty="0"/>
          </a:p>
        </p:txBody>
      </p:sp>
      <p:sp>
        <p:nvSpPr>
          <p:cNvPr id="8" name="Text 6"/>
          <p:cNvSpPr/>
          <p:nvPr/>
        </p:nvSpPr>
        <p:spPr>
          <a:xfrm>
            <a:off x="786384" y="2870200"/>
            <a:ext cx="3112922" cy="3110992"/>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Pain reduction — often the patient's priority</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Control of the fluid component</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Preserve joint mechanics and gait</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Prevent progression to lipo-lymphedema</a:t>
            </a:r>
            <a:endParaRPr lang="en-US" sz="2000" dirty="0"/>
          </a:p>
        </p:txBody>
      </p:sp>
      <p:sp>
        <p:nvSpPr>
          <p:cNvPr id="9" name="Shape 7"/>
          <p:cNvSpPr/>
          <p:nvPr/>
        </p:nvSpPr>
        <p:spPr>
          <a:xfrm>
            <a:off x="4319930" y="2376424"/>
            <a:ext cx="3551834" cy="3769360"/>
          </a:xfrm>
          <a:prstGeom prst="roundRect">
            <a:avLst>
              <a:gd name="adj" fmla="val 2317"/>
            </a:avLst>
          </a:prstGeom>
          <a:solidFill>
            <a:srgbClr val="FFFFFF"/>
          </a:solidFill>
          <a:ln w="12700">
            <a:solidFill>
              <a:srgbClr val="DCE6E8"/>
            </a:solidFill>
            <a:prstDash val="solid"/>
          </a:ln>
        </p:spPr>
      </p:sp>
      <p:sp>
        <p:nvSpPr>
          <p:cNvPr id="10" name="Text 8"/>
          <p:cNvSpPr/>
          <p:nvPr/>
        </p:nvSpPr>
        <p:spPr>
          <a:xfrm>
            <a:off x="4539386" y="2504440"/>
            <a:ext cx="3112922"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Interventions</a:t>
            </a:r>
            <a:endParaRPr lang="en-US" sz="2150" dirty="0"/>
          </a:p>
        </p:txBody>
      </p:sp>
      <p:sp>
        <p:nvSpPr>
          <p:cNvPr id="11" name="Text 9"/>
          <p:cNvSpPr/>
          <p:nvPr/>
        </p:nvSpPr>
        <p:spPr>
          <a:xfrm>
            <a:off x="4539386" y="2870200"/>
            <a:ext cx="3112922" cy="3110992"/>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Flat-knit compression</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MLD for fluid and for pain</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Aquatic exercise</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buoyancy plus hydrostatic compression</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Low-impact aerobic and resistance work</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Nutritional referral</a:t>
            </a:r>
            <a:endParaRPr lang="en-US" sz="2000" dirty="0"/>
          </a:p>
        </p:txBody>
      </p:sp>
      <p:sp>
        <p:nvSpPr>
          <p:cNvPr id="12" name="Shape 10"/>
          <p:cNvSpPr/>
          <p:nvPr/>
        </p:nvSpPr>
        <p:spPr>
          <a:xfrm>
            <a:off x="8072933" y="2376424"/>
            <a:ext cx="3551834" cy="3769360"/>
          </a:xfrm>
          <a:prstGeom prst="roundRect">
            <a:avLst>
              <a:gd name="adj" fmla="val 2317"/>
            </a:avLst>
          </a:prstGeom>
          <a:solidFill>
            <a:srgbClr val="FFFFFF"/>
          </a:solidFill>
          <a:ln w="12700">
            <a:solidFill>
              <a:srgbClr val="DCE6E8"/>
            </a:solidFill>
            <a:prstDash val="solid"/>
          </a:ln>
        </p:spPr>
      </p:sp>
      <p:sp>
        <p:nvSpPr>
          <p:cNvPr id="13" name="Text 11"/>
          <p:cNvSpPr/>
          <p:nvPr/>
        </p:nvSpPr>
        <p:spPr>
          <a:xfrm>
            <a:off x="8292389" y="2504440"/>
            <a:ext cx="3112922"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Set expectations honestly</a:t>
            </a:r>
            <a:endParaRPr lang="en-US" sz="2150" dirty="0"/>
          </a:p>
        </p:txBody>
      </p:sp>
      <p:sp>
        <p:nvSpPr>
          <p:cNvPr id="14" name="Text 12"/>
          <p:cNvSpPr/>
          <p:nvPr/>
        </p:nvSpPr>
        <p:spPr>
          <a:xfrm>
            <a:off x="8292389" y="2870200"/>
            <a:ext cx="3112922" cy="3110992"/>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Conservative care does not remove the fat</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Liposuction is the only intervention that does</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PT before and after surgery improves outcomes</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Insurance coverage remains inconsistent</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35</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LIPEDEMA</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Lipedema — Surgical Outcomes</a:t>
            </a:r>
            <a:endParaRPr lang="en-US" sz="3400" dirty="0"/>
          </a:p>
        </p:txBody>
      </p:sp>
      <p:pic>
        <p:nvPicPr>
          <p:cNvPr id="5" name="Image 0" descr="/home/claude/build/assets/photos/lip_comparison_2.jpg">    </p:cNvPr>
          <p:cNvPicPr>
            <a:picLocks noChangeAspect="1"/>
          </p:cNvPicPr>
          <p:nvPr/>
        </p:nvPicPr>
        <p:blipFill>
          <a:blip r:embed="rId1"/>
          <a:stretch>
            <a:fillRect/>
          </a:stretch>
        </p:blipFill>
        <p:spPr>
          <a:xfrm>
            <a:off x="566928" y="1600200"/>
            <a:ext cx="3576218" cy="3576218"/>
          </a:xfrm>
          <a:prstGeom prst="rect">
            <a:avLst/>
          </a:prstGeom>
        </p:spPr>
      </p:pic>
      <p:sp>
        <p:nvSpPr>
          <p:cNvPr id="6" name="Text 3"/>
          <p:cNvSpPr/>
          <p:nvPr/>
        </p:nvSpPr>
        <p:spPr>
          <a:xfrm>
            <a:off x="566928" y="5231282"/>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Before and after — anterior</a:t>
            </a:r>
            <a:endParaRPr lang="en-US" sz="950" dirty="0"/>
          </a:p>
        </p:txBody>
      </p:sp>
      <p:pic>
        <p:nvPicPr>
          <p:cNvPr id="7" name="Image 1" descr="/home/claude/build/assets/photos/lip_comparison_3.jpg">    </p:cNvPr>
          <p:cNvPicPr>
            <a:picLocks noChangeAspect="1"/>
          </p:cNvPicPr>
          <p:nvPr/>
        </p:nvPicPr>
        <p:blipFill>
          <a:blip r:embed="rId2"/>
          <a:stretch>
            <a:fillRect/>
          </a:stretch>
        </p:blipFill>
        <p:spPr>
          <a:xfrm>
            <a:off x="4307738" y="1600200"/>
            <a:ext cx="3576218" cy="3576218"/>
          </a:xfrm>
          <a:prstGeom prst="rect">
            <a:avLst/>
          </a:prstGeom>
        </p:spPr>
      </p:pic>
      <p:sp>
        <p:nvSpPr>
          <p:cNvPr id="8" name="Text 4"/>
          <p:cNvSpPr/>
          <p:nvPr/>
        </p:nvSpPr>
        <p:spPr>
          <a:xfrm>
            <a:off x="4307738" y="5231282"/>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Before and after — posterior</a:t>
            </a:r>
            <a:endParaRPr lang="en-US" sz="950" dirty="0"/>
          </a:p>
        </p:txBody>
      </p:sp>
      <p:pic>
        <p:nvPicPr>
          <p:cNvPr id="9" name="Image 2" descr="/home/claude/build/assets/photos/lip_surgical_markup.jpg">    </p:cNvPr>
          <p:cNvPicPr>
            <a:picLocks noChangeAspect="1"/>
          </p:cNvPicPr>
          <p:nvPr/>
        </p:nvPicPr>
        <p:blipFill>
          <a:blip r:embed="rId3"/>
          <a:stretch>
            <a:fillRect/>
          </a:stretch>
        </p:blipFill>
        <p:spPr>
          <a:xfrm>
            <a:off x="8272040" y="1600200"/>
            <a:ext cx="3129236" cy="4233672"/>
          </a:xfrm>
          <a:prstGeom prst="rect">
            <a:avLst/>
          </a:prstGeom>
        </p:spPr>
      </p:pic>
      <p:sp>
        <p:nvSpPr>
          <p:cNvPr id="10" name="Text 5"/>
          <p:cNvSpPr/>
          <p:nvPr/>
        </p:nvSpPr>
        <p:spPr>
          <a:xfrm>
            <a:off x="8048549" y="5888736"/>
            <a:ext cx="3576218" cy="310896"/>
          </a:xfrm>
          <a:prstGeom prst="rect">
            <a:avLst/>
          </a:prstGeom>
          <a:noFill/>
          <a:ln/>
        </p:spPr>
        <p:txBody>
          <a:bodyPr wrap="square" lIns="0" tIns="0" rIns="0" bIns="0" rtlCol="0" anchor="t"/>
          <a:lstStyle/>
          <a:p>
            <a:pPr algn="ctr" indent="0" marL="0">
              <a:buNone/>
            </a:pPr>
            <a:r>
              <a:rPr lang="en-US" sz="950" i="1" dirty="0">
                <a:solidFill>
                  <a:srgbClr val="36454F"/>
                </a:solidFill>
                <a:latin typeface="Calibri" pitchFamily="34" charset="0"/>
                <a:ea typeface="Calibri" pitchFamily="34" charset="-122"/>
                <a:cs typeface="Calibri" pitchFamily="34" charset="-120"/>
              </a:rPr>
              <a:t>Pre-operative markings</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36</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BEYOND CDT</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Other Considerations After Lymphatic PT</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Decongestion is not the end of the episode of care. Once volume is controlled, what remains is often what limits the patient most.</a:t>
            </a:r>
            <a:endParaRPr lang="en-US" sz="1650" dirty="0"/>
          </a:p>
        </p:txBody>
      </p:sp>
      <p:sp>
        <p:nvSpPr>
          <p:cNvPr id="6" name="Shape 4"/>
          <p:cNvSpPr/>
          <p:nvPr/>
        </p:nvSpPr>
        <p:spPr>
          <a:xfrm>
            <a:off x="566928" y="2231136"/>
            <a:ext cx="3551834" cy="3968496"/>
          </a:xfrm>
          <a:prstGeom prst="roundRect">
            <a:avLst>
              <a:gd name="adj" fmla="val 2317"/>
            </a:avLst>
          </a:prstGeom>
          <a:solidFill>
            <a:srgbClr val="FFFFFF"/>
          </a:solidFill>
          <a:ln w="12700">
            <a:solidFill>
              <a:srgbClr val="DCE6E8"/>
            </a:solidFill>
            <a:prstDash val="solid"/>
          </a:ln>
        </p:spPr>
      </p:sp>
      <p:sp>
        <p:nvSpPr>
          <p:cNvPr id="7" name="Text 5"/>
          <p:cNvSpPr/>
          <p:nvPr/>
        </p:nvSpPr>
        <p:spPr>
          <a:xfrm>
            <a:off x="786384" y="2359152"/>
            <a:ext cx="3112922" cy="310896"/>
          </a:xfrm>
          <a:prstGeom prst="rect">
            <a:avLst/>
          </a:prstGeom>
          <a:noFill/>
          <a:ln/>
        </p:spPr>
        <p:txBody>
          <a:bodyPr wrap="square" lIns="0" tIns="0" rIns="0" bIns="0" rtlCol="0" anchor="ctr"/>
          <a:lstStyle/>
          <a:p>
            <a:pPr indent="0" marL="0">
              <a:buNone/>
            </a:pPr>
            <a:r>
              <a:rPr lang="en-US" sz="1750" b="1" dirty="0">
                <a:solidFill>
                  <a:srgbClr val="025462"/>
                </a:solidFill>
                <a:latin typeface="Calibri" pitchFamily="34" charset="0"/>
                <a:ea typeface="Calibri" pitchFamily="34" charset="-122"/>
                <a:cs typeface="Calibri" pitchFamily="34" charset="-120"/>
              </a:rPr>
              <a:t>Gait training</a:t>
            </a:r>
            <a:endParaRPr lang="en-US" sz="1750" dirty="0"/>
          </a:p>
        </p:txBody>
      </p:sp>
      <p:sp>
        <p:nvSpPr>
          <p:cNvPr id="8" name="Text 6"/>
          <p:cNvSpPr/>
          <p:nvPr/>
        </p:nvSpPr>
        <p:spPr>
          <a:xfrm>
            <a:off x="786384" y="2743200"/>
            <a:ext cx="3112922" cy="3291840"/>
          </a:xfrm>
          <a:prstGeom prst="rect">
            <a:avLst/>
          </a:prstGeom>
          <a:noFill/>
          <a:ln/>
        </p:spPr>
        <p:txBody>
          <a:bodyPr wrap="square" lIns="0" tIns="0" rIns="0" bIns="0" rtlCol="0" anchor="t"/>
          <a:lstStyle/>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Gait adapted around a heavy limb persists after decongestion</a:t>
            </a:r>
            <a:endParaRPr lang="en-US" sz="1600" dirty="0"/>
          </a:p>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Reassess step length, cadence, base of support</a:t>
            </a:r>
            <a:endParaRPr lang="en-US" sz="1600" dirty="0"/>
          </a:p>
          <a:p>
            <a:pPr marL="190500" indent="-190500">
              <a:spcAft>
                <a:spcPts val="600"/>
              </a:spcAft>
              <a:buSzPct val="100000"/>
              <a:buChar char="•"/>
            </a:pPr>
            <a:r>
              <a:rPr lang="en-US" sz="1600" b="1" dirty="0">
                <a:solidFill>
                  <a:srgbClr val="1B2A30"/>
                </a:solidFill>
                <a:latin typeface="Calibri" pitchFamily="34" charset="0"/>
                <a:ea typeface="Calibri" pitchFamily="34" charset="-122"/>
                <a:cs typeface="Calibri" pitchFamily="34" charset="-120"/>
              </a:rPr>
              <a:t>Shoe size often changes after Phase I</a:t>
            </a:r>
            <a:pPr indent="0" marL="0">
              <a:spcAft>
                <a:spcPts val="600"/>
              </a:spcAft>
              <a:buNone/>
            </a:pPr>
            <a:endParaRPr lang="en-US" sz="1600" dirty="0"/>
          </a:p>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Calf pump is both a gait and a lymphatic goal</a:t>
            </a:r>
            <a:endParaRPr lang="en-US" sz="1600" dirty="0"/>
          </a:p>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Review the assistive device</a:t>
            </a:r>
            <a:endParaRPr lang="en-US" sz="1600" dirty="0"/>
          </a:p>
        </p:txBody>
      </p:sp>
      <p:sp>
        <p:nvSpPr>
          <p:cNvPr id="9" name="Shape 7"/>
          <p:cNvSpPr/>
          <p:nvPr/>
        </p:nvSpPr>
        <p:spPr>
          <a:xfrm>
            <a:off x="4319930" y="2231136"/>
            <a:ext cx="3551834" cy="3968496"/>
          </a:xfrm>
          <a:prstGeom prst="roundRect">
            <a:avLst>
              <a:gd name="adj" fmla="val 2317"/>
            </a:avLst>
          </a:prstGeom>
          <a:solidFill>
            <a:srgbClr val="FFFFFF"/>
          </a:solidFill>
          <a:ln w="12700">
            <a:solidFill>
              <a:srgbClr val="DCE6E8"/>
            </a:solidFill>
            <a:prstDash val="solid"/>
          </a:ln>
        </p:spPr>
      </p:sp>
      <p:sp>
        <p:nvSpPr>
          <p:cNvPr id="10" name="Text 8"/>
          <p:cNvSpPr/>
          <p:nvPr/>
        </p:nvSpPr>
        <p:spPr>
          <a:xfrm>
            <a:off x="4539386" y="2359152"/>
            <a:ext cx="3112922" cy="310896"/>
          </a:xfrm>
          <a:prstGeom prst="rect">
            <a:avLst/>
          </a:prstGeom>
          <a:noFill/>
          <a:ln/>
        </p:spPr>
        <p:txBody>
          <a:bodyPr wrap="square" lIns="0" tIns="0" rIns="0" bIns="0" rtlCol="0" anchor="ctr"/>
          <a:lstStyle/>
          <a:p>
            <a:pPr indent="0" marL="0">
              <a:buNone/>
            </a:pPr>
            <a:r>
              <a:rPr lang="en-US" sz="1750" b="1" dirty="0">
                <a:solidFill>
                  <a:srgbClr val="025462"/>
                </a:solidFill>
                <a:latin typeface="Calibri" pitchFamily="34" charset="0"/>
                <a:ea typeface="Calibri" pitchFamily="34" charset="-122"/>
                <a:cs typeface="Calibri" pitchFamily="34" charset="-120"/>
              </a:rPr>
              <a:t>Balance therapy</a:t>
            </a:r>
            <a:endParaRPr lang="en-US" sz="1750" dirty="0"/>
          </a:p>
        </p:txBody>
      </p:sp>
      <p:sp>
        <p:nvSpPr>
          <p:cNvPr id="11" name="Text 9"/>
          <p:cNvSpPr/>
          <p:nvPr/>
        </p:nvSpPr>
        <p:spPr>
          <a:xfrm>
            <a:off x="4539386" y="2743200"/>
            <a:ext cx="3112922" cy="3291840"/>
          </a:xfrm>
          <a:prstGeom prst="rect">
            <a:avLst/>
          </a:prstGeom>
          <a:noFill/>
          <a:ln/>
        </p:spPr>
        <p:txBody>
          <a:bodyPr wrap="square" lIns="0" tIns="0" rIns="0" bIns="0" rtlCol="0" anchor="t"/>
          <a:lstStyle/>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Altered limb mass and distal sensation degrade postural control</a:t>
            </a:r>
            <a:endParaRPr lang="en-US" sz="1600" dirty="0"/>
          </a:p>
          <a:p>
            <a:pPr marL="190500" indent="-190500">
              <a:spcAft>
                <a:spcPts val="600"/>
              </a:spcAft>
              <a:buSzPct val="100000"/>
              <a:buChar char="•"/>
            </a:pPr>
            <a:r>
              <a:rPr lang="en-US" sz="1600" b="1" dirty="0">
                <a:solidFill>
                  <a:srgbClr val="1B2A30"/>
                </a:solidFill>
                <a:latin typeface="Calibri" pitchFamily="34" charset="0"/>
                <a:ea typeface="Calibri" pitchFamily="34" charset="-122"/>
                <a:cs typeface="Calibri" pitchFamily="34" charset="-120"/>
              </a:rPr>
              <a:t>Screen falls risk</a:t>
            </a:r>
            <a:pPr indent="0" marL="0">
              <a:spcAft>
                <a:spcPts val="600"/>
              </a:spcAft>
              <a:buNone/>
            </a:pPr>
            <a:r>
              <a:rPr lang="en-US" sz="1600" dirty="0">
                <a:solidFill>
                  <a:srgbClr val="1B2A30"/>
                </a:solidFill>
                <a:latin typeface="Calibri" pitchFamily="34" charset="0"/>
                <a:ea typeface="Calibri" pitchFamily="34" charset="-122"/>
                <a:cs typeface="Calibri" pitchFamily="34" charset="-120"/>
              </a:rPr>
              <a:t> — rarely done in this population</a:t>
            </a:r>
            <a:endParaRPr lang="en-US" sz="1600" dirty="0"/>
          </a:p>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Static → dynamic, then dual-task</a:t>
            </a:r>
            <a:endParaRPr lang="en-US" sz="1600" dirty="0"/>
          </a:p>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Proprioceptive retraining at ankle and hip</a:t>
            </a:r>
            <a:endParaRPr lang="en-US" sz="1600" dirty="0"/>
          </a:p>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A fall breaking skin is a cellulitis risk</a:t>
            </a:r>
            <a:endParaRPr lang="en-US" sz="1600" dirty="0"/>
          </a:p>
        </p:txBody>
      </p:sp>
      <p:sp>
        <p:nvSpPr>
          <p:cNvPr id="12" name="Shape 10"/>
          <p:cNvSpPr/>
          <p:nvPr/>
        </p:nvSpPr>
        <p:spPr>
          <a:xfrm>
            <a:off x="8072933" y="2231136"/>
            <a:ext cx="3551834" cy="3968496"/>
          </a:xfrm>
          <a:prstGeom prst="roundRect">
            <a:avLst>
              <a:gd name="adj" fmla="val 2317"/>
            </a:avLst>
          </a:prstGeom>
          <a:solidFill>
            <a:srgbClr val="FFFFFF"/>
          </a:solidFill>
          <a:ln w="12700">
            <a:solidFill>
              <a:srgbClr val="DCE6E8"/>
            </a:solidFill>
            <a:prstDash val="solid"/>
          </a:ln>
        </p:spPr>
      </p:sp>
      <p:sp>
        <p:nvSpPr>
          <p:cNvPr id="13" name="Text 11"/>
          <p:cNvSpPr/>
          <p:nvPr/>
        </p:nvSpPr>
        <p:spPr>
          <a:xfrm>
            <a:off x="8292389" y="2359152"/>
            <a:ext cx="3112922" cy="310896"/>
          </a:xfrm>
          <a:prstGeom prst="rect">
            <a:avLst/>
          </a:prstGeom>
          <a:noFill/>
          <a:ln/>
        </p:spPr>
        <p:txBody>
          <a:bodyPr wrap="square" lIns="0" tIns="0" rIns="0" bIns="0" rtlCol="0" anchor="ctr"/>
          <a:lstStyle/>
          <a:p>
            <a:pPr indent="0" marL="0">
              <a:buNone/>
            </a:pPr>
            <a:r>
              <a:rPr lang="en-US" sz="1750" b="1" dirty="0">
                <a:solidFill>
                  <a:srgbClr val="025462"/>
                </a:solidFill>
                <a:latin typeface="Calibri" pitchFamily="34" charset="0"/>
                <a:ea typeface="Calibri" pitchFamily="34" charset="-122"/>
                <a:cs typeface="Calibri" pitchFamily="34" charset="-120"/>
              </a:rPr>
              <a:t>Orthopedic pain not relieved by CDT</a:t>
            </a:r>
            <a:endParaRPr lang="en-US" sz="1750" dirty="0"/>
          </a:p>
        </p:txBody>
      </p:sp>
      <p:sp>
        <p:nvSpPr>
          <p:cNvPr id="14" name="Text 12"/>
          <p:cNvSpPr/>
          <p:nvPr/>
        </p:nvSpPr>
        <p:spPr>
          <a:xfrm>
            <a:off x="8292389" y="2743200"/>
            <a:ext cx="3112922" cy="3291840"/>
          </a:xfrm>
          <a:prstGeom prst="rect">
            <a:avLst/>
          </a:prstGeom>
          <a:noFill/>
          <a:ln/>
        </p:spPr>
        <p:txBody>
          <a:bodyPr wrap="square" lIns="0" tIns="0" rIns="0" bIns="0" rtlCol="0" anchor="t"/>
          <a:lstStyle/>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If pain persists once volume is controlled, treat it as a separate problem</a:t>
            </a:r>
            <a:endParaRPr lang="en-US" sz="1600" dirty="0"/>
          </a:p>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Knee and hip OA; low back pain from gait asymmetry</a:t>
            </a:r>
            <a:endParaRPr lang="en-US" sz="1600" dirty="0"/>
          </a:p>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Post-axillary-dissection shoulder — capsule, scar, cording</a:t>
            </a:r>
            <a:endParaRPr lang="en-US" sz="1600" dirty="0"/>
          </a:p>
          <a:p>
            <a:pPr marL="190500" indent="-190500">
              <a:spcAft>
                <a:spcPts val="600"/>
              </a:spcAft>
              <a:buSzPct val="100000"/>
              <a:buChar char="•"/>
            </a:pPr>
            <a:r>
              <a:rPr lang="en-US" sz="1600" dirty="0">
                <a:solidFill>
                  <a:srgbClr val="1B2A30"/>
                </a:solidFill>
                <a:latin typeface="Calibri" pitchFamily="34" charset="0"/>
                <a:ea typeface="Calibri" pitchFamily="34" charset="-122"/>
                <a:cs typeface="Calibri" pitchFamily="34" charset="-120"/>
              </a:rPr>
              <a:t>Plantar fasciitis from changed weight-bearing</a:t>
            </a:r>
            <a:endParaRPr lang="en-US" sz="1600" dirty="0"/>
          </a:p>
          <a:p>
            <a:pPr marL="190500" indent="-190500">
              <a:spcAft>
                <a:spcPts val="600"/>
              </a:spcAft>
              <a:buSzPct val="100000"/>
              <a:buChar char="•"/>
            </a:pPr>
            <a:r>
              <a:rPr lang="en-US" sz="1600" b="1" dirty="0">
                <a:solidFill>
                  <a:srgbClr val="1B2A30"/>
                </a:solidFill>
                <a:latin typeface="Calibri" pitchFamily="34" charset="0"/>
                <a:ea typeface="Calibri" pitchFamily="34" charset="-122"/>
                <a:cs typeface="Calibri" pitchFamily="34" charset="-120"/>
              </a:rPr>
              <a:t>Disproportionate bilateral tenderness → consider lipedema</a:t>
            </a:r>
            <a:pPr indent="0" marL="0">
              <a:spcAft>
                <a:spcPts val="600"/>
              </a:spcAft>
              <a:buNone/>
            </a:pP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37</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SAFETY</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Red Flags &amp; Referral</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Stop treatment and refer when you see these.</a:t>
            </a:r>
            <a:endParaRPr lang="en-US" sz="1650" dirty="0"/>
          </a:p>
        </p:txBody>
      </p:sp>
      <p:sp>
        <p:nvSpPr>
          <p:cNvPr id="6" name="Shape 4"/>
          <p:cNvSpPr/>
          <p:nvPr/>
        </p:nvSpPr>
        <p:spPr>
          <a:xfrm>
            <a:off x="566928" y="2376424"/>
            <a:ext cx="3551834" cy="3769360"/>
          </a:xfrm>
          <a:prstGeom prst="roundRect">
            <a:avLst>
              <a:gd name="adj" fmla="val 2317"/>
            </a:avLst>
          </a:prstGeom>
          <a:solidFill>
            <a:srgbClr val="FFFFFF"/>
          </a:solidFill>
          <a:ln w="12700">
            <a:solidFill>
              <a:srgbClr val="DCE6E8"/>
            </a:solidFill>
            <a:prstDash val="solid"/>
          </a:ln>
        </p:spPr>
      </p:sp>
      <p:sp>
        <p:nvSpPr>
          <p:cNvPr id="7" name="Text 5"/>
          <p:cNvSpPr/>
          <p:nvPr/>
        </p:nvSpPr>
        <p:spPr>
          <a:xfrm>
            <a:off x="786384" y="2504440"/>
            <a:ext cx="3112922"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Urgent — same day</a:t>
            </a:r>
            <a:endParaRPr lang="en-US" sz="2150" dirty="0"/>
          </a:p>
        </p:txBody>
      </p:sp>
      <p:sp>
        <p:nvSpPr>
          <p:cNvPr id="8" name="Text 6"/>
          <p:cNvSpPr/>
          <p:nvPr/>
        </p:nvSpPr>
        <p:spPr>
          <a:xfrm>
            <a:off x="786384" y="2870200"/>
            <a:ext cx="3112922" cy="3110992"/>
          </a:xfrm>
          <a:prstGeom prst="rect">
            <a:avLst/>
          </a:prstGeom>
          <a:noFill/>
          <a:ln/>
        </p:spPr>
        <p:txBody>
          <a:bodyPr wrap="square" lIns="0" tIns="0" rIns="0" bIns="0" rtlCol="0" anchor="t"/>
          <a:lstStyle/>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Cellulitis</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spreading erythema, heat, fever</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Suspected DVT</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acute unilateral swelling, calf pain</a:t>
            </a:r>
            <a:endParaRPr lang="en-US" sz="2000" dirty="0"/>
          </a:p>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Decompensated heart failure</a:t>
            </a:r>
            <a:pPr indent="0" marL="0">
              <a:spcAft>
                <a:spcPts val="600"/>
              </a:spcAft>
              <a:buNone/>
            </a:pPr>
            <a:r>
              <a:rPr lang="en-US" sz="2000" dirty="0">
                <a:solidFill>
                  <a:srgbClr val="1B2A30"/>
                </a:solidFill>
                <a:latin typeface="Calibri" pitchFamily="34" charset="0"/>
                <a:ea typeface="Calibri" pitchFamily="34" charset="-122"/>
                <a:cs typeface="Calibri" pitchFamily="34" charset="-120"/>
              </a:rPr>
              <a:t> — dyspnea, orthopnea</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Systemic illness — fever, rigors, hypotension</a:t>
            </a:r>
            <a:endParaRPr lang="en-US" sz="2000" dirty="0"/>
          </a:p>
        </p:txBody>
      </p:sp>
      <p:sp>
        <p:nvSpPr>
          <p:cNvPr id="9" name="Shape 7"/>
          <p:cNvSpPr/>
          <p:nvPr/>
        </p:nvSpPr>
        <p:spPr>
          <a:xfrm>
            <a:off x="4319930" y="2376424"/>
            <a:ext cx="3551834" cy="3769360"/>
          </a:xfrm>
          <a:prstGeom prst="roundRect">
            <a:avLst>
              <a:gd name="adj" fmla="val 2317"/>
            </a:avLst>
          </a:prstGeom>
          <a:solidFill>
            <a:srgbClr val="FFFFFF"/>
          </a:solidFill>
          <a:ln w="12700">
            <a:solidFill>
              <a:srgbClr val="DCE6E8"/>
            </a:solidFill>
            <a:prstDash val="solid"/>
          </a:ln>
        </p:spPr>
      </p:sp>
      <p:sp>
        <p:nvSpPr>
          <p:cNvPr id="10" name="Text 8"/>
          <p:cNvSpPr/>
          <p:nvPr/>
        </p:nvSpPr>
        <p:spPr>
          <a:xfrm>
            <a:off x="4539386" y="2504440"/>
            <a:ext cx="3112922"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Refer for workup</a:t>
            </a:r>
            <a:endParaRPr lang="en-US" sz="2150" dirty="0"/>
          </a:p>
        </p:txBody>
      </p:sp>
      <p:sp>
        <p:nvSpPr>
          <p:cNvPr id="11" name="Text 9"/>
          <p:cNvSpPr/>
          <p:nvPr/>
        </p:nvSpPr>
        <p:spPr>
          <a:xfrm>
            <a:off x="4539386" y="2870200"/>
            <a:ext cx="3112922" cy="3110992"/>
          </a:xfrm>
          <a:prstGeom prst="rect">
            <a:avLst/>
          </a:prstGeom>
          <a:noFill/>
          <a:ln/>
        </p:spPr>
        <p:txBody>
          <a:bodyPr wrap="square" lIns="0" tIns="0" rIns="0" bIns="0" rtlCol="0" anchor="t"/>
          <a:lstStyle/>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Rapid-onset or proximal-first swelling — possible malignancy</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New neurological deficit</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Non-healing wound or ulceration</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Failure to respond to well-delivered CDT</a:t>
            </a:r>
            <a:endParaRPr lang="en-US" sz="2000" dirty="0"/>
          </a:p>
        </p:txBody>
      </p:sp>
      <p:sp>
        <p:nvSpPr>
          <p:cNvPr id="12" name="Shape 10"/>
          <p:cNvSpPr/>
          <p:nvPr/>
        </p:nvSpPr>
        <p:spPr>
          <a:xfrm>
            <a:off x="8072933" y="2376424"/>
            <a:ext cx="3551834" cy="3769360"/>
          </a:xfrm>
          <a:prstGeom prst="roundRect">
            <a:avLst>
              <a:gd name="adj" fmla="val 2317"/>
            </a:avLst>
          </a:prstGeom>
          <a:solidFill>
            <a:srgbClr val="FFFFFF"/>
          </a:solidFill>
          <a:ln w="12700">
            <a:solidFill>
              <a:srgbClr val="DCE6E8"/>
            </a:solidFill>
            <a:prstDash val="solid"/>
          </a:ln>
        </p:spPr>
      </p:sp>
      <p:sp>
        <p:nvSpPr>
          <p:cNvPr id="13" name="Text 11"/>
          <p:cNvSpPr/>
          <p:nvPr/>
        </p:nvSpPr>
        <p:spPr>
          <a:xfrm>
            <a:off x="8292389" y="2504440"/>
            <a:ext cx="3112922" cy="292608"/>
          </a:xfrm>
          <a:prstGeom prst="rect">
            <a:avLst/>
          </a:prstGeom>
          <a:noFill/>
          <a:ln/>
        </p:spPr>
        <p:txBody>
          <a:bodyPr wrap="square" lIns="0" tIns="0" rIns="0" bIns="0" rtlCol="0" anchor="ctr"/>
          <a:lstStyle/>
          <a:p>
            <a:pPr indent="0" marL="0">
              <a:buNone/>
            </a:pPr>
            <a:r>
              <a:rPr lang="en-US" sz="2150" b="1" dirty="0">
                <a:solidFill>
                  <a:srgbClr val="025462"/>
                </a:solidFill>
                <a:latin typeface="Calibri" pitchFamily="34" charset="0"/>
                <a:ea typeface="Calibri" pitchFamily="34" charset="-122"/>
                <a:cs typeface="Calibri" pitchFamily="34" charset="-120"/>
              </a:rPr>
              <a:t>Screen before starting</a:t>
            </a:r>
            <a:endParaRPr lang="en-US" sz="2150" dirty="0"/>
          </a:p>
        </p:txBody>
      </p:sp>
      <p:sp>
        <p:nvSpPr>
          <p:cNvPr id="14" name="Text 12"/>
          <p:cNvSpPr/>
          <p:nvPr/>
        </p:nvSpPr>
        <p:spPr>
          <a:xfrm>
            <a:off x="8292389" y="2870200"/>
            <a:ext cx="3112922" cy="3110992"/>
          </a:xfrm>
          <a:prstGeom prst="rect">
            <a:avLst/>
          </a:prstGeom>
          <a:noFill/>
          <a:ln/>
        </p:spPr>
        <p:txBody>
          <a:bodyPr wrap="square" lIns="0" tIns="0" rIns="0" bIns="0" rtlCol="0" anchor="t"/>
          <a:lstStyle/>
          <a:p>
            <a:pPr marL="190500" indent="-190500">
              <a:spcAft>
                <a:spcPts val="600"/>
              </a:spcAft>
              <a:buSzPct val="100000"/>
              <a:buChar char="•"/>
            </a:pPr>
            <a:r>
              <a:rPr lang="en-US" sz="2000" b="1" dirty="0">
                <a:solidFill>
                  <a:srgbClr val="1B2A30"/>
                </a:solidFill>
                <a:latin typeface="Calibri" pitchFamily="34" charset="0"/>
                <a:ea typeface="Calibri" pitchFamily="34" charset="-122"/>
                <a:cs typeface="Calibri" pitchFamily="34" charset="-120"/>
              </a:rPr>
              <a:t>ABI before lower limb compression</a:t>
            </a:r>
            <a:pPr indent="0" marL="0">
              <a:spcAft>
                <a:spcPts val="600"/>
              </a:spcAft>
              <a:buNone/>
            </a:pP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Cardiac and renal status</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Active malignancy — coordinate with oncology</a:t>
            </a:r>
            <a:endParaRPr lang="en-US" sz="2000" dirty="0"/>
          </a:p>
          <a:p>
            <a:pPr marL="190500" indent="-190500">
              <a:spcAft>
                <a:spcPts val="600"/>
              </a:spcAft>
              <a:buSzPct val="100000"/>
              <a:buChar char="•"/>
            </a:pPr>
            <a:r>
              <a:rPr lang="en-US" sz="2000" dirty="0">
                <a:solidFill>
                  <a:srgbClr val="1B2A30"/>
                </a:solidFill>
                <a:latin typeface="Calibri" pitchFamily="34" charset="0"/>
                <a:ea typeface="Calibri" pitchFamily="34" charset="-122"/>
                <a:cs typeface="Calibri" pitchFamily="34" charset="-120"/>
              </a:rPr>
              <a:t>Peripheral neuropathy and sensory testing</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38</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APPENDIX</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Source Decks &amp; Reference Material  (1 of 2)</a:t>
            </a:r>
            <a:endParaRPr lang="en-US" sz="3400" dirty="0"/>
          </a:p>
        </p:txBody>
      </p:sp>
      <p:sp>
        <p:nvSpPr>
          <p:cNvPr id="5" name="Text 3"/>
          <p:cNvSpPr/>
          <p:nvPr/>
        </p:nvSpPr>
        <p:spPr>
          <a:xfrm>
            <a:off x="566928" y="1572768"/>
            <a:ext cx="11057839" cy="566928"/>
          </a:xfrm>
          <a:prstGeom prst="rect">
            <a:avLst/>
          </a:prstGeom>
          <a:noFill/>
          <a:ln/>
        </p:spPr>
        <p:txBody>
          <a:bodyPr wrap="square" lIns="0" tIns="0" rIns="0" bIns="0" rtlCol="0" anchor="t"/>
          <a:lstStyle/>
          <a:p>
            <a:pPr indent="0" marL="0">
              <a:buNone/>
            </a:pPr>
            <a:r>
              <a:rPr lang="en-US" sz="1650" dirty="0">
                <a:solidFill>
                  <a:srgbClr val="36454F"/>
                </a:solidFill>
                <a:latin typeface="Calibri" pitchFamily="34" charset="0"/>
                <a:ea typeface="Calibri" pitchFamily="34" charset="-122"/>
                <a:cs typeface="Calibri" pitchFamily="34" charset="-120"/>
              </a:rPr>
              <a:t>The existing presentations and documents this deck was built from. Open any of them to review how others have structured the same material.</a:t>
            </a:r>
            <a:endParaRPr lang="en-US" sz="1650" dirty="0"/>
          </a:p>
        </p:txBody>
      </p:sp>
      <p:sp>
        <p:nvSpPr>
          <p:cNvPr id="6" name="Shape 4"/>
          <p:cNvSpPr/>
          <p:nvPr/>
        </p:nvSpPr>
        <p:spPr>
          <a:xfrm>
            <a:off x="566928" y="2231136"/>
            <a:ext cx="11057839" cy="640080"/>
          </a:xfrm>
          <a:prstGeom prst="roundRect">
            <a:avLst>
              <a:gd name="adj" fmla="val 12857"/>
            </a:avLst>
          </a:prstGeom>
          <a:solidFill>
            <a:srgbClr val="FFFFFF"/>
          </a:solidFill>
          <a:ln w="12700">
            <a:solidFill>
              <a:srgbClr val="DCE6E8"/>
            </a:solidFill>
            <a:prstDash val="solid"/>
          </a:ln>
        </p:spPr>
      </p:sp>
      <p:sp>
        <p:nvSpPr>
          <p:cNvPr id="7" name="Text 5"/>
          <p:cNvSpPr/>
          <p:nvPr/>
        </p:nvSpPr>
        <p:spPr>
          <a:xfrm>
            <a:off x="804672" y="2286000"/>
            <a:ext cx="8680399" cy="237744"/>
          </a:xfrm>
          <a:prstGeom prst="rect">
            <a:avLst/>
          </a:prstGeom>
          <a:noFill/>
          <a:ln/>
        </p:spPr>
        <p:txBody>
          <a:bodyPr wrap="square" lIns="0" tIns="0" rIns="0" bIns="0" rtlCol="0" anchor="ctr"/>
          <a:lstStyle/>
          <a:p>
            <a:pPr indent="0" marL="0">
              <a:buNone/>
            </a:pPr>
            <a:r>
              <a:rPr lang="en-US" sz="1200" b="1" dirty="0">
                <a:solidFill>
                  <a:srgbClr val="025462"/>
                </a:solidFill>
                <a:latin typeface="Calibri" pitchFamily="34" charset="0"/>
                <a:ea typeface="Calibri" pitchFamily="34" charset="-122"/>
                <a:cs typeface="Calibri" pitchFamily="34" charset="-120"/>
              </a:rPr>
              <a:t>ISL 2023 Consensus Document</a:t>
            </a:r>
            <a:endParaRPr lang="en-US" sz="1200" dirty="0"/>
          </a:p>
        </p:txBody>
      </p:sp>
      <p:sp>
        <p:nvSpPr>
          <p:cNvPr id="8" name="Text 6"/>
          <p:cNvSpPr/>
          <p:nvPr/>
        </p:nvSpPr>
        <p:spPr>
          <a:xfrm>
            <a:off x="9521647" y="2286000"/>
            <a:ext cx="1828800" cy="237744"/>
          </a:xfrm>
          <a:prstGeom prst="rect">
            <a:avLst/>
          </a:prstGeom>
          <a:noFill/>
          <a:ln/>
        </p:spPr>
        <p:txBody>
          <a:bodyPr wrap="square" lIns="0" tIns="0" rIns="0" bIns="0" rtlCol="0" anchor="ctr"/>
          <a:lstStyle/>
          <a:p>
            <a:pPr algn="r" indent="0" marL="0">
              <a:buNone/>
            </a:pPr>
            <a:r>
              <a:rPr lang="en-US" sz="900" b="1" dirty="0">
                <a:solidFill>
                  <a:srgbClr val="028090"/>
                </a:solidFill>
                <a:latin typeface="Calibri" pitchFamily="34" charset="0"/>
                <a:ea typeface="Calibri" pitchFamily="34" charset="-122"/>
                <a:cs typeface="Calibri" pitchFamily="34" charset="-120"/>
              </a:rPr>
              <a:t>PDF · primary source</a:t>
            </a:r>
            <a:endParaRPr lang="en-US" sz="900" dirty="0"/>
          </a:p>
        </p:txBody>
      </p:sp>
      <p:sp>
        <p:nvSpPr>
          <p:cNvPr id="9" name="Text 7"/>
          <p:cNvSpPr/>
          <p:nvPr/>
        </p:nvSpPr>
        <p:spPr>
          <a:xfrm>
            <a:off x="804672" y="2505456"/>
            <a:ext cx="10582351" cy="182880"/>
          </a:xfrm>
          <a:prstGeom prst="rect">
            <a:avLst/>
          </a:prstGeom>
          <a:noFill/>
          <a:ln/>
        </p:spPr>
        <p:txBody>
          <a:bodyPr wrap="square" lIns="0" tIns="0" rIns="0" bIns="0" rtlCol="0" anchor="ctr"/>
          <a:lstStyle/>
          <a:p>
            <a:pPr indent="0" marL="0">
              <a:buNone/>
            </a:pPr>
            <a:r>
              <a:rPr lang="en-US" sz="950" dirty="0">
                <a:solidFill>
                  <a:srgbClr val="36454F"/>
                </a:solidFill>
                <a:latin typeface="Calibri" pitchFamily="34" charset="0"/>
                <a:ea typeface="Calibri" pitchFamily="34" charset="-122"/>
                <a:cs typeface="Calibri" pitchFamily="34" charset="-120"/>
              </a:rPr>
              <a:t>The staging authority. Stages 0–III, diagnosis, and treatment.</a:t>
            </a:r>
            <a:endParaRPr lang="en-US" sz="950" dirty="0"/>
          </a:p>
        </p:txBody>
      </p:sp>
      <p:sp>
        <p:nvSpPr>
          <p:cNvPr id="10" name="Text 8"/>
          <p:cNvSpPr/>
          <p:nvPr/>
        </p:nvSpPr>
        <p:spPr>
          <a:xfrm>
            <a:off x="804672" y="2679192"/>
            <a:ext cx="10582351" cy="182880"/>
          </a:xfrm>
          <a:prstGeom prst="rect">
            <a:avLst/>
          </a:prstGeom>
          <a:noFill/>
          <a:ln/>
        </p:spPr>
        <p:txBody>
          <a:bodyPr wrap="square" lIns="0" tIns="0" rIns="0" bIns="0" rtlCol="0" anchor="ctr"/>
          <a:lstStyle/>
          <a:p>
            <a:pPr indent="0" marL="0">
              <a:buNone/>
            </a:pPr>
            <a:r>
              <a:rPr lang="en-US" sz="80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https://www.isl.arizona.edu/sites/default/files/2024-11/THE-DIAGNOSIS-AND-TREATMENT-OF-PERIPHERAL-LYMPHEDEMA-2023-CONSENSUS-DOCUMENT-OF-THE-INTERNATIONAL-SOCIETY-OF-LYMPHOLOGY.pdf</a:t>
            </a:r>
            <a:endParaRPr lang="en-US" sz="800" dirty="0"/>
          </a:p>
        </p:txBody>
      </p:sp>
      <p:sp>
        <p:nvSpPr>
          <p:cNvPr id="11" name="Shape 9"/>
          <p:cNvSpPr/>
          <p:nvPr/>
        </p:nvSpPr>
        <p:spPr>
          <a:xfrm>
            <a:off x="566928" y="2980944"/>
            <a:ext cx="11057839" cy="640080"/>
          </a:xfrm>
          <a:prstGeom prst="roundRect">
            <a:avLst>
              <a:gd name="adj" fmla="val 12857"/>
            </a:avLst>
          </a:prstGeom>
          <a:solidFill>
            <a:srgbClr val="FFFFFF"/>
          </a:solidFill>
          <a:ln w="12700">
            <a:solidFill>
              <a:srgbClr val="DCE6E8"/>
            </a:solidFill>
            <a:prstDash val="solid"/>
          </a:ln>
        </p:spPr>
      </p:sp>
      <p:sp>
        <p:nvSpPr>
          <p:cNvPr id="12" name="Text 10"/>
          <p:cNvSpPr/>
          <p:nvPr/>
        </p:nvSpPr>
        <p:spPr>
          <a:xfrm>
            <a:off x="804672" y="3035808"/>
            <a:ext cx="8680399" cy="237744"/>
          </a:xfrm>
          <a:prstGeom prst="rect">
            <a:avLst/>
          </a:prstGeom>
          <a:noFill/>
          <a:ln/>
        </p:spPr>
        <p:txBody>
          <a:bodyPr wrap="square" lIns="0" tIns="0" rIns="0" bIns="0" rtlCol="0" anchor="ctr"/>
          <a:lstStyle/>
          <a:p>
            <a:pPr indent="0" marL="0">
              <a:buNone/>
            </a:pPr>
            <a:r>
              <a:rPr lang="en-US" sz="1200" b="1" dirty="0">
                <a:solidFill>
                  <a:srgbClr val="025462"/>
                </a:solidFill>
                <a:latin typeface="Calibri" pitchFamily="34" charset="0"/>
                <a:ea typeface="Calibri" pitchFamily="34" charset="-122"/>
                <a:cs typeface="Calibri" pitchFamily="34" charset="-120"/>
              </a:rPr>
              <a:t>Linda Koehler, PT, CLT-LANA — Univ. of Minnesota</a:t>
            </a:r>
            <a:endParaRPr lang="en-US" sz="1200" dirty="0"/>
          </a:p>
        </p:txBody>
      </p:sp>
      <p:sp>
        <p:nvSpPr>
          <p:cNvPr id="13" name="Text 11"/>
          <p:cNvSpPr/>
          <p:nvPr/>
        </p:nvSpPr>
        <p:spPr>
          <a:xfrm>
            <a:off x="9521647" y="3035808"/>
            <a:ext cx="1828800" cy="237744"/>
          </a:xfrm>
          <a:prstGeom prst="rect">
            <a:avLst/>
          </a:prstGeom>
          <a:noFill/>
          <a:ln/>
        </p:spPr>
        <p:txBody>
          <a:bodyPr wrap="square" lIns="0" tIns="0" rIns="0" bIns="0" rtlCol="0" anchor="ctr"/>
          <a:lstStyle/>
          <a:p>
            <a:pPr algn="r" indent="0" marL="0">
              <a:buNone/>
            </a:pPr>
            <a:r>
              <a:rPr lang="en-US" sz="900" b="1" dirty="0">
                <a:solidFill>
                  <a:srgbClr val="028090"/>
                </a:solidFill>
                <a:latin typeface="Calibri" pitchFamily="34" charset="0"/>
                <a:ea typeface="Calibri" pitchFamily="34" charset="-122"/>
                <a:cs typeface="Calibri" pitchFamily="34" charset="-120"/>
              </a:rPr>
              <a:t>Slide deck</a:t>
            </a:r>
            <a:endParaRPr lang="en-US" sz="900" dirty="0"/>
          </a:p>
        </p:txBody>
      </p:sp>
      <p:sp>
        <p:nvSpPr>
          <p:cNvPr id="14" name="Text 12"/>
          <p:cNvSpPr/>
          <p:nvPr/>
        </p:nvSpPr>
        <p:spPr>
          <a:xfrm>
            <a:off x="804672" y="3255264"/>
            <a:ext cx="10582351" cy="182880"/>
          </a:xfrm>
          <a:prstGeom prst="rect">
            <a:avLst/>
          </a:prstGeom>
          <a:noFill/>
          <a:ln/>
        </p:spPr>
        <p:txBody>
          <a:bodyPr wrap="square" lIns="0" tIns="0" rIns="0" bIns="0" rtlCol="0" anchor="ctr"/>
          <a:lstStyle/>
          <a:p>
            <a:pPr indent="0" marL="0">
              <a:buNone/>
            </a:pPr>
            <a:r>
              <a:rPr lang="en-US" sz="950" dirty="0">
                <a:solidFill>
                  <a:srgbClr val="36454F"/>
                </a:solidFill>
                <a:latin typeface="Calibri" pitchFamily="34" charset="0"/>
                <a:ea typeface="Calibri" pitchFamily="34" charset="-122"/>
                <a:cs typeface="Calibri" pitchFamily="34" charset="-120"/>
              </a:rPr>
              <a:t>Best PT-focused deck found. CDT components, wound care, pain management.</a:t>
            </a:r>
            <a:endParaRPr lang="en-US" sz="950" dirty="0"/>
          </a:p>
        </p:txBody>
      </p:sp>
      <p:sp>
        <p:nvSpPr>
          <p:cNvPr id="15" name="Text 13"/>
          <p:cNvSpPr/>
          <p:nvPr/>
        </p:nvSpPr>
        <p:spPr>
          <a:xfrm>
            <a:off x="804672" y="3429000"/>
            <a:ext cx="10582351" cy="182880"/>
          </a:xfrm>
          <a:prstGeom prst="rect">
            <a:avLst/>
          </a:prstGeom>
          <a:noFill/>
          <a:ln/>
        </p:spPr>
        <p:txBody>
          <a:bodyPr wrap="square" lIns="0" tIns="0" rIns="0" bIns="0" rtlCol="0" anchor="ctr"/>
          <a:lstStyle/>
          <a:p>
            <a:pPr indent="0" marL="0">
              <a:buNone/>
            </a:pPr>
            <a:r>
              <a:rPr lang="en-US" sz="80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https://www.slideserve.com/collin/lymphedema-overview-and-treatment-considerations</a:t>
            </a:r>
            <a:endParaRPr lang="en-US" sz="800" dirty="0"/>
          </a:p>
        </p:txBody>
      </p:sp>
      <p:sp>
        <p:nvSpPr>
          <p:cNvPr id="16" name="Shape 14"/>
          <p:cNvSpPr/>
          <p:nvPr/>
        </p:nvSpPr>
        <p:spPr>
          <a:xfrm>
            <a:off x="566928" y="3730752"/>
            <a:ext cx="11057839" cy="640080"/>
          </a:xfrm>
          <a:prstGeom prst="roundRect">
            <a:avLst>
              <a:gd name="adj" fmla="val 12857"/>
            </a:avLst>
          </a:prstGeom>
          <a:solidFill>
            <a:srgbClr val="FFFFFF"/>
          </a:solidFill>
          <a:ln w="12700">
            <a:solidFill>
              <a:srgbClr val="DCE6E8"/>
            </a:solidFill>
            <a:prstDash val="solid"/>
          </a:ln>
        </p:spPr>
      </p:sp>
      <p:sp>
        <p:nvSpPr>
          <p:cNvPr id="17" name="Text 15"/>
          <p:cNvSpPr/>
          <p:nvPr/>
        </p:nvSpPr>
        <p:spPr>
          <a:xfrm>
            <a:off x="804672" y="3785616"/>
            <a:ext cx="8680399" cy="237744"/>
          </a:xfrm>
          <a:prstGeom prst="rect">
            <a:avLst/>
          </a:prstGeom>
          <a:noFill/>
          <a:ln/>
        </p:spPr>
        <p:txBody>
          <a:bodyPr wrap="square" lIns="0" tIns="0" rIns="0" bIns="0" rtlCol="0" anchor="ctr"/>
          <a:lstStyle/>
          <a:p>
            <a:pPr indent="0" marL="0">
              <a:buNone/>
            </a:pPr>
            <a:r>
              <a:rPr lang="en-US" sz="1200" b="1" dirty="0">
                <a:solidFill>
                  <a:srgbClr val="025462"/>
                </a:solidFill>
                <a:latin typeface="Calibri" pitchFamily="34" charset="0"/>
                <a:ea typeface="Calibri" pitchFamily="34" charset="-122"/>
                <a:cs typeface="Calibri" pitchFamily="34" charset="-120"/>
              </a:rPr>
              <a:t>Christina Hankins, PT, CLT, CWS — Lymphedema</a:t>
            </a:r>
            <a:endParaRPr lang="en-US" sz="1200" dirty="0"/>
          </a:p>
        </p:txBody>
      </p:sp>
      <p:sp>
        <p:nvSpPr>
          <p:cNvPr id="18" name="Text 16"/>
          <p:cNvSpPr/>
          <p:nvPr/>
        </p:nvSpPr>
        <p:spPr>
          <a:xfrm>
            <a:off x="9521647" y="3785616"/>
            <a:ext cx="1828800" cy="237744"/>
          </a:xfrm>
          <a:prstGeom prst="rect">
            <a:avLst/>
          </a:prstGeom>
          <a:noFill/>
          <a:ln/>
        </p:spPr>
        <p:txBody>
          <a:bodyPr wrap="square" lIns="0" tIns="0" rIns="0" bIns="0" rtlCol="0" anchor="ctr"/>
          <a:lstStyle/>
          <a:p>
            <a:pPr algn="r" indent="0" marL="0">
              <a:buNone/>
            </a:pPr>
            <a:r>
              <a:rPr lang="en-US" sz="900" b="1" dirty="0">
                <a:solidFill>
                  <a:srgbClr val="028090"/>
                </a:solidFill>
                <a:latin typeface="Calibri" pitchFamily="34" charset="0"/>
                <a:ea typeface="Calibri" pitchFamily="34" charset="-122"/>
                <a:cs typeface="Calibri" pitchFamily="34" charset="-120"/>
              </a:rPr>
              <a:t>Slide deck</a:t>
            </a:r>
            <a:endParaRPr lang="en-US" sz="900" dirty="0"/>
          </a:p>
        </p:txBody>
      </p:sp>
      <p:sp>
        <p:nvSpPr>
          <p:cNvPr id="19" name="Text 17"/>
          <p:cNvSpPr/>
          <p:nvPr/>
        </p:nvSpPr>
        <p:spPr>
          <a:xfrm>
            <a:off x="804672" y="4005072"/>
            <a:ext cx="10582351" cy="182880"/>
          </a:xfrm>
          <a:prstGeom prst="rect">
            <a:avLst/>
          </a:prstGeom>
          <a:noFill/>
          <a:ln/>
        </p:spPr>
        <p:txBody>
          <a:bodyPr wrap="square" lIns="0" tIns="0" rIns="0" bIns="0" rtlCol="0" anchor="ctr"/>
          <a:lstStyle/>
          <a:p>
            <a:pPr indent="0" marL="0">
              <a:buNone/>
            </a:pPr>
            <a:r>
              <a:rPr lang="en-US" sz="950" dirty="0">
                <a:solidFill>
                  <a:srgbClr val="36454F"/>
                </a:solidFill>
                <a:latin typeface="Calibri" pitchFamily="34" charset="0"/>
                <a:ea typeface="Calibri" pitchFamily="34" charset="-122"/>
                <a:cs typeface="Calibri" pitchFamily="34" charset="-120"/>
              </a:rPr>
              <a:t>Good objectives and outline structure to model.</a:t>
            </a:r>
            <a:endParaRPr lang="en-US" sz="950" dirty="0"/>
          </a:p>
        </p:txBody>
      </p:sp>
      <p:sp>
        <p:nvSpPr>
          <p:cNvPr id="20" name="Text 18"/>
          <p:cNvSpPr/>
          <p:nvPr/>
        </p:nvSpPr>
        <p:spPr>
          <a:xfrm>
            <a:off x="804672" y="4178808"/>
            <a:ext cx="10582351" cy="182880"/>
          </a:xfrm>
          <a:prstGeom prst="rect">
            <a:avLst/>
          </a:prstGeom>
          <a:noFill/>
          <a:ln/>
        </p:spPr>
        <p:txBody>
          <a:bodyPr wrap="square" lIns="0" tIns="0" rIns="0" bIns="0" rtlCol="0" anchor="ctr"/>
          <a:lstStyle/>
          <a:p>
            <a:pPr indent="0" marL="0">
              <a:buNone/>
            </a:pPr>
            <a:r>
              <a:rPr lang="en-US" sz="80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https://www.slideserve.com/lilly/lymphedema</a:t>
            </a:r>
            <a:endParaRPr lang="en-US" sz="800" dirty="0"/>
          </a:p>
        </p:txBody>
      </p:sp>
      <p:sp>
        <p:nvSpPr>
          <p:cNvPr id="21" name="Shape 19"/>
          <p:cNvSpPr/>
          <p:nvPr/>
        </p:nvSpPr>
        <p:spPr>
          <a:xfrm>
            <a:off x="566928" y="4480560"/>
            <a:ext cx="11057839" cy="640080"/>
          </a:xfrm>
          <a:prstGeom prst="roundRect">
            <a:avLst>
              <a:gd name="adj" fmla="val 12857"/>
            </a:avLst>
          </a:prstGeom>
          <a:solidFill>
            <a:srgbClr val="FFFFFF"/>
          </a:solidFill>
          <a:ln w="12700">
            <a:solidFill>
              <a:srgbClr val="DCE6E8"/>
            </a:solidFill>
            <a:prstDash val="solid"/>
          </a:ln>
        </p:spPr>
      </p:sp>
      <p:sp>
        <p:nvSpPr>
          <p:cNvPr id="22" name="Text 20"/>
          <p:cNvSpPr/>
          <p:nvPr/>
        </p:nvSpPr>
        <p:spPr>
          <a:xfrm>
            <a:off x="804672" y="4535424"/>
            <a:ext cx="8680399" cy="237744"/>
          </a:xfrm>
          <a:prstGeom prst="rect">
            <a:avLst/>
          </a:prstGeom>
          <a:noFill/>
          <a:ln/>
        </p:spPr>
        <p:txBody>
          <a:bodyPr wrap="square" lIns="0" tIns="0" rIns="0" bIns="0" rtlCol="0" anchor="ctr"/>
          <a:lstStyle/>
          <a:p>
            <a:pPr indent="0" marL="0">
              <a:buNone/>
            </a:pPr>
            <a:r>
              <a:rPr lang="en-US" sz="1200" b="1" dirty="0">
                <a:solidFill>
                  <a:srgbClr val="025462"/>
                </a:solidFill>
                <a:latin typeface="Calibri" pitchFamily="34" charset="0"/>
                <a:ea typeface="Calibri" pitchFamily="34" charset="-122"/>
                <a:cs typeface="Calibri" pitchFamily="34" charset="-120"/>
              </a:rPr>
              <a:t>Lymphedema Therapy (compiled decks)</a:t>
            </a:r>
            <a:endParaRPr lang="en-US" sz="1200" dirty="0"/>
          </a:p>
        </p:txBody>
      </p:sp>
      <p:sp>
        <p:nvSpPr>
          <p:cNvPr id="23" name="Text 21"/>
          <p:cNvSpPr/>
          <p:nvPr/>
        </p:nvSpPr>
        <p:spPr>
          <a:xfrm>
            <a:off x="9521647" y="4535424"/>
            <a:ext cx="1828800" cy="237744"/>
          </a:xfrm>
          <a:prstGeom prst="rect">
            <a:avLst/>
          </a:prstGeom>
          <a:noFill/>
          <a:ln/>
        </p:spPr>
        <p:txBody>
          <a:bodyPr wrap="square" lIns="0" tIns="0" rIns="0" bIns="0" rtlCol="0" anchor="ctr"/>
          <a:lstStyle/>
          <a:p>
            <a:pPr algn="r" indent="0" marL="0">
              <a:buNone/>
            </a:pPr>
            <a:r>
              <a:rPr lang="en-US" sz="900" b="1" dirty="0">
                <a:solidFill>
                  <a:srgbClr val="028090"/>
                </a:solidFill>
                <a:latin typeface="Calibri" pitchFamily="34" charset="0"/>
                <a:ea typeface="Calibri" pitchFamily="34" charset="-122"/>
                <a:cs typeface="Calibri" pitchFamily="34" charset="-120"/>
              </a:rPr>
              <a:t>Slide deck</a:t>
            </a:r>
            <a:endParaRPr lang="en-US" sz="900" dirty="0"/>
          </a:p>
        </p:txBody>
      </p:sp>
      <p:sp>
        <p:nvSpPr>
          <p:cNvPr id="24" name="Text 22"/>
          <p:cNvSpPr/>
          <p:nvPr/>
        </p:nvSpPr>
        <p:spPr>
          <a:xfrm>
            <a:off x="804672" y="4754880"/>
            <a:ext cx="10582351" cy="182880"/>
          </a:xfrm>
          <a:prstGeom prst="rect">
            <a:avLst/>
          </a:prstGeom>
          <a:noFill/>
          <a:ln/>
        </p:spPr>
        <p:txBody>
          <a:bodyPr wrap="square" lIns="0" tIns="0" rIns="0" bIns="0" rtlCol="0" anchor="ctr"/>
          <a:lstStyle/>
          <a:p>
            <a:pPr indent="0" marL="0">
              <a:buNone/>
            </a:pPr>
            <a:r>
              <a:rPr lang="en-US" sz="950" dirty="0">
                <a:solidFill>
                  <a:srgbClr val="36454F"/>
                </a:solidFill>
                <a:latin typeface="Calibri" pitchFamily="34" charset="0"/>
                <a:ea typeface="Calibri" pitchFamily="34" charset="-122"/>
                <a:cs typeface="Calibri" pitchFamily="34" charset="-120"/>
              </a:rPr>
              <a:t>Several decks on one page, incl. stage descriptions and exercise evidence.</a:t>
            </a:r>
            <a:endParaRPr lang="en-US" sz="950" dirty="0"/>
          </a:p>
        </p:txBody>
      </p:sp>
      <p:sp>
        <p:nvSpPr>
          <p:cNvPr id="25" name="Text 23"/>
          <p:cNvSpPr/>
          <p:nvPr/>
        </p:nvSpPr>
        <p:spPr>
          <a:xfrm>
            <a:off x="804672" y="4928616"/>
            <a:ext cx="10582351" cy="182880"/>
          </a:xfrm>
          <a:prstGeom prst="rect">
            <a:avLst/>
          </a:prstGeom>
          <a:noFill/>
          <a:ln/>
        </p:spPr>
        <p:txBody>
          <a:bodyPr wrap="square" lIns="0" tIns="0" rIns="0" bIns="0" rtlCol="0" anchor="ctr"/>
          <a:lstStyle/>
          <a:p>
            <a:pPr indent="0" marL="0">
              <a:buNone/>
            </a:pPr>
            <a:r>
              <a:rPr lang="en-US" sz="80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https://www.slideserve.com/lael/lymphedema-therapy</a:t>
            </a:r>
            <a:endParaRPr lang="en-US" sz="800" dirty="0"/>
          </a:p>
        </p:txBody>
      </p:sp>
      <p:sp>
        <p:nvSpPr>
          <p:cNvPr id="26" name="Shape 24"/>
          <p:cNvSpPr/>
          <p:nvPr/>
        </p:nvSpPr>
        <p:spPr>
          <a:xfrm>
            <a:off x="566928" y="5230368"/>
            <a:ext cx="11057839" cy="640080"/>
          </a:xfrm>
          <a:prstGeom prst="roundRect">
            <a:avLst>
              <a:gd name="adj" fmla="val 12857"/>
            </a:avLst>
          </a:prstGeom>
          <a:solidFill>
            <a:srgbClr val="FFFFFF"/>
          </a:solidFill>
          <a:ln w="12700">
            <a:solidFill>
              <a:srgbClr val="DCE6E8"/>
            </a:solidFill>
            <a:prstDash val="solid"/>
          </a:ln>
        </p:spPr>
      </p:sp>
      <p:sp>
        <p:nvSpPr>
          <p:cNvPr id="27" name="Text 25"/>
          <p:cNvSpPr/>
          <p:nvPr/>
        </p:nvSpPr>
        <p:spPr>
          <a:xfrm>
            <a:off x="804672" y="5285232"/>
            <a:ext cx="8680399" cy="237744"/>
          </a:xfrm>
          <a:prstGeom prst="rect">
            <a:avLst/>
          </a:prstGeom>
          <a:noFill/>
          <a:ln/>
        </p:spPr>
        <p:txBody>
          <a:bodyPr wrap="square" lIns="0" tIns="0" rIns="0" bIns="0" rtlCol="0" anchor="ctr"/>
          <a:lstStyle/>
          <a:p>
            <a:pPr indent="0" marL="0">
              <a:buNone/>
            </a:pPr>
            <a:r>
              <a:rPr lang="en-US" sz="1200" b="1" dirty="0">
                <a:solidFill>
                  <a:srgbClr val="025462"/>
                </a:solidFill>
                <a:latin typeface="Calibri" pitchFamily="34" charset="0"/>
                <a:ea typeface="Calibri" pitchFamily="34" charset="-122"/>
                <a:cs typeface="Calibri" pitchFamily="34" charset="-120"/>
              </a:rPr>
              <a:t>Lymphedema — assorted author decks</a:t>
            </a:r>
            <a:endParaRPr lang="en-US" sz="1200" dirty="0"/>
          </a:p>
        </p:txBody>
      </p:sp>
      <p:sp>
        <p:nvSpPr>
          <p:cNvPr id="28" name="Text 26"/>
          <p:cNvSpPr/>
          <p:nvPr/>
        </p:nvSpPr>
        <p:spPr>
          <a:xfrm>
            <a:off x="9521647" y="5285232"/>
            <a:ext cx="1828800" cy="237744"/>
          </a:xfrm>
          <a:prstGeom prst="rect">
            <a:avLst/>
          </a:prstGeom>
          <a:noFill/>
          <a:ln/>
        </p:spPr>
        <p:txBody>
          <a:bodyPr wrap="square" lIns="0" tIns="0" rIns="0" bIns="0" rtlCol="0" anchor="ctr"/>
          <a:lstStyle/>
          <a:p>
            <a:pPr algn="r" indent="0" marL="0">
              <a:buNone/>
            </a:pPr>
            <a:r>
              <a:rPr lang="en-US" sz="900" b="1" dirty="0">
                <a:solidFill>
                  <a:srgbClr val="028090"/>
                </a:solidFill>
                <a:latin typeface="Calibri" pitchFamily="34" charset="0"/>
                <a:ea typeface="Calibri" pitchFamily="34" charset="-122"/>
                <a:cs typeface="Calibri" pitchFamily="34" charset="-120"/>
              </a:rPr>
              <a:t>Slide deck</a:t>
            </a:r>
            <a:endParaRPr lang="en-US" sz="900" dirty="0"/>
          </a:p>
        </p:txBody>
      </p:sp>
      <p:sp>
        <p:nvSpPr>
          <p:cNvPr id="29" name="Text 27"/>
          <p:cNvSpPr/>
          <p:nvPr/>
        </p:nvSpPr>
        <p:spPr>
          <a:xfrm>
            <a:off x="804672" y="5504688"/>
            <a:ext cx="10582351" cy="182880"/>
          </a:xfrm>
          <a:prstGeom prst="rect">
            <a:avLst/>
          </a:prstGeom>
          <a:noFill/>
          <a:ln/>
        </p:spPr>
        <p:txBody>
          <a:bodyPr wrap="square" lIns="0" tIns="0" rIns="0" bIns="0" rtlCol="0" anchor="ctr"/>
          <a:lstStyle/>
          <a:p>
            <a:pPr indent="0" marL="0">
              <a:buNone/>
            </a:pPr>
            <a:r>
              <a:rPr lang="en-US" sz="950" dirty="0">
                <a:solidFill>
                  <a:srgbClr val="36454F"/>
                </a:solidFill>
                <a:latin typeface="Calibri" pitchFamily="34" charset="0"/>
                <a:ea typeface="Calibri" pitchFamily="34" charset="-122"/>
                <a:cs typeface="Calibri" pitchFamily="34" charset="-120"/>
              </a:rPr>
              <a:t>Ernandez, Richter, Arslan, Johansson. Mixed quality; useful for framing.</a:t>
            </a:r>
            <a:endParaRPr lang="en-US" sz="950" dirty="0"/>
          </a:p>
        </p:txBody>
      </p:sp>
      <p:sp>
        <p:nvSpPr>
          <p:cNvPr id="30" name="Text 28"/>
          <p:cNvSpPr/>
          <p:nvPr/>
        </p:nvSpPr>
        <p:spPr>
          <a:xfrm>
            <a:off x="804672" y="5678424"/>
            <a:ext cx="10582351" cy="182880"/>
          </a:xfrm>
          <a:prstGeom prst="rect">
            <a:avLst/>
          </a:prstGeom>
          <a:noFill/>
          <a:ln/>
        </p:spPr>
        <p:txBody>
          <a:bodyPr wrap="square" lIns="0" tIns="0" rIns="0" bIns="0" rtlCol="0" anchor="ctr"/>
          <a:lstStyle/>
          <a:p>
            <a:pPr indent="0" marL="0">
              <a:buNone/>
            </a:pPr>
            <a:r>
              <a:rPr lang="en-US" sz="80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https://www.slideserve.com/shoshana-reynolds/lymphedema-powerpoint-ppt-presentation</a:t>
            </a:r>
            <a:endParaRPr lang="en-US" sz="800" dirty="0"/>
          </a:p>
        </p:txBody>
      </p:sp>
      <p:sp>
        <p:nvSpPr>
          <p:cNvPr id="31" name="Shape 29"/>
          <p:cNvSpPr/>
          <p:nvPr/>
        </p:nvSpPr>
        <p:spPr>
          <a:xfrm>
            <a:off x="566928" y="5980176"/>
            <a:ext cx="11057839" cy="640080"/>
          </a:xfrm>
          <a:prstGeom prst="roundRect">
            <a:avLst>
              <a:gd name="adj" fmla="val 12857"/>
            </a:avLst>
          </a:prstGeom>
          <a:solidFill>
            <a:srgbClr val="FFFFFF"/>
          </a:solidFill>
          <a:ln w="12700">
            <a:solidFill>
              <a:srgbClr val="DCE6E8"/>
            </a:solidFill>
            <a:prstDash val="solid"/>
          </a:ln>
        </p:spPr>
      </p:sp>
      <p:sp>
        <p:nvSpPr>
          <p:cNvPr id="32" name="Text 30"/>
          <p:cNvSpPr/>
          <p:nvPr/>
        </p:nvSpPr>
        <p:spPr>
          <a:xfrm>
            <a:off x="804672" y="6035040"/>
            <a:ext cx="8680399" cy="237744"/>
          </a:xfrm>
          <a:prstGeom prst="rect">
            <a:avLst/>
          </a:prstGeom>
          <a:noFill/>
          <a:ln/>
        </p:spPr>
        <p:txBody>
          <a:bodyPr wrap="square" lIns="0" tIns="0" rIns="0" bIns="0" rtlCol="0" anchor="ctr"/>
          <a:lstStyle/>
          <a:p>
            <a:pPr indent="0" marL="0">
              <a:buNone/>
            </a:pPr>
            <a:r>
              <a:rPr lang="en-US" sz="1200" b="1" dirty="0">
                <a:solidFill>
                  <a:srgbClr val="025462"/>
                </a:solidFill>
                <a:latin typeface="Calibri" pitchFamily="34" charset="0"/>
                <a:ea typeface="Calibri" pitchFamily="34" charset="-122"/>
                <a:cs typeface="Calibri" pitchFamily="34" charset="-120"/>
              </a:rPr>
              <a:t>Clinical Outcomes After PT for Secondary Lymphedema</a:t>
            </a:r>
            <a:endParaRPr lang="en-US" sz="1200" dirty="0"/>
          </a:p>
        </p:txBody>
      </p:sp>
      <p:sp>
        <p:nvSpPr>
          <p:cNvPr id="33" name="Text 31"/>
          <p:cNvSpPr/>
          <p:nvPr/>
        </p:nvSpPr>
        <p:spPr>
          <a:xfrm>
            <a:off x="9521647" y="6035040"/>
            <a:ext cx="1828800" cy="237744"/>
          </a:xfrm>
          <a:prstGeom prst="rect">
            <a:avLst/>
          </a:prstGeom>
          <a:noFill/>
          <a:ln/>
        </p:spPr>
        <p:txBody>
          <a:bodyPr wrap="square" lIns="0" tIns="0" rIns="0" bIns="0" rtlCol="0" anchor="ctr"/>
          <a:lstStyle/>
          <a:p>
            <a:pPr algn="r" indent="0" marL="0">
              <a:buNone/>
            </a:pPr>
            <a:r>
              <a:rPr lang="en-US" sz="900" b="1" dirty="0">
                <a:solidFill>
                  <a:srgbClr val="028090"/>
                </a:solidFill>
                <a:latin typeface="Calibri" pitchFamily="34" charset="0"/>
                <a:ea typeface="Calibri" pitchFamily="34" charset="-122"/>
                <a:cs typeface="Calibri" pitchFamily="34" charset="-120"/>
              </a:rPr>
              <a:t>Case report</a:t>
            </a:r>
            <a:endParaRPr lang="en-US" sz="900" dirty="0"/>
          </a:p>
        </p:txBody>
      </p:sp>
      <p:sp>
        <p:nvSpPr>
          <p:cNvPr id="34" name="Text 32"/>
          <p:cNvSpPr/>
          <p:nvPr/>
        </p:nvSpPr>
        <p:spPr>
          <a:xfrm>
            <a:off x="804672" y="6254496"/>
            <a:ext cx="10582351" cy="182880"/>
          </a:xfrm>
          <a:prstGeom prst="rect">
            <a:avLst/>
          </a:prstGeom>
          <a:noFill/>
          <a:ln/>
        </p:spPr>
        <p:txBody>
          <a:bodyPr wrap="square" lIns="0" tIns="0" rIns="0" bIns="0" rtlCol="0" anchor="ctr"/>
          <a:lstStyle/>
          <a:p>
            <a:pPr indent="0" marL="0">
              <a:buNone/>
            </a:pPr>
            <a:r>
              <a:rPr lang="en-US" sz="950" dirty="0">
                <a:solidFill>
                  <a:srgbClr val="36454F"/>
                </a:solidFill>
                <a:latin typeface="Calibri" pitchFamily="34" charset="0"/>
                <a:ea typeface="Calibri" pitchFamily="34" charset="-122"/>
                <a:cs typeface="Calibri" pitchFamily="34" charset="-120"/>
              </a:rPr>
              <a:t>Zuther &amp; Norton staging language in plain English.</a:t>
            </a:r>
            <a:endParaRPr lang="en-US" sz="950" dirty="0"/>
          </a:p>
        </p:txBody>
      </p:sp>
      <p:sp>
        <p:nvSpPr>
          <p:cNvPr id="35" name="Text 33"/>
          <p:cNvSpPr/>
          <p:nvPr/>
        </p:nvSpPr>
        <p:spPr>
          <a:xfrm>
            <a:off x="804672" y="6428232"/>
            <a:ext cx="10582351" cy="182880"/>
          </a:xfrm>
          <a:prstGeom prst="rect">
            <a:avLst/>
          </a:prstGeom>
          <a:noFill/>
          <a:ln/>
        </p:spPr>
        <p:txBody>
          <a:bodyPr wrap="square" lIns="0" tIns="0" rIns="0" bIns="0" rtlCol="0" anchor="ctr"/>
          <a:lstStyle/>
          <a:p>
            <a:pPr indent="0" marL="0">
              <a:buNone/>
            </a:pPr>
            <a:r>
              <a:rPr lang="en-US" sz="80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https://www.ncbi.nlm.nih.gov/pmc/articles/PMC6666846/</a:t>
            </a:r>
            <a:endParaRPr lang="en-US" sz="800" dirty="0"/>
          </a:p>
        </p:txBody>
      </p:sp>
      <p:sp>
        <p:nvSpPr>
          <p:cNvPr id="36" name="Shape 34"/>
          <p:cNvSpPr/>
          <p:nvPr/>
        </p:nvSpPr>
        <p:spPr>
          <a:xfrm>
            <a:off x="566928" y="6729984"/>
            <a:ext cx="11057839" cy="640080"/>
          </a:xfrm>
          <a:prstGeom prst="roundRect">
            <a:avLst>
              <a:gd name="adj" fmla="val 12857"/>
            </a:avLst>
          </a:prstGeom>
          <a:solidFill>
            <a:srgbClr val="FFFFFF"/>
          </a:solidFill>
          <a:ln w="12700">
            <a:solidFill>
              <a:srgbClr val="DCE6E8"/>
            </a:solidFill>
            <a:prstDash val="solid"/>
          </a:ln>
        </p:spPr>
      </p:sp>
      <p:sp>
        <p:nvSpPr>
          <p:cNvPr id="37" name="Text 35"/>
          <p:cNvSpPr/>
          <p:nvPr/>
        </p:nvSpPr>
        <p:spPr>
          <a:xfrm>
            <a:off x="804672" y="6784848"/>
            <a:ext cx="8680399" cy="237744"/>
          </a:xfrm>
          <a:prstGeom prst="rect">
            <a:avLst/>
          </a:prstGeom>
          <a:noFill/>
          <a:ln/>
        </p:spPr>
        <p:txBody>
          <a:bodyPr wrap="square" lIns="0" tIns="0" rIns="0" bIns="0" rtlCol="0" anchor="ctr"/>
          <a:lstStyle/>
          <a:p>
            <a:pPr indent="0" marL="0">
              <a:buNone/>
            </a:pPr>
            <a:r>
              <a:rPr lang="en-US" sz="1200" b="1" dirty="0">
                <a:solidFill>
                  <a:srgbClr val="025462"/>
                </a:solidFill>
                <a:latin typeface="Calibri" pitchFamily="34" charset="0"/>
                <a:ea typeface="Calibri" pitchFamily="34" charset="-122"/>
                <a:cs typeface="Calibri" pitchFamily="34" charset="-120"/>
              </a:rPr>
              <a:t>Lipedema Foundation — Staging</a:t>
            </a:r>
            <a:endParaRPr lang="en-US" sz="1200" dirty="0"/>
          </a:p>
        </p:txBody>
      </p:sp>
      <p:sp>
        <p:nvSpPr>
          <p:cNvPr id="38" name="Text 36"/>
          <p:cNvSpPr/>
          <p:nvPr/>
        </p:nvSpPr>
        <p:spPr>
          <a:xfrm>
            <a:off x="9521647" y="6784848"/>
            <a:ext cx="1828800" cy="237744"/>
          </a:xfrm>
          <a:prstGeom prst="rect">
            <a:avLst/>
          </a:prstGeom>
          <a:noFill/>
          <a:ln/>
        </p:spPr>
        <p:txBody>
          <a:bodyPr wrap="square" lIns="0" tIns="0" rIns="0" bIns="0" rtlCol="0" anchor="ctr"/>
          <a:lstStyle/>
          <a:p>
            <a:pPr algn="r" indent="0" marL="0">
              <a:buNone/>
            </a:pPr>
            <a:r>
              <a:rPr lang="en-US" sz="900" b="1" dirty="0">
                <a:solidFill>
                  <a:srgbClr val="028090"/>
                </a:solidFill>
                <a:latin typeface="Calibri" pitchFamily="34" charset="0"/>
                <a:ea typeface="Calibri" pitchFamily="34" charset="-122"/>
                <a:cs typeface="Calibri" pitchFamily="34" charset="-120"/>
              </a:rPr>
              <a:t>Reference + photos</a:t>
            </a:r>
            <a:endParaRPr lang="en-US" sz="900" dirty="0"/>
          </a:p>
        </p:txBody>
      </p:sp>
      <p:sp>
        <p:nvSpPr>
          <p:cNvPr id="39" name="Text 37"/>
          <p:cNvSpPr/>
          <p:nvPr/>
        </p:nvSpPr>
        <p:spPr>
          <a:xfrm>
            <a:off x="804672" y="7004304"/>
            <a:ext cx="10582351" cy="182880"/>
          </a:xfrm>
          <a:prstGeom prst="rect">
            <a:avLst/>
          </a:prstGeom>
          <a:noFill/>
          <a:ln/>
        </p:spPr>
        <p:txBody>
          <a:bodyPr wrap="square" lIns="0" tIns="0" rIns="0" bIns="0" rtlCol="0" anchor="ctr"/>
          <a:lstStyle/>
          <a:p>
            <a:pPr indent="0" marL="0">
              <a:buNone/>
            </a:pPr>
            <a:r>
              <a:rPr lang="en-US" sz="950" dirty="0">
                <a:solidFill>
                  <a:srgbClr val="36454F"/>
                </a:solidFill>
                <a:latin typeface="Calibri" pitchFamily="34" charset="0"/>
                <a:ea typeface="Calibri" pitchFamily="34" charset="-122"/>
                <a:cs typeface="Calibri" pitchFamily="34" charset="-120"/>
              </a:rPr>
              <a:t>Best lipedema staging photos. Note: they no longer use “Stage 4”.</a:t>
            </a:r>
            <a:endParaRPr lang="en-US" sz="950" dirty="0"/>
          </a:p>
        </p:txBody>
      </p:sp>
      <p:sp>
        <p:nvSpPr>
          <p:cNvPr id="40" name="Text 38"/>
          <p:cNvSpPr/>
          <p:nvPr/>
        </p:nvSpPr>
        <p:spPr>
          <a:xfrm>
            <a:off x="804672" y="7178040"/>
            <a:ext cx="10582351" cy="182880"/>
          </a:xfrm>
          <a:prstGeom prst="rect">
            <a:avLst/>
          </a:prstGeom>
          <a:noFill/>
          <a:ln/>
        </p:spPr>
        <p:txBody>
          <a:bodyPr wrap="square" lIns="0" tIns="0" rIns="0" bIns="0" rtlCol="0" anchor="ctr"/>
          <a:lstStyle/>
          <a:p>
            <a:pPr indent="0" marL="0">
              <a:buNone/>
            </a:pPr>
            <a:r>
              <a:rPr lang="en-US" sz="80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https://www.lipedema.org/staging</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39</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APPENDIX</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Source Decks &amp; Reference Material  (2 of 2)</a:t>
            </a:r>
            <a:endParaRPr lang="en-US" sz="3400" dirty="0"/>
          </a:p>
        </p:txBody>
      </p:sp>
      <p:sp>
        <p:nvSpPr>
          <p:cNvPr id="5" name="Shape 3"/>
          <p:cNvSpPr/>
          <p:nvPr/>
        </p:nvSpPr>
        <p:spPr>
          <a:xfrm>
            <a:off x="566928" y="1691640"/>
            <a:ext cx="11057839" cy="640080"/>
          </a:xfrm>
          <a:prstGeom prst="roundRect">
            <a:avLst>
              <a:gd name="adj" fmla="val 12857"/>
            </a:avLst>
          </a:prstGeom>
          <a:solidFill>
            <a:srgbClr val="FFFFFF"/>
          </a:solidFill>
          <a:ln w="12700">
            <a:solidFill>
              <a:srgbClr val="DCE6E8"/>
            </a:solidFill>
            <a:prstDash val="solid"/>
          </a:ln>
        </p:spPr>
      </p:sp>
      <p:sp>
        <p:nvSpPr>
          <p:cNvPr id="6" name="Text 4"/>
          <p:cNvSpPr/>
          <p:nvPr/>
        </p:nvSpPr>
        <p:spPr>
          <a:xfrm>
            <a:off x="804672" y="1746504"/>
            <a:ext cx="8680399" cy="237744"/>
          </a:xfrm>
          <a:prstGeom prst="rect">
            <a:avLst/>
          </a:prstGeom>
          <a:noFill/>
          <a:ln/>
        </p:spPr>
        <p:txBody>
          <a:bodyPr wrap="square" lIns="0" tIns="0" rIns="0" bIns="0" rtlCol="0" anchor="ctr"/>
          <a:lstStyle/>
          <a:p>
            <a:pPr indent="0" marL="0">
              <a:buNone/>
            </a:pPr>
            <a:r>
              <a:rPr lang="en-US" sz="1200" b="1" dirty="0">
                <a:solidFill>
                  <a:srgbClr val="025462"/>
                </a:solidFill>
                <a:latin typeface="Calibri" pitchFamily="34" charset="0"/>
                <a:ea typeface="Calibri" pitchFamily="34" charset="-122"/>
                <a:cs typeface="Calibri" pitchFamily="34" charset="-120"/>
              </a:rPr>
              <a:t>Understanding Stage 4 Lipedema: Lipo-Lymphedema</a:t>
            </a:r>
            <a:endParaRPr lang="en-US" sz="1200" dirty="0"/>
          </a:p>
        </p:txBody>
      </p:sp>
      <p:sp>
        <p:nvSpPr>
          <p:cNvPr id="7" name="Text 5"/>
          <p:cNvSpPr/>
          <p:nvPr/>
        </p:nvSpPr>
        <p:spPr>
          <a:xfrm>
            <a:off x="9521647" y="1746504"/>
            <a:ext cx="1828800" cy="237744"/>
          </a:xfrm>
          <a:prstGeom prst="rect">
            <a:avLst/>
          </a:prstGeom>
          <a:noFill/>
          <a:ln/>
        </p:spPr>
        <p:txBody>
          <a:bodyPr wrap="square" lIns="0" tIns="0" rIns="0" bIns="0" rtlCol="0" anchor="ctr"/>
          <a:lstStyle/>
          <a:p>
            <a:pPr algn="r" indent="0" marL="0">
              <a:buNone/>
            </a:pPr>
            <a:r>
              <a:rPr lang="en-US" sz="900" b="1" dirty="0">
                <a:solidFill>
                  <a:srgbClr val="028090"/>
                </a:solidFill>
                <a:latin typeface="Calibri" pitchFamily="34" charset="0"/>
                <a:ea typeface="Calibri" pitchFamily="34" charset="-122"/>
                <a:cs typeface="Calibri" pitchFamily="34" charset="-120"/>
              </a:rPr>
              <a:t>Article</a:t>
            </a:r>
            <a:endParaRPr lang="en-US" sz="900" dirty="0"/>
          </a:p>
        </p:txBody>
      </p:sp>
      <p:sp>
        <p:nvSpPr>
          <p:cNvPr id="8" name="Text 6"/>
          <p:cNvSpPr/>
          <p:nvPr/>
        </p:nvSpPr>
        <p:spPr>
          <a:xfrm>
            <a:off x="804672" y="1965960"/>
            <a:ext cx="10582351" cy="182880"/>
          </a:xfrm>
          <a:prstGeom prst="rect">
            <a:avLst/>
          </a:prstGeom>
          <a:noFill/>
          <a:ln/>
        </p:spPr>
        <p:txBody>
          <a:bodyPr wrap="square" lIns="0" tIns="0" rIns="0" bIns="0" rtlCol="0" anchor="ctr"/>
          <a:lstStyle/>
          <a:p>
            <a:pPr indent="0" marL="0">
              <a:buNone/>
            </a:pPr>
            <a:r>
              <a:rPr lang="en-US" sz="950" dirty="0">
                <a:solidFill>
                  <a:srgbClr val="36454F"/>
                </a:solidFill>
                <a:latin typeface="Calibri" pitchFamily="34" charset="0"/>
                <a:ea typeface="Calibri" pitchFamily="34" charset="-122"/>
                <a:cs typeface="Calibri" pitchFamily="34" charset="-120"/>
              </a:rPr>
              <a:t>The transition from lipedema to lipo-lymphedema.</a:t>
            </a:r>
            <a:endParaRPr lang="en-US" sz="950" dirty="0"/>
          </a:p>
        </p:txBody>
      </p:sp>
      <p:sp>
        <p:nvSpPr>
          <p:cNvPr id="9" name="Text 7"/>
          <p:cNvSpPr/>
          <p:nvPr/>
        </p:nvSpPr>
        <p:spPr>
          <a:xfrm>
            <a:off x="804672" y="2139696"/>
            <a:ext cx="10582351" cy="182880"/>
          </a:xfrm>
          <a:prstGeom prst="rect">
            <a:avLst/>
          </a:prstGeom>
          <a:noFill/>
          <a:ln/>
        </p:spPr>
        <p:txBody>
          <a:bodyPr wrap="square" lIns="0" tIns="0" rIns="0" bIns="0" rtlCol="0" anchor="ctr"/>
          <a:lstStyle/>
          <a:p>
            <a:pPr indent="0" marL="0">
              <a:buNone/>
            </a:pPr>
            <a:r>
              <a:rPr lang="en-US" sz="80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https://www.totallipedemacare.com/understanding-stage-4-lipedema-lipo-lymphedema/</a:t>
            </a:r>
            <a:endParaRPr lang="en-US" sz="800" dirty="0"/>
          </a:p>
        </p:txBody>
      </p:sp>
      <p:sp>
        <p:nvSpPr>
          <p:cNvPr id="10" name="Shape 8"/>
          <p:cNvSpPr/>
          <p:nvPr/>
        </p:nvSpPr>
        <p:spPr>
          <a:xfrm>
            <a:off x="566928" y="2441448"/>
            <a:ext cx="11057839" cy="640080"/>
          </a:xfrm>
          <a:prstGeom prst="roundRect">
            <a:avLst>
              <a:gd name="adj" fmla="val 12857"/>
            </a:avLst>
          </a:prstGeom>
          <a:solidFill>
            <a:srgbClr val="FFFFFF"/>
          </a:solidFill>
          <a:ln w="12700">
            <a:solidFill>
              <a:srgbClr val="DCE6E8"/>
            </a:solidFill>
            <a:prstDash val="solid"/>
          </a:ln>
        </p:spPr>
      </p:sp>
      <p:sp>
        <p:nvSpPr>
          <p:cNvPr id="11" name="Text 9"/>
          <p:cNvSpPr/>
          <p:nvPr/>
        </p:nvSpPr>
        <p:spPr>
          <a:xfrm>
            <a:off x="804672" y="2496312"/>
            <a:ext cx="8680399" cy="237744"/>
          </a:xfrm>
          <a:prstGeom prst="rect">
            <a:avLst/>
          </a:prstGeom>
          <a:noFill/>
          <a:ln/>
        </p:spPr>
        <p:txBody>
          <a:bodyPr wrap="square" lIns="0" tIns="0" rIns="0" bIns="0" rtlCol="0" anchor="ctr"/>
          <a:lstStyle/>
          <a:p>
            <a:pPr indent="0" marL="0">
              <a:buNone/>
            </a:pPr>
            <a:r>
              <a:rPr lang="en-US" sz="1200" b="1" dirty="0">
                <a:solidFill>
                  <a:srgbClr val="025462"/>
                </a:solidFill>
                <a:latin typeface="Calibri" pitchFamily="34" charset="0"/>
                <a:ea typeface="Calibri" pitchFamily="34" charset="-122"/>
                <a:cs typeface="Calibri" pitchFamily="34" charset="-120"/>
              </a:rPr>
              <a:t>Differential diagnostics of lipedema and lymphedema</a:t>
            </a:r>
            <a:endParaRPr lang="en-US" sz="1200" dirty="0"/>
          </a:p>
        </p:txBody>
      </p:sp>
      <p:sp>
        <p:nvSpPr>
          <p:cNvPr id="12" name="Text 10"/>
          <p:cNvSpPr/>
          <p:nvPr/>
        </p:nvSpPr>
        <p:spPr>
          <a:xfrm>
            <a:off x="9521647" y="2496312"/>
            <a:ext cx="1828800" cy="237744"/>
          </a:xfrm>
          <a:prstGeom prst="rect">
            <a:avLst/>
          </a:prstGeom>
          <a:noFill/>
          <a:ln/>
        </p:spPr>
        <p:txBody>
          <a:bodyPr wrap="square" lIns="0" tIns="0" rIns="0" bIns="0" rtlCol="0" anchor="ctr"/>
          <a:lstStyle/>
          <a:p>
            <a:pPr algn="r" indent="0" marL="0">
              <a:buNone/>
            </a:pPr>
            <a:r>
              <a:rPr lang="en-US" sz="900" b="1" dirty="0">
                <a:solidFill>
                  <a:srgbClr val="028090"/>
                </a:solidFill>
                <a:latin typeface="Calibri" pitchFamily="34" charset="0"/>
                <a:ea typeface="Calibri" pitchFamily="34" charset="-122"/>
                <a:cs typeface="Calibri" pitchFamily="34" charset="-120"/>
              </a:rPr>
              <a:t>PubMed</a:t>
            </a:r>
            <a:endParaRPr lang="en-US" sz="900" dirty="0"/>
          </a:p>
        </p:txBody>
      </p:sp>
      <p:sp>
        <p:nvSpPr>
          <p:cNvPr id="13" name="Text 11"/>
          <p:cNvSpPr/>
          <p:nvPr/>
        </p:nvSpPr>
        <p:spPr>
          <a:xfrm>
            <a:off x="804672" y="2715768"/>
            <a:ext cx="10582351" cy="182880"/>
          </a:xfrm>
          <a:prstGeom prst="rect">
            <a:avLst/>
          </a:prstGeom>
          <a:noFill/>
          <a:ln/>
        </p:spPr>
        <p:txBody>
          <a:bodyPr wrap="square" lIns="0" tIns="0" rIns="0" bIns="0" rtlCol="0" anchor="ctr"/>
          <a:lstStyle/>
          <a:p>
            <a:pPr indent="0" marL="0">
              <a:buNone/>
            </a:pPr>
            <a:r>
              <a:rPr lang="en-US" sz="950" dirty="0">
                <a:solidFill>
                  <a:srgbClr val="36454F"/>
                </a:solidFill>
                <a:latin typeface="Calibri" pitchFamily="34" charset="0"/>
                <a:ea typeface="Calibri" pitchFamily="34" charset="-122"/>
                <a:cs typeface="Calibri" pitchFamily="34" charset="-120"/>
              </a:rPr>
              <a:t>Practical guideline. Basis for the differential table.</a:t>
            </a:r>
            <a:endParaRPr lang="en-US" sz="950" dirty="0"/>
          </a:p>
        </p:txBody>
      </p:sp>
      <p:sp>
        <p:nvSpPr>
          <p:cNvPr id="14" name="Text 12"/>
          <p:cNvSpPr/>
          <p:nvPr/>
        </p:nvSpPr>
        <p:spPr>
          <a:xfrm>
            <a:off x="804672" y="2889504"/>
            <a:ext cx="10582351" cy="182880"/>
          </a:xfrm>
          <a:prstGeom prst="rect">
            <a:avLst/>
          </a:prstGeom>
          <a:noFill/>
          <a:ln/>
        </p:spPr>
        <p:txBody>
          <a:bodyPr wrap="square" lIns="0" tIns="0" rIns="0" bIns="0" rtlCol="0" anchor="ctr"/>
          <a:lstStyle/>
          <a:p>
            <a:pPr indent="0" marL="0">
              <a:buNone/>
            </a:pPr>
            <a:r>
              <a:rPr lang="en-US" sz="80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https://pubmed.ncbi.nlm.nih.gov/30280233/</a:t>
            </a:r>
            <a:endParaRPr lang="en-US" sz="800" dirty="0"/>
          </a:p>
        </p:txBody>
      </p:sp>
      <p:sp>
        <p:nvSpPr>
          <p:cNvPr id="15" name="Shape 13"/>
          <p:cNvSpPr/>
          <p:nvPr/>
        </p:nvSpPr>
        <p:spPr>
          <a:xfrm>
            <a:off x="566928" y="3191256"/>
            <a:ext cx="11057839" cy="640080"/>
          </a:xfrm>
          <a:prstGeom prst="roundRect">
            <a:avLst>
              <a:gd name="adj" fmla="val 12857"/>
            </a:avLst>
          </a:prstGeom>
          <a:solidFill>
            <a:srgbClr val="FFFFFF"/>
          </a:solidFill>
          <a:ln w="12700">
            <a:solidFill>
              <a:srgbClr val="DCE6E8"/>
            </a:solidFill>
            <a:prstDash val="solid"/>
          </a:ln>
        </p:spPr>
      </p:sp>
      <p:sp>
        <p:nvSpPr>
          <p:cNvPr id="16" name="Text 14"/>
          <p:cNvSpPr/>
          <p:nvPr/>
        </p:nvSpPr>
        <p:spPr>
          <a:xfrm>
            <a:off x="804672" y="3246120"/>
            <a:ext cx="8680399" cy="237744"/>
          </a:xfrm>
          <a:prstGeom prst="rect">
            <a:avLst/>
          </a:prstGeom>
          <a:noFill/>
          <a:ln/>
        </p:spPr>
        <p:txBody>
          <a:bodyPr wrap="square" lIns="0" tIns="0" rIns="0" bIns="0" rtlCol="0" anchor="ctr"/>
          <a:lstStyle/>
          <a:p>
            <a:pPr indent="0" marL="0">
              <a:buNone/>
            </a:pPr>
            <a:r>
              <a:rPr lang="en-US" sz="1200" b="1" dirty="0">
                <a:solidFill>
                  <a:srgbClr val="025462"/>
                </a:solidFill>
                <a:latin typeface="Calibri" pitchFamily="34" charset="0"/>
                <a:ea typeface="Calibri" pitchFamily="34" charset="-122"/>
                <a:cs typeface="Calibri" pitchFamily="34" charset="-120"/>
              </a:rPr>
              <a:t>Lipedema vs lymphedema — Northwell Health</a:t>
            </a:r>
            <a:endParaRPr lang="en-US" sz="1200" dirty="0"/>
          </a:p>
        </p:txBody>
      </p:sp>
      <p:sp>
        <p:nvSpPr>
          <p:cNvPr id="17" name="Text 15"/>
          <p:cNvSpPr/>
          <p:nvPr/>
        </p:nvSpPr>
        <p:spPr>
          <a:xfrm>
            <a:off x="9521647" y="3246120"/>
            <a:ext cx="1828800" cy="237744"/>
          </a:xfrm>
          <a:prstGeom prst="rect">
            <a:avLst/>
          </a:prstGeom>
          <a:noFill/>
          <a:ln/>
        </p:spPr>
        <p:txBody>
          <a:bodyPr wrap="square" lIns="0" tIns="0" rIns="0" bIns="0" rtlCol="0" anchor="ctr"/>
          <a:lstStyle/>
          <a:p>
            <a:pPr algn="r" indent="0" marL="0">
              <a:buNone/>
            </a:pPr>
            <a:r>
              <a:rPr lang="en-US" sz="900" b="1" dirty="0">
                <a:solidFill>
                  <a:srgbClr val="028090"/>
                </a:solidFill>
                <a:latin typeface="Calibri" pitchFamily="34" charset="0"/>
                <a:ea typeface="Calibri" pitchFamily="34" charset="-122"/>
                <a:cs typeface="Calibri" pitchFamily="34" charset="-120"/>
              </a:rPr>
              <a:t>Article</a:t>
            </a:r>
            <a:endParaRPr lang="en-US" sz="900" dirty="0"/>
          </a:p>
        </p:txBody>
      </p:sp>
      <p:sp>
        <p:nvSpPr>
          <p:cNvPr id="18" name="Text 16"/>
          <p:cNvSpPr/>
          <p:nvPr/>
        </p:nvSpPr>
        <p:spPr>
          <a:xfrm>
            <a:off x="804672" y="3465576"/>
            <a:ext cx="10582351" cy="182880"/>
          </a:xfrm>
          <a:prstGeom prst="rect">
            <a:avLst/>
          </a:prstGeom>
          <a:noFill/>
          <a:ln/>
        </p:spPr>
        <p:txBody>
          <a:bodyPr wrap="square" lIns="0" tIns="0" rIns="0" bIns="0" rtlCol="0" anchor="ctr"/>
          <a:lstStyle/>
          <a:p>
            <a:pPr indent="0" marL="0">
              <a:buNone/>
            </a:pPr>
            <a:r>
              <a:rPr lang="en-US" sz="950" dirty="0">
                <a:solidFill>
                  <a:srgbClr val="36454F"/>
                </a:solidFill>
                <a:latin typeface="Calibri" pitchFamily="34" charset="0"/>
                <a:ea typeface="Calibri" pitchFamily="34" charset="-122"/>
                <a:cs typeface="Calibri" pitchFamily="34" charset="-120"/>
              </a:rPr>
              <a:t>Plain-language framing useful for patient education.</a:t>
            </a:r>
            <a:endParaRPr lang="en-US" sz="950" dirty="0"/>
          </a:p>
        </p:txBody>
      </p:sp>
      <p:sp>
        <p:nvSpPr>
          <p:cNvPr id="19" name="Text 17"/>
          <p:cNvSpPr/>
          <p:nvPr/>
        </p:nvSpPr>
        <p:spPr>
          <a:xfrm>
            <a:off x="804672" y="3639312"/>
            <a:ext cx="10582351" cy="182880"/>
          </a:xfrm>
          <a:prstGeom prst="rect">
            <a:avLst/>
          </a:prstGeom>
          <a:noFill/>
          <a:ln/>
        </p:spPr>
        <p:txBody>
          <a:bodyPr wrap="square" lIns="0" tIns="0" rIns="0" bIns="0" rtlCol="0" anchor="ctr"/>
          <a:lstStyle/>
          <a:p>
            <a:pPr indent="0" marL="0">
              <a:buNone/>
            </a:pPr>
            <a:r>
              <a:rPr lang="en-US" sz="80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https://www.northwell.edu/news/insights/lipedema-vs-lymphedema-what-to-know</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11414455" y="6382512"/>
            <a:ext cx="457200" cy="274320"/>
          </a:xfrm>
          <a:prstGeom prst="rect">
            <a:avLst/>
          </a:prstGeom>
          <a:noFill/>
          <a:ln/>
        </p:spPr>
        <p:txBody>
          <a:bodyPr wrap="square" lIns="0" tIns="0" rIns="0" bIns="0" rtlCol="0" anchor="ctr"/>
          <a:lstStyle/>
          <a:p>
            <a:pPr algn="r" indent="0" marL="0">
              <a:buNone/>
            </a:pPr>
            <a:r>
              <a:rPr lang="en-US" sz="1000" dirty="0">
                <a:solidFill>
                  <a:srgbClr val="9BB0B8"/>
                </a:solidFill>
                <a:latin typeface="Calibri" pitchFamily="34" charset="0"/>
                <a:ea typeface="Calibri" pitchFamily="34" charset="-122"/>
                <a:cs typeface="Calibri" pitchFamily="34" charset="-120"/>
              </a:rPr>
              <a:t>40</a:t>
            </a:r>
            <a:endParaRPr lang="en-US" sz="1000" dirty="0"/>
          </a:p>
        </p:txBody>
      </p:sp>
      <p:sp>
        <p:nvSpPr>
          <p:cNvPr id="3" name="Text 1"/>
          <p:cNvSpPr/>
          <p:nvPr/>
        </p:nvSpPr>
        <p:spPr>
          <a:xfrm>
            <a:off x="566928" y="310896"/>
            <a:ext cx="11057839"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CLOSE</a:t>
            </a:r>
            <a:endParaRPr lang="en-US" sz="1100" dirty="0"/>
          </a:p>
        </p:txBody>
      </p:sp>
      <p:sp>
        <p:nvSpPr>
          <p:cNvPr id="4" name="Text 2"/>
          <p:cNvSpPr/>
          <p:nvPr/>
        </p:nvSpPr>
        <p:spPr>
          <a:xfrm>
            <a:off x="566928" y="603504"/>
            <a:ext cx="11057839" cy="777240"/>
          </a:xfrm>
          <a:prstGeom prst="rect">
            <a:avLst/>
          </a:prstGeom>
          <a:noFill/>
          <a:ln/>
        </p:spPr>
        <p:txBody>
          <a:bodyPr wrap="square" lIns="0" tIns="0" rIns="0" bIns="0" rtlCol="0" anchor="t"/>
          <a:lstStyle/>
          <a:p>
            <a:pPr indent="0" marL="0">
              <a:buNone/>
            </a:pPr>
            <a:r>
              <a:rPr lang="en-US" sz="3400" b="1" dirty="0">
                <a:solidFill>
                  <a:srgbClr val="025462"/>
                </a:solidFill>
                <a:latin typeface="Cambria" pitchFamily="34" charset="0"/>
                <a:ea typeface="Cambria" pitchFamily="34" charset="-122"/>
                <a:cs typeface="Cambria" pitchFamily="34" charset="-120"/>
              </a:rPr>
              <a:t>Key Takeaways</a:t>
            </a:r>
            <a:endParaRPr lang="en-US" sz="3400" dirty="0"/>
          </a:p>
        </p:txBody>
      </p:sp>
      <p:sp>
        <p:nvSpPr>
          <p:cNvPr id="5" name="Text 3"/>
          <p:cNvSpPr/>
          <p:nvPr/>
        </p:nvSpPr>
        <p:spPr>
          <a:xfrm>
            <a:off x="566928" y="1554480"/>
            <a:ext cx="5391760" cy="4572000"/>
          </a:xfrm>
          <a:prstGeom prst="rect">
            <a:avLst/>
          </a:prstGeom>
          <a:noFill/>
          <a:ln/>
        </p:spPr>
        <p:txBody>
          <a:bodyPr wrap="square" lIns="0" tIns="0" rIns="0" bIns="0" rtlCol="0" anchor="t"/>
          <a:lstStyle/>
          <a:p>
            <a:pPr indent="0" marL="0">
              <a:buNone/>
            </a:pPr>
            <a:r>
              <a:rPr lang="en-US" sz="1300" b="1" dirty="0">
                <a:solidFill>
                  <a:srgbClr val="028090"/>
                </a:solidFill>
                <a:latin typeface="Calibri" pitchFamily="34" charset="0"/>
                <a:ea typeface="Calibri" pitchFamily="34" charset="-122"/>
                <a:cs typeface="Calibri" pitchFamily="34" charset="-120"/>
              </a:rPr>
              <a:t>1.  </a:t>
            </a:r>
            <a:pPr indent="0" marL="0">
              <a:spcAft>
                <a:spcPts val="900"/>
              </a:spcAft>
              <a:buNone/>
            </a:pPr>
            <a:r>
              <a:rPr lang="en-US" sz="1300" dirty="0">
                <a:solidFill>
                  <a:srgbClr val="1B2A30"/>
                </a:solidFill>
                <a:latin typeface="Calibri" pitchFamily="34" charset="0"/>
                <a:ea typeface="Calibri" pitchFamily="34" charset="-122"/>
                <a:cs typeface="Calibri" pitchFamily="34" charset="-120"/>
              </a:rPr>
              <a:t>Lymphedema is mechanical insufficiency — high-protein, progressive, and self-reinforcing if untreated.</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2.  </a:t>
            </a:r>
            <a:pPr indent="0" marL="0">
              <a:spcAft>
                <a:spcPts val="900"/>
              </a:spcAft>
              <a:buNone/>
            </a:pPr>
            <a:r>
              <a:rPr lang="en-US" sz="1300" dirty="0">
                <a:solidFill>
                  <a:srgbClr val="1B2A30"/>
                </a:solidFill>
                <a:latin typeface="Calibri" pitchFamily="34" charset="0"/>
                <a:ea typeface="Calibri" pitchFamily="34" charset="-122"/>
                <a:cs typeface="Calibri" pitchFamily="34" charset="-120"/>
              </a:rPr>
              <a:t>Symptoms precede visible swelling. Stage 0 is real and is the best time to intervene.</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3.  </a:t>
            </a:r>
            <a:pPr indent="0" marL="0">
              <a:spcAft>
                <a:spcPts val="900"/>
              </a:spcAft>
              <a:buNone/>
            </a:pPr>
            <a:r>
              <a:rPr lang="en-US" sz="1300" dirty="0">
                <a:solidFill>
                  <a:srgbClr val="1B2A30"/>
                </a:solidFill>
                <a:latin typeface="Calibri" pitchFamily="34" charset="0"/>
                <a:ea typeface="Calibri" pitchFamily="34" charset="-122"/>
                <a:cs typeface="Calibri" pitchFamily="34" charset="-120"/>
              </a:rPr>
              <a:t>Stemmer's sign is fast, free, and diagnostic when positive.</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4.  </a:t>
            </a:r>
            <a:pPr indent="0" marL="0">
              <a:spcAft>
                <a:spcPts val="900"/>
              </a:spcAft>
              <a:buNone/>
            </a:pPr>
            <a:r>
              <a:rPr lang="en-US" sz="1300" dirty="0">
                <a:solidFill>
                  <a:srgbClr val="1B2A30"/>
                </a:solidFill>
                <a:latin typeface="Calibri" pitchFamily="34" charset="0"/>
                <a:ea typeface="Calibri" pitchFamily="34" charset="-122"/>
                <a:cs typeface="Calibri" pitchFamily="34" charset="-120"/>
              </a:rPr>
              <a:t>Four ISL stages: 0 latent, I reversible, II irreversible/fibrotic, III elephantiasis.</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5.  </a:t>
            </a:r>
            <a:pPr indent="0" marL="0">
              <a:spcAft>
                <a:spcPts val="900"/>
              </a:spcAft>
              <a:buNone/>
            </a:pPr>
            <a:r>
              <a:rPr lang="en-US" sz="1300" dirty="0">
                <a:solidFill>
                  <a:srgbClr val="1B2A30"/>
                </a:solidFill>
                <a:latin typeface="Calibri" pitchFamily="34" charset="0"/>
                <a:ea typeface="Calibri" pitchFamily="34" charset="-122"/>
                <a:cs typeface="Calibri" pitchFamily="34" charset="-120"/>
              </a:rPr>
              <a:t>CDT has four components. Compression is the one that holds the result.</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6.  </a:t>
            </a:r>
            <a:pPr indent="0" marL="0">
              <a:spcAft>
                <a:spcPts val="900"/>
              </a:spcAft>
              <a:buNone/>
            </a:pPr>
            <a:r>
              <a:rPr lang="en-US" sz="1300" dirty="0">
                <a:solidFill>
                  <a:srgbClr val="1B2A30"/>
                </a:solidFill>
                <a:latin typeface="Calibri" pitchFamily="34" charset="0"/>
                <a:ea typeface="Calibri" pitchFamily="34" charset="-122"/>
                <a:cs typeface="Calibri" pitchFamily="34" charset="-120"/>
              </a:rPr>
              <a:t>Exercise under compression is treatment. Resistance training is safe.</a:t>
            </a:r>
            <a:endParaRPr lang="en-US" sz="1300" dirty="0"/>
          </a:p>
        </p:txBody>
      </p:sp>
      <p:sp>
        <p:nvSpPr>
          <p:cNvPr id="6" name="Text 4"/>
          <p:cNvSpPr/>
          <p:nvPr/>
        </p:nvSpPr>
        <p:spPr>
          <a:xfrm>
            <a:off x="6233008" y="1554480"/>
            <a:ext cx="5391760" cy="4572000"/>
          </a:xfrm>
          <a:prstGeom prst="rect">
            <a:avLst/>
          </a:prstGeom>
          <a:noFill/>
          <a:ln/>
        </p:spPr>
        <p:txBody>
          <a:bodyPr wrap="square" lIns="0" tIns="0" rIns="0" bIns="0" rtlCol="0" anchor="t"/>
          <a:lstStyle/>
          <a:p>
            <a:pPr indent="0" marL="0">
              <a:buNone/>
            </a:pPr>
            <a:r>
              <a:rPr lang="en-US" sz="1300" b="1" dirty="0">
                <a:solidFill>
                  <a:srgbClr val="028090"/>
                </a:solidFill>
                <a:latin typeface="Calibri" pitchFamily="34" charset="0"/>
                <a:ea typeface="Calibri" pitchFamily="34" charset="-122"/>
                <a:cs typeface="Calibri" pitchFamily="34" charset="-120"/>
              </a:rPr>
              <a:t>7.  </a:t>
            </a:r>
            <a:pPr indent="0" marL="0">
              <a:spcAft>
                <a:spcPts val="900"/>
              </a:spcAft>
              <a:buNone/>
            </a:pPr>
            <a:r>
              <a:rPr lang="en-US" sz="1300" dirty="0">
                <a:solidFill>
                  <a:srgbClr val="1B2A30"/>
                </a:solidFill>
                <a:latin typeface="Calibri" pitchFamily="34" charset="0"/>
                <a:ea typeface="Calibri" pitchFamily="34" charset="-122"/>
                <a:cs typeface="Calibri" pitchFamily="34" charset="-120"/>
              </a:rPr>
              <a:t>Garment choice is decided as much by whether the patient can don it as by pressure class.</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8.  </a:t>
            </a:r>
            <a:pPr indent="0" marL="0">
              <a:spcAft>
                <a:spcPts val="900"/>
              </a:spcAft>
              <a:buNone/>
            </a:pPr>
            <a:r>
              <a:rPr lang="en-US" sz="1300" dirty="0">
                <a:solidFill>
                  <a:srgbClr val="1B2A30"/>
                </a:solidFill>
                <a:latin typeface="Calibri" pitchFamily="34" charset="0"/>
                <a:ea typeface="Calibri" pitchFamily="34" charset="-122"/>
                <a:cs typeface="Calibri" pitchFamily="34" charset="-120"/>
              </a:rPr>
              <a:t>Lipedema is painful, symmetrical, spares the feet, and has a negative Stemmer.</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9.  </a:t>
            </a:r>
            <a:pPr indent="0" marL="0">
              <a:spcAft>
                <a:spcPts val="900"/>
              </a:spcAft>
              <a:buNone/>
            </a:pPr>
            <a:r>
              <a:rPr lang="en-US" sz="1300" dirty="0">
                <a:solidFill>
                  <a:srgbClr val="1B2A30"/>
                </a:solidFill>
                <a:latin typeface="Calibri" pitchFamily="34" charset="0"/>
                <a:ea typeface="Calibri" pitchFamily="34" charset="-122"/>
                <a:cs typeface="Calibri" pitchFamily="34" charset="-120"/>
              </a:rPr>
              <a:t>Lipedema is staged 1–3, with lipo-lymphedema as a contested Stage 4.</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10.  </a:t>
            </a:r>
            <a:pPr indent="0" marL="0">
              <a:spcAft>
                <a:spcPts val="900"/>
              </a:spcAft>
              <a:buNone/>
            </a:pPr>
            <a:r>
              <a:rPr lang="en-US" sz="1300" dirty="0">
                <a:solidFill>
                  <a:srgbClr val="1B2A30"/>
                </a:solidFill>
                <a:latin typeface="Calibri" pitchFamily="34" charset="0"/>
                <a:ea typeface="Calibri" pitchFamily="34" charset="-122"/>
                <a:cs typeface="Calibri" pitchFamily="34" charset="-120"/>
              </a:rPr>
              <a:t>Every episode of cellulitis makes the underlying disease worse.</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11.  </a:t>
            </a:r>
            <a:pPr indent="0" marL="0">
              <a:spcAft>
                <a:spcPts val="900"/>
              </a:spcAft>
              <a:buNone/>
            </a:pPr>
            <a:r>
              <a:rPr lang="en-US" sz="1300" dirty="0">
                <a:solidFill>
                  <a:srgbClr val="1B2A30"/>
                </a:solidFill>
                <a:latin typeface="Calibri" pitchFamily="34" charset="0"/>
                <a:ea typeface="Calibri" pitchFamily="34" charset="-122"/>
                <a:cs typeface="Calibri" pitchFamily="34" charset="-120"/>
              </a:rPr>
              <a:t>Patient education and Phase II adherence determine long-term outcome.</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12.  </a:t>
            </a:r>
            <a:pPr indent="0" marL="0">
              <a:spcAft>
                <a:spcPts val="900"/>
              </a:spcAft>
              <a:buNone/>
            </a:pPr>
            <a:r>
              <a:rPr lang="en-US" sz="1300" dirty="0">
                <a:solidFill>
                  <a:srgbClr val="1B2A30"/>
                </a:solidFill>
                <a:latin typeface="Calibri" pitchFamily="34" charset="0"/>
                <a:ea typeface="Calibri" pitchFamily="34" charset="-122"/>
                <a:cs typeface="Calibri" pitchFamily="34" charset="-120"/>
              </a:rPr>
              <a:t>Decongestion is not discharge — reassess gait, balance, and orthopedic pain afterwards.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25462"/>
        </a:solidFill>
      </p:bgPr>
    </p:bg>
    <p:spTree>
      <p:nvGrpSpPr>
        <p:cNvPr id="1" name=""/>
        <p:cNvGrpSpPr/>
        <p:nvPr/>
      </p:nvGrpSpPr>
      <p:grpSpPr>
        <a:xfrm>
          <a:off x="0" y="0"/>
          <a:ext cx="0" cy="0"/>
          <a:chOff x="0" y="0"/>
          <a:chExt cx="0" cy="0"/>
        </a:xfrm>
      </p:grpSpPr>
      <p:sp>
        <p:nvSpPr>
          <p:cNvPr id="2" name="Text 0"/>
          <p:cNvSpPr/>
          <p:nvPr/>
        </p:nvSpPr>
        <p:spPr>
          <a:xfrm>
            <a:off x="566928" y="1371600"/>
            <a:ext cx="76809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Questions</a:t>
            </a:r>
            <a:endParaRPr lang="en-US" sz="4600" dirty="0"/>
          </a:p>
        </p:txBody>
      </p:sp>
      <p:sp>
        <p:nvSpPr>
          <p:cNvPr id="3" name="Text 1"/>
          <p:cNvSpPr/>
          <p:nvPr/>
        </p:nvSpPr>
        <p:spPr>
          <a:xfrm>
            <a:off x="566928" y="2423160"/>
            <a:ext cx="7498080" cy="548640"/>
          </a:xfrm>
          <a:prstGeom prst="rect">
            <a:avLst/>
          </a:prstGeom>
          <a:noFill/>
          <a:ln/>
        </p:spPr>
        <p:txBody>
          <a:bodyPr wrap="square" lIns="0" tIns="0" rIns="0" bIns="0" rtlCol="0" anchor="t"/>
          <a:lstStyle/>
          <a:p>
            <a:pPr indent="0" marL="0">
              <a:buNone/>
            </a:pPr>
            <a:r>
              <a:rPr lang="en-US" sz="1600" dirty="0">
                <a:solidFill>
                  <a:srgbClr val="CBE6EB"/>
                </a:solidFill>
                <a:latin typeface="Calibri" pitchFamily="34" charset="0"/>
                <a:ea typeface="Calibri" pitchFamily="34" charset="-122"/>
                <a:cs typeface="Calibri" pitchFamily="34" charset="-120"/>
              </a:rPr>
              <a:t>Scan for the full presentation, outline, and a 12-question self-check.</a:t>
            </a:r>
            <a:endParaRPr lang="en-US" sz="1600" dirty="0"/>
          </a:p>
        </p:txBody>
      </p:sp>
      <p:sp>
        <p:nvSpPr>
          <p:cNvPr id="4" name="Shape 2"/>
          <p:cNvSpPr/>
          <p:nvPr/>
        </p:nvSpPr>
        <p:spPr>
          <a:xfrm>
            <a:off x="566928" y="3291840"/>
            <a:ext cx="5669280" cy="0"/>
          </a:xfrm>
          <a:prstGeom prst="line">
            <a:avLst/>
          </a:prstGeom>
          <a:noFill/>
          <a:ln w="12700">
            <a:solidFill>
              <a:srgbClr val="3E7C8A"/>
            </a:solidFill>
            <a:prstDash val="solid"/>
          </a:ln>
        </p:spPr>
      </p:sp>
      <p:sp>
        <p:nvSpPr>
          <p:cNvPr id="5" name="Text 3"/>
          <p:cNvSpPr/>
          <p:nvPr/>
        </p:nvSpPr>
        <p:spPr>
          <a:xfrm>
            <a:off x="566928" y="3520440"/>
            <a:ext cx="7498080" cy="16459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Dr. Sara S. Morrison, PT, DPT, CDT, Cert DN, PCES, CFT, FMT</a:t>
            </a:r>
            <a:endParaRPr lang="en-US" sz="1700" dirty="0"/>
          </a:p>
          <a:p>
            <a:pPr indent="0" marL="0">
              <a:buNone/>
            </a:pPr>
            <a:r>
              <a:rPr lang="en-US" sz="1500" dirty="0">
                <a:solidFill>
                  <a:srgbClr val="CBE6EB"/>
                </a:solidFill>
                <a:latin typeface="Calibri" pitchFamily="34" charset="0"/>
                <a:ea typeface="Calibri" pitchFamily="34" charset="-122"/>
                <a:cs typeface="Calibri" pitchFamily="34" charset="-120"/>
              </a:rPr>
              <a:t>Total Body Therapy &amp; Wellness</a:t>
            </a:r>
            <a:endParaRPr lang="en-US" sz="1700" dirty="0"/>
          </a:p>
          <a:p>
            <a:pPr indent="0" marL="0">
              <a:buNone/>
            </a:pPr>
            <a:r>
              <a:rPr lang="en-US" sz="1300" dirty="0">
                <a:solidFill>
                  <a:srgbClr val="A8CFD8"/>
                </a:solidFill>
                <a:latin typeface="Calibri" pitchFamily="34" charset="0"/>
                <a:ea typeface="Calibri" pitchFamily="34" charset="-122"/>
                <a:cs typeface="Calibri" pitchFamily="34" charset="-120"/>
              </a:rPr>
              <a:t>260 Pine State Street, Lillington, NC 27546</a:t>
            </a:r>
            <a:endParaRPr lang="en-US" sz="1700" dirty="0"/>
          </a:p>
          <a:p>
            <a:pPr indent="0" marL="0">
              <a:buNone/>
            </a:pPr>
            <a:r>
              <a:rPr lang="en-US" sz="1300" dirty="0">
                <a:solidFill>
                  <a:srgbClr val="A8CFD8"/>
                </a:solidFill>
                <a:latin typeface="Calibri" pitchFamily="34" charset="0"/>
                <a:ea typeface="Calibri" pitchFamily="34" charset="-122"/>
                <a:cs typeface="Calibri" pitchFamily="34" charset="-120"/>
              </a:rPr>
              <a:t>(910) 893-2850   ·   tbtwonline.com</a:t>
            </a:r>
            <a:endParaRPr lang="en-US" sz="1700" dirty="0"/>
          </a:p>
        </p:txBody>
      </p:sp>
      <p:sp>
        <p:nvSpPr>
          <p:cNvPr id="6" name="Shape 4"/>
          <p:cNvSpPr/>
          <p:nvPr/>
        </p:nvSpPr>
        <p:spPr>
          <a:xfrm>
            <a:off x="8869680" y="1645920"/>
            <a:ext cx="2788920" cy="3108960"/>
          </a:xfrm>
          <a:prstGeom prst="roundRect">
            <a:avLst>
              <a:gd name="adj" fmla="val 3934"/>
            </a:avLst>
          </a:prstGeom>
          <a:solidFill>
            <a:srgbClr val="FFFFFF"/>
          </a:solidFill>
          <a:ln w="12700">
            <a:solidFill>
              <a:srgbClr val="FFFFFF"/>
            </a:solidFill>
            <a:prstDash val="solid"/>
          </a:ln>
        </p:spPr>
      </p:sp>
      <p:pic>
        <p:nvPicPr>
          <p:cNvPr id="7" name="Image 0" descr="/home/claude/build/assets/qr.png">    </p:cNvPr>
          <p:cNvPicPr>
            <a:picLocks noChangeAspect="1"/>
          </p:cNvPicPr>
          <p:nvPr/>
        </p:nvPicPr>
        <p:blipFill>
          <a:blip r:embed="rId1"/>
          <a:stretch>
            <a:fillRect/>
          </a:stretch>
        </p:blipFill>
        <p:spPr>
          <a:xfrm>
            <a:off x="9189720" y="1920240"/>
            <a:ext cx="2148840" cy="2148840"/>
          </a:xfrm>
          <a:prstGeom prst="rect">
            <a:avLst/>
          </a:prstGeom>
        </p:spPr>
      </p:pic>
      <p:sp>
        <p:nvSpPr>
          <p:cNvPr id="8" name="Text 5"/>
          <p:cNvSpPr/>
          <p:nvPr/>
        </p:nvSpPr>
        <p:spPr>
          <a:xfrm>
            <a:off x="8915400" y="4160520"/>
            <a:ext cx="2697480" cy="502920"/>
          </a:xfrm>
          <a:prstGeom prst="rect">
            <a:avLst/>
          </a:prstGeom>
          <a:noFill/>
          <a:ln/>
        </p:spPr>
        <p:txBody>
          <a:bodyPr wrap="square" lIns="0" tIns="0" rIns="0" bIns="0" rtlCol="0" anchor="ctr"/>
          <a:lstStyle/>
          <a:p>
            <a:pPr algn="ctr" indent="0" marL="0">
              <a:buNone/>
            </a:pPr>
            <a:r>
              <a:rPr lang="en-US" sz="750" dirty="0">
                <a:solidFill>
                  <a:srgbClr val="36454F"/>
                </a:solidFill>
                <a:latin typeface="Calibri" pitchFamily="34" charset="0"/>
                <a:ea typeface="Calibri" pitchFamily="34" charset="-122"/>
                <a:cs typeface="Calibri" pitchFamily="34" charset="-120"/>
              </a:rPr>
              <a:t>information-vs-energy-vs-matter.github.io/Total_body_therapy_-_wellness/lymphedema/</a:t>
            </a:r>
            <a:endParaRPr lang="en-US" sz="750" dirty="0"/>
          </a:p>
        </p:txBody>
      </p:sp>
      <p:sp>
        <p:nvSpPr>
          <p:cNvPr id="9" name="Text 6"/>
          <p:cNvSpPr/>
          <p:nvPr/>
        </p:nvSpPr>
        <p:spPr>
          <a:xfrm>
            <a:off x="566928" y="6217920"/>
            <a:ext cx="11057839" cy="365760"/>
          </a:xfrm>
          <a:prstGeom prst="rect">
            <a:avLst/>
          </a:prstGeom>
          <a:noFill/>
          <a:ln/>
        </p:spPr>
        <p:txBody>
          <a:bodyPr wrap="square" lIns="0" tIns="0" rIns="0" bIns="0" rtlCol="0" anchor="ctr"/>
          <a:lstStyle/>
          <a:p>
            <a:pPr indent="0" marL="0">
              <a:buNone/>
            </a:pPr>
            <a:r>
              <a:rPr lang="en-US" sz="1000" i="1" dirty="0">
                <a:solidFill>
                  <a:srgbClr val="7FA6B0"/>
                </a:solidFill>
                <a:latin typeface="Calibri" pitchFamily="34" charset="0"/>
                <a:ea typeface="Calibri" pitchFamily="34" charset="-122"/>
                <a:cs typeface="Calibri" pitchFamily="34" charset="-120"/>
              </a:rPr>
              <a:t>Educational use only. Not a substitute for individualized medical evaluation or care.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Total Body Therapy &amp; Wellness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Lymphedema &amp; Lipedema</dc:title>
  <dc:subject>PptxGenJS Presentation</dc:subject>
  <dc:creator>Dr. Sara S. Morrison</dc:creator>
  <cp:lastModifiedBy>Dr. Sara S. Morrison</cp:lastModifiedBy>
  <cp:revision>1</cp:revision>
  <dcterms:created xsi:type="dcterms:W3CDTF">2026-09-28T02:00:43Z</dcterms:created>
  <dcterms:modified xsi:type="dcterms:W3CDTF">2026-09-28T02:00:43Z</dcterms:modified>
</cp:coreProperties>
</file>