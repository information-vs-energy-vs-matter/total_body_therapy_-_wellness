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Point the room at the QR code before you start — it opens this presentation, the outline, and a 12-question self-check quiz.
Educational use only. Not a substitute for individualized medical evaluation or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credibility briefly, then move on. Both therapists are CLTs.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quickly — they double as the roadmap for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Combined insufficiency — high load AND damaged system — is common in the patients you will actually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multipliers after cancer treatment: extent of node dissection, regional radiation, elevated BMI, post-op infection, wound complications, and taxane-based chemotherapy.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Lymphedema is typically painless early. New or significant pain suggests infection, DVT, malignancy — or lipedema, which is painful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Severity by volume difference vs. the contralateral limb: minimal &lt;20%, moderate 20–40%, severe &gt;40%.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Severity by volume difference vs. the contralateral limb: minimal &lt;20%, moderate 20–40%, severe &gt;40%.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Malignant lymphedema and DVT are the two that must not be missed. Both are referrals, not treatment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Staging describes tissue condition, not size. A small Stage III limb is still Stage III. Severity is graded separately by volume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 slot: Stage 0 — no visible change; consider a limb-surveillance/measurement photo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 slot: Stage I — soft pitting edema, dorsum of foot or hand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presence or absence of pitting is what separates early from late Stage II — not the size of the limb.
Photo slot: Stage II — firm non-pitting swelling, positive Stemmer, early skin thickening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III is not a treatment failure to be managed passively. Significant reduction is well documented with sustained CDT.
Photo slot: Stage III — elephantiasis, papillomas, deep skin folds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II is where outcomes are actually won or lost. Adherence, not technique, is the usual determinant of long-term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II is where outcomes are actually won or lost. Adherence, not technique, is the usual determinant of long-term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alone produces modest results. Its value is greatest when combined with compression — the evidence supports CDT as a package, not MLD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alone produces modest results. Its value is greatest when combined with compression — the evidence supports CDT as a package, not MLD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Intermittent pneumatic compression may be a useful adjunct but does not replace MLD or bandaging, and must not be used over an untreated proximal obstruction.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Aquatic exercise is particularly effective — hydrostatic pressure provides uniform external compression while the patient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Bramblette and patient advocacy groups have driven recent recognition, but average time to diagnosis remains measured in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Bramblette and patient advocacy groups have driven recent recognition, but average time to diagnosis remains measured in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co-exist. Lipedema does not itself cause lymphedema — but central obesity, which frequently accompanies it, substantially raises lymphedema risk. Treat what you 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The single most valuable thing you may do is tell the patient this is a recognized disease and not a personal failure of willpower.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is contraindicated in acute infection, acute DVT, and decompensated heart failure. When in doubt, do not treat — refer.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takeaways. If you are short on time, 3, 5 and 7 are the ones they must leave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Remind them the QR opens the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5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BODY THERAPY &amp; WELLNESS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6916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Lymphedema &amp; Lipedema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30632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Differential Diagnosis, and Physical Therapy Management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5669280" cy="0"/>
          </a:xfrm>
          <a:prstGeom prst="line">
            <a:avLst/>
          </a:prstGeom>
          <a:noFill/>
          <a:ln w="12700">
            <a:solidFill>
              <a:srgbClr val="3E7C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43891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Sara S. Morrison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PT, DPT, CDT, Cert DN, PCES, CFT, FMT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Lead Physical Therapist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869680" y="1645920"/>
            <a:ext cx="2788920" cy="342900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home/claude/build/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194560"/>
            <a:ext cx="2148840" cy="2148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FOLLOW ALONG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915400" y="44348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Presentation, outline &amp; self-check quiz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" y="61996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  ·  (910) 893-2850  ·  tbtwonline.com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Total Body Therapy &amp; Wellness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Lillington, NC in 2008 with the goal of bringing exceptional "Big City Care" to a small-town community. Physical therapy in Harnett County since 2002.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1057839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505456"/>
            <a:ext cx="1041775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Patient-centered, one-on-one treatment every visit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Lymphedema Therapists (CLT) on staff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Whole-person approach — we treat the total body, not just the part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as a core part of the plan of care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51114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  ·  (910) 893-2850  ·  tbtwonline.com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completion you will be able 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5391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structure and function of the lymphatic system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primary from secondary lymphedema and identify risk factors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symptomatology and clinical presentation of lymphedema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and interpret key diagnostic tests, including Stemmer's sign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33008" y="1691640"/>
            <a:ext cx="5391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lymphedema using ISL criteria, Stage 0 through Stage III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four components of Complete Decongestive Therapy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lipedema from lymphedema and stage lipedema appropriately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red flags requiring physician referral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Lymphatic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drainage network running parallel to the venous system, returning fluid, protein, and immune cells to circulation.</a:t>
            </a:r>
            <a:endParaRPr lang="en-US" sz="1500" dirty="0"/>
          </a:p>
        </p:txBody>
      </p:sp>
      <p:pic>
        <p:nvPicPr>
          <p:cNvPr id="6" name="Image 0" descr="/home/claude/build/assets/lymph_path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Lymphatic System — Pathway &amp; Function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drainage network running parallel to the venous system, returning fluid, protein, and immune cells to circulation.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1989963"/>
          </a:xfrm>
          <a:prstGeom prst="roundRect">
            <a:avLst>
              <a:gd name="adj" fmla="val 413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jobs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1331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balance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returns roughly 2–4 L of interstitial fluid to the bloodstream daily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transport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only route by which large interstitial proteins return to circulation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surveillance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lymph nodes filter pathogens and host lymphocytes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559177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190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lymphatics (blind-ended capillaries) collect interstitial fluid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Precollectors and collectors move lymph via lymphangions — segments that contract 6–10x/min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lymph nodes filter the load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Trunks drain to the thoracic duct (left, and entire lower body) and right lymphatic duct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empty at the subclavian veins — back into venous circulation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 Load vs. Transport Capacity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of lymphedema is a mismatch between how much fluid needs to move and how much the system can move.</a:t>
            </a:r>
            <a:endParaRPr lang="en-US" sz="1500" dirty="0"/>
          </a:p>
        </p:txBody>
      </p:sp>
      <p:pic>
        <p:nvPicPr>
          <p:cNvPr id="6" name="Image 0" descr="/home/claude/build/assets/load_capa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insufficiency — high load AND damaged system — is common in the patients you will actually see.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vs. Secondary Lymphedema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lymphedema arises from congenital lymphatic dysplasia. Secondary lymphedema follows anatomical disruption of a previously normal system.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2274570"/>
          </a:xfrm>
          <a:prstGeom prst="roundRect">
            <a:avLst>
              <a:gd name="adj" fmla="val 361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developmental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161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Congenital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present at birth or within the first 2 years. Includes Milroy disease.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Praecox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at puberty through age 35. The most common primary form.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Tarda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after age 35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Mechanisms: aplasia, hypoplasia, hyperplasia, or valvular incompetence of lymphatics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843784"/>
          </a:xfrm>
          <a:prstGeom prst="roundRect">
            <a:avLst>
              <a:gd name="adj" fmla="val 2894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acquired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treatment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lymph node dissection and/or radiation. The leading cause in developed countries.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Filariasis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*Wuchereria bancrofti*. The leading cause worldwide.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or surgery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burns, vein harvest, orthopedic procedures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venous insufficiency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progresses to phlebolymphedema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infection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each episode of cellulitis causes further lymphatic damage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central obesity significantly raises risk independently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Symptomatology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symptoms frequently precede visible swelling by months. Do not wait for a measurable difference to take a patient seriously.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— often reported before anything is visible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Heaviness, fullness, or tightness in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Clothing, sleeves, rings, or shoes fitting differently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Aching or discomfort without a clear mechanical cause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flexibility at the wrist, hand, or ankle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swelling that resolves overnight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2843784"/>
          </a:xfrm>
          <a:prstGeom prst="roundRect">
            <a:avLst>
              <a:gd name="adj" fmla="val 2894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swelling, initially distal, that no longer resolves with elevation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edema — later becoming non-pitting as fibrosis develops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feels thickened, firm, or leathery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Stemmer's sign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Deepened natural skin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cellulitis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219706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overlook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561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Psychosocial burden — body image, clothing, social withdrawal, anxiety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loss — grip, reach, gait, footwear, ADLs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impact and cost of ongoing garments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— History &amp; Examination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is primarily clinical. History and physical examination identify the great majority of cases.</a:t>
            </a:r>
            <a:endParaRPr lang="en-US" sz="1500" dirty="0"/>
          </a:p>
        </p:txBody>
      </p:sp>
      <p:pic>
        <p:nvPicPr>
          <p:cNvPr id="6" name="Image 0" descr="/home/claude/build/assets/stemm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2727" y="2322576"/>
            <a:ext cx="48920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231136"/>
            <a:ext cx="5754319" cy="1844421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359152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706624"/>
            <a:ext cx="5242255" cy="1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Onset, duration, progression, and whether it resolves overnight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and oncologic history — nodes removed, radiation fields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history — every episode of cellulitis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(suggests primary lymphedema or lipedema)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history (filariasis), cardiac, renal, and hepatic history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4240149"/>
            <a:ext cx="5754319" cy="1968246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368165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examination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4715637"/>
            <a:ext cx="5242255" cy="132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attempt to pinch and lift the skin fold at the base of the 2nd toe or finger. Cannot lift = positive = lymphedema. Positive is diagnostic; negative does not rule it out.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assessment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depth and rebound time, graded 1+ to 4+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inspection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texture, temperature, color, papillomas, fissures, wounds, fungal infection between digits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comparison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symmetry, foot involvement, where the swelling stops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— Measurement &amp; Imaging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28336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measurement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066544"/>
            <a:ext cx="4989424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Circumferential tape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at fixed 4 cm intervals from a bony landmark. Low cost, good reliability if landmarks are consistent.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water displacement. Historically the gold standard; impractical with open wounds.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Perometry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infrared optical scanning. Fast and reproducible.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Bioimpedance spectroscopy (L-Dex)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detects extracellular fluid change; can identify subclinical Stage 0.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6432" y="1572768"/>
            <a:ext cx="5428336" cy="2044827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— when the picture is unclear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15888" y="2066544"/>
            <a:ext cx="4989424" cy="138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Lymphoscintigraphy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imaging standard for confirming lymphatic dysfunction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ICG lymphography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maps superficial lymphatics; guides MLD and surgical planning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Duplex ultrasound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rule out DVT and venous insufficiency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/ CT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rule out malignancy or extrinsic compression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Else Swells a Limb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treat it as lymphedema, rule these out.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3018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Distinguishing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vein thrombosis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unilateral onset, pain, warmth, erythema. URGENT — do not perform MLD.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venous insufficiency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Hemosiderin staining, varicosities, medial malleolar ulceration, improves with elevation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Congestive heart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dependent, pitting, dyspnea, JVD, orthopnea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Hypoproteinemia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generalized, may include ascites/periorbital 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symmetrical, painful, bruises easily, SPARES THE FEET, negative Stemmer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Malignant lymphedema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 onset, pain, proximal-first, neurologic signs. Requires imaging.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Cellulitis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Fever, spreading erythema, heat, pain. Antibiotics first — MLD contraindicated.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Medication-induced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channel blockers, NSAIDs, steroids, gabapentin, some diabetes drugs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0807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lymphedema and DVT are the two that must not be missed. Both are referrals, not treatment plans.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ISL Staging — Overview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International Society of Lymphology defines four stages. Stage 0 is latent — the lymphatics are already impaired before anything is visible.</a:t>
            </a:r>
            <a:endParaRPr lang="en-US" sz="1500" dirty="0"/>
          </a:p>
        </p:txBody>
      </p:sp>
      <p:pic>
        <p:nvPicPr>
          <p:cNvPr id="6" name="Image 0" descr="/home/claude/build/assets/stage_progres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describes tissue condition, not size. A small Stage III limb is still Stage III. Severity is graded separately by volume difference.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Latent / Subclinical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transport is already impaired. No visible swelling. May persist for months or years before progressing.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0571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362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visible or palpable edema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heaviness, tightness, or fullness may be reported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transport capacity detectable by bioimpedance or lymphoscintigraphy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tissue consistency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Stemmer's sign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highest-value window for intervention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measurement pre-operatively makes this stage detectable at all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program, risk-reduction education, early compression if indicated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PT after node dissection has been shown to reduce progression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Spontaneously Reversible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accumulation of protein-rich fluid. Swelling reduces with elevation — often resolving completely overnight.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0571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362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pitting edema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Subsides with elevation; frequently gone by morning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secondary tissue changes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fibrosis yet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usually negative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 feels heavy; may be visibly larger by end of day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responsive to CDT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garments often sufficient for maintenance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on self-management is decisive here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prevent the transition to fibrosis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Spontaneously Irreversible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alone no longer reduces the swelling. Lymphostatic fibrosis has begun and the tissue is changing character.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333244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rarely reduces the limb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II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pitting is manifest and pronounced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Stage II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pitting may be absent as fibrosis replaces fluid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feels firm; Stemmer's sign becomes positive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frequency of cellulitis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thickening becomes apparent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intensive-phase CDT is indicated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Fibrosis requires manual work plus foam/chip padding under bandaging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goal is volume reduction and stabilization, not cure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infection-prevention education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or absence of pitting is what separates early from late Stage II — not the size of the limb.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Lymphostatic Elephantiasis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volume increase with characteristic trophic skin changes. Pitting is typically absent.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885440"/>
          </a:xfrm>
          <a:prstGeom prst="roundRect">
            <a:avLst>
              <a:gd name="adj" fmla="val 285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219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volume increase and limb distortion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absent</a:t>
            </a:r>
            <a:pPr indent="0" marL="0">
              <a:spcAft>
                <a:spcPts val="600"/>
              </a:spcAft>
              <a:buNone/>
            </a:pP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skin changes — acanthosis, hyperkeratosis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Papillomas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warty overgrowth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skin folds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fat deposition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Lymphorrhea — weeping of lymph fluid through the skin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Stemmer's sign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Frequent, sometimes life-threatening infection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2223516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52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intensive phase; often requires wound care alongside CDT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volume reduction is still achievable — do not write these patients off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Multilayer bandaging with substantial padding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physician; surgical options may be considered after conservative management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 is not a treatment failure to be managed passively. Significant reduction is well documented with sustained CDT.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Decongestive Therapy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is the internationally accepted standard of care. It has four components, delivered in two phases.</a:t>
            </a:r>
            <a:endParaRPr lang="en-US" sz="1500" dirty="0"/>
          </a:p>
        </p:txBody>
      </p:sp>
      <p:pic>
        <p:nvPicPr>
          <p:cNvPr id="6" name="Image 0" descr="/home/claude/build/assets/cdt_pilla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is where outcomes are actually won or lost. Adherence, not technique, is the usual determinant of long-term result.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CDT — Two Phases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39176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73936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— Intensive / Reductive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258568"/>
            <a:ext cx="484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3–6 weeks, treatment 4–5x/week, sessions 1–2 hours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MLD, multilayer short-stretch bandaging worn 23 hours/day, exercise, skin care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at every visit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when volume plateaus across consecutive sessions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572768"/>
            <a:ext cx="539176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7328" y="1773936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— Maintenance / Self-Management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07328" y="2258568"/>
            <a:ext cx="484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compression garment during the day; night garment or bandaging as needed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Self-MLD and home exercise program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skin care and self-inspection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surveillance; garments replaced every 4–6 months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a short intensive phase if the limb regresses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is where outcomes are actually won or lost. Adherence, not technique, is the usual determinant of long-term result.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1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&amp; Nail Care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lymphedematous limb is immunocompromised tissue. The skin is the last barrier, and every infection causes further lymphatic damage.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routine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 with low-pH, fragrance-free cleanser — lymphedematous skin is alkaline-shifted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thoroughly, especially between the toes and in skin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low-pH emollient to keep the barrier intact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entire limb daily, including between digits and the posterior surface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248406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tinea pedis and onychomycosis aggressively — a common cellulitis entry point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Nails cut straight across; avoid cutting cuticles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blood draws, IVs, and BP cuffs on the at-risk limb where an alternative exists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during gardening, cooking, pet handling; gloves and insect repellent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antiseptic care for any break in the skin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patient to recognize cellulitis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redness, heat, tenderness, sudden limb enlargement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Fever, chills, malaise, flu-like onset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 care same-day. Stop MLD and compression until treated.</a:t>
            </a:r>
            <a:pPr indent="0" marL="0">
              <a:spcAft>
                <a:spcPts val="600"/>
              </a:spcAft>
              <a:buNone/>
            </a:pP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cellulitis may warrant prophylactic antibiotics — physician decision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2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Lymphatic Drainage — Technique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specific, very light manual technique that stimulates lymphangion contraction and redirects lymph across watersheds into functioning territories.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3073527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principles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2415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light pressure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stretches skin only. Heavy pressure collapses initial lymphatics and is counterproductive.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rhythmic — roughly one stroke per second, matching lymphangion contraction rate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proximal before distal.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Empty the receiving area first or there is nowhere for fluid to go.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the neck/terminus, then trunk quadrants, then the affected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root-to-tip to clear, then tip-to-root to drain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must move with the hand — no gliding, no lubricant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384298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for an affected limb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172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Diaphragmatic breathing — drives thoracic duct flow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Terminus (supraclavicular) clearing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Contralateral, then ipsilateral trunk quadrants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Anastomoses — axillo-axillary, axillo-inguinal, inguino-inguinal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limb, then progressively distal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with a distal-to-proximal drainage sequence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2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MLD — Sequence &amp; Contraindications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specific, very light manual technique that stimulates lymphangion contraction and redirects lymph across watersheds into functioning territories.</a:t>
            </a:r>
            <a:endParaRPr lang="en-US" sz="1500" dirty="0"/>
          </a:p>
        </p:txBody>
      </p:sp>
      <p:pic>
        <p:nvPicPr>
          <p:cNvPr id="6" name="Image 0" descr="/home/claude/build/assets/mld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alone produces modest results. Its value is greatest when combined with compression — the evidence supports CDT as a package, not MLD in isolation.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3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Therapy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component for maintaining reduction. Without compression, gains from MLD reverse within hours.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— short-stretch bandaging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Short-stretch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bandages: low resting pressure, high working pressure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long-stretch/ACE — high resting pressure risks a tourniquet effect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Layered: stockinette, digit wrap, padding, then short-stretch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Foam or chip padding over fibrotic areas to soften tissue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must be higher distally than proximally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Worn 23 hours/day, reapplied at each visit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— garments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1: 20–30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mild/early, upper limb, prophylaxis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2: 30–40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most lower limb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3: 40–50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severe lower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Flat-knit generally preferred over circular-knit for lymphedema — better containment, no tourniquet at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fit for irregular limb shape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every 4–6 months; two garments so one is always clean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arterial status.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ABI &lt; 0.8 requires caution; &lt; 0.5 is a contraindication to standard compression.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Decompensated heart failure — sudden fluid return can precipitate overload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DVT, acute infection, severe peripheral neuropathy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skin integrity at every application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4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Remedial Exercise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skeletal muscle pump is a primary driver of lymph transport. Exercise performed under compression is decongestive therapy.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3303270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64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perform with compression in place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bandages or garment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diaphragmatic breathing to open the thoracic duct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to distal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clear the trunk and proximal limb first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rhythmic, controlled; no breath-holding or Valsalva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resistance, higher repetition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with elevation and further breathing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303270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components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64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Diaphragmatic breathing — 5–10 repetitions to start and finish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 and shoulder girdle mobility (upper limb cases)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 and core activation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ROM progressing proximal to distal through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pumps and calf work for lower limb cases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Aerobic conditioning — walking, cycling, aquatic therapy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3478149"/>
          </a:xfrm>
          <a:prstGeom prst="roundRect">
            <a:avLst>
              <a:gd name="adj" fmla="val 236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resistance training question — settled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2819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progressive resistance training does not cause or worsen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PAL trial demonstrated safety in breast cancer survivors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reduce flare incidence and improve limb symptoms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gradually, wear compression, monitor and stop for symptom change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tell patients to avoid using the limb.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advice is outdated and causes deconditioning.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— A Different Disease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chronic disorder of adipose tissue, almost exclusively affecting women, routinely misdiagnosed as obesity or lymphedema for years before recognition.</a:t>
            </a:r>
            <a:endParaRPr lang="en-US" sz="1500" dirty="0"/>
          </a:p>
        </p:txBody>
      </p:sp>
      <p:pic>
        <p:nvPicPr>
          <p:cNvPr id="6" name="Image 0" descr="/home/claude/build/assets/lipedema_cu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2727" y="2322576"/>
            <a:ext cx="48920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231136"/>
            <a:ext cx="5754319" cy="2830576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359152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features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706624"/>
            <a:ext cx="5242255" cy="219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and symmetrical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fat deposition — legs, hips, buttocks, sometimes arms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Painful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tenderness, aching, pressure sensitivity. This is diagnostic, not incidental.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Bruises easily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capillary fragility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Spares the feet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sharp cuff or 'bracelet' at the ankle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lower body markedly larger than trunk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Diet-resistant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affected fat does not respond to caloric restriction or exercise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Stemmer's sign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(until lymphatic involvement develops)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— Etiology &amp; Misdiagnosis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28336" cy="2329434"/>
          </a:xfrm>
          <a:prstGeom prst="roundRect">
            <a:avLst>
              <a:gd name="adj" fmla="val 353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066544"/>
            <a:ext cx="4989424" cy="1671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is unknown; strong familial pattern suggests genetic contribution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Hormonally triggered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and acceleration cluster at puberty, pregnancy, and menopause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points toward a connective tissue disorder component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 up to ~11% of women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are affected rarely, usually with hormonal alteration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6432" y="1572768"/>
            <a:ext cx="5428336" cy="2274570"/>
          </a:xfrm>
          <a:prstGeom prst="roundRect">
            <a:avLst>
              <a:gd name="adj" fmla="val 361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misdiagnosis matters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15888" y="2066544"/>
            <a:ext cx="4989424" cy="161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 frequently told to lose weight — which does not resolve the affected fat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unnecessary shame and ineffective treatment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diagnosis allows progression toward lymphatic involvement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 diagnosis is itself therapeutic — it reframes the patient's understanding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Staging — Stages 1 &amp; 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Classically staged 1 through 3 by skin and tissue architecture. A fourth stage — lipo-lymphedema — is widely used clinically but is contested.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3917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1401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14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84248" y="2414016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skin surface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889504"/>
            <a:ext cx="48796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surface normal and smooth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hypodermis; homogeneous thickening of subcutaneous tissue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often soft; small nodules may be palpable — described as rice-like or pearl-sized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accumulation around pelvis, buttocks, and hips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Limbs tender and prone to bruising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Swelling may improve with rest and elevation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33008" y="2231136"/>
            <a:ext cx="53917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89040" y="241401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9040" y="2414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50328" y="2414016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dimpled skin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89040" y="2889504"/>
            <a:ext cx="48796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surface becomes bumpy and wave-like with indentations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Nodular structures in the thickened subcutis — lipomas, angiolipomas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Subcutaneous tissue feels tougher and more nodular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build-up extends down the legs toward the ankles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Swelling less responsive to rest and elevation than Stage 1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range from mild to severe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Staging — Stage 3 &amp; Lipo-lymphedema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3917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745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84248" y="1874520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deformations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350008"/>
            <a:ext cx="487969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hardening of connective tissue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Bulky, overhanging extrusions of skin and fat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deformation of thighs and around the knees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swelling not resolving with rest or elevation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significantly impaired; highest rate of orthopedic complication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associated with secondary lymphedema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3008" y="1691640"/>
            <a:ext cx="53917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89040" y="18745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9040" y="18745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50328" y="1874520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Lipo-lymphedema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9040" y="2350008"/>
            <a:ext cx="487969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plus secondary lymphedema in the same limbs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feet begin to swell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defining change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becomes positive</a:t>
            </a:r>
            <a:pPr indent="0" marL="0">
              <a:spcAft>
                <a:spcPts val="600"/>
              </a:spcAft>
              <a:buNone/>
            </a:pP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over the toes thickens; pitting appears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moves from lipedema to lipo-lymphedema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Lymphoscintigraphy can document the degree of drainage impairment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503834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E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vs. Lymphedema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differential that matters most in practice — and the one most often gotten wrong.</a:t>
            </a:r>
            <a:endParaRPr lang="en-US" sz="15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52544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Lipedema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exclusively women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sex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symmetrical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unilateral; symmetry not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SPARED — sharp ankle cuff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INVOLVED — swelling includes feet/toes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Stemmer's 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Painful, tender to pressure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Painless early; tension pain when advanced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Bruising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Bruises easily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characteristic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Typically non-pitting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Pitting early; non-pitting when fibrotic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Proximal-dominant, disproportionate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Distal parts always more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Commonly 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only in primary lymphedema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to diet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fat is diet-resistant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primarily fat; weight loss reduces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Puberty, pregnancy, menopause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Surgery, radiation, infection, trauma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0807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co-exist. Lipedema does not itself cause lymphedema — but central obesity, which frequently accompanies it, substantially raises lymphedema risk. Treat what you find.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 Management of Lipedema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management does not remove lipedema fat. It manages pain, controls fluid, preserves mobility, and slows progression.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559177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can achieve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190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reduction — often the patient's highest priority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any fluid component through MLD and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Preservation of joint mechanics and gait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of progression to lipo-lymphedema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Weight-bearing tolerance and conditioning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— flat-knit garments, generally better tolerated than in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for the fluid component and for pain relief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exercise — highly effective; buoyancy plus hydrostatic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Low-impact aerobic and resistance conditioning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therapy for associated joint dysfunction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Nutritional referral — anti-inflammatory patterns, not caloric restriction alone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expectations honestly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care does not eliminate the fat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Liposuction (tumescent/water-assisted) is the only intervention that removes it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before and after liposuction improves outcomes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coverage remains inconsistent — this is a real barrier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Flags &amp; Referral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treatment and refer when you see these.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— same day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Cellulitis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spreading erythema, heat, fever, sudden limb enlargement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DVT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acute unilateral swelling, calf pain, warmth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Decompensated heart failure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dyspnea, orthopnea, rapid bilateral swelling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illness — fever, rigors, malaise, hypotension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workup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Rapid-onset or proximal-first swelling — possible malignant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new neurological deficit in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Non-healing wound or ulceration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weight loss, night sweats, palpable mass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respond to appropriately delivered CDT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044827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before starting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38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Arterial status — ABI before lower limb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and renal status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malignancy — coordinate with oncology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neuropathy and sensory testing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54480"/>
            <a:ext cx="5391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Lymphedema is mechanical insufficiency — high-protein, progressive, and self-reinforcing if untreated.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precede visible swelling. Stage 0 is real and is the best time to intervene.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is fast, free, and diagnostic when positive.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ISL stages: 0 latent, I reversible, II irreversible/fibrotic, III elephantiasis.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has four components. Compression is the one that holds the result.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33008" y="1554480"/>
            <a:ext cx="5391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under compression is treatment. Resistance training is safe.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is painful, symmetrical, spares the feet, and has a negative Stemmer.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is staged 1–3, with lipo-lymphedema as a contested Stage 4.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episode of cellulitis makes the underlying disease worse.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and Phase II adherence determine long-term outcome.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25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66928" y="2423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full presentation, outline, and a 12-question self-check.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3291840"/>
            <a:ext cx="5669280" cy="0"/>
          </a:xfrm>
          <a:prstGeom prst="line">
            <a:avLst/>
          </a:prstGeom>
          <a:noFill/>
          <a:ln w="12700">
            <a:solidFill>
              <a:srgbClr val="3E7C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352044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Sara S. Morrison, PT, DPT, CDT, Cert DN, PCES, CFT, FMT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Body Therapy &amp; Wellness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(910) 893-2850   ·   tbtwonline.com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869680" y="1645920"/>
            <a:ext cx="2788920" cy="310896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claude/build/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920240"/>
            <a:ext cx="2148840" cy="2148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15400" y="41605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information-vs-energy-vs-matter.github.io/Total_body_therapy_-_wellness/lymphedema/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66928" y="62179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use only. Not a substitute for individualized medical evaluation or care.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Total Body Therapy &amp; Wellness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Lymphedema &amp; Lipedema</dc:title>
  <dc:subject>PptxGenJS Presentation</dc:subject>
  <dc:creator>Dr. Sara S. Morrison</dc:creator>
  <cp:lastModifiedBy>Dr. Sara S. Morrison</cp:lastModifiedBy>
  <cp:revision>1</cp:revision>
  <dcterms:created xsi:type="dcterms:W3CDTF">2026-08-07T02:20:31Z</dcterms:created>
  <dcterms:modified xsi:type="dcterms:W3CDTF">2026-08-07T02:20:31Z</dcterms:modified>
</cp:coreProperties>
</file>