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Point the room at the QR code before you start — it opens this presentation, the outline, and a 12-question self-check quiz.
Educational use only. Not a substitute for individualized medical evaluation or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 credibility briefly, then move on. Both therapists are CLTs.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quickly — they double as the roadmap for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Lymphangion contraction is the primary pump. It is stimulated by stretch, muscle contraction, arterial pulsation, and breathing — which is exactly why exercise and diaphragmatic breathing are treatment, not just adjuncts.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Lymphangion contraction is the primary pump. It is stimulated by stretch, muscle contraction, arterial pulsation, and breathing — which is exactly why exercise and diaphragmatic breathing are treatment, not just adjuncts.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 safe to cut]
Combined insufficiency — high load AND damaged system — is common in the patients you will actually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multipliers after cancer treatment: extent of node dissection, regional radiation, elevated BMI, post-op infection, wound complications, and taxane-based chemotherapy.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Lymphedema is typically painless early. New or significant pain suggests infection, DVT, malignancy — or lipedema, which is painful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by volume difference vs. the contralateral limb: minimal &lt;20%, moderate 20–40%, severe &gt;40%.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by volume difference vs. the contralateral limb: minimal &lt;20%, moderate 20–40%, severe &gt;40%.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 safe to cut]
Malignant lymphedema and DVT are the two that must not be missed. Both are referrals, not treatment plans.
SUGGESTED IMAGES FOR THIS SLIDE
· Wikimedia — “deep vein thrombosis leg”
  https://commons.wikimedia.org/w/index.php?search=deep%20vein%20thrombosis%20leg&amp;title=Special:MediaSearch&amp;type=image
· Wikimedia — “chronic venous insufficiency”
  https://commons.wikimedia.org/w/index.php?search=chronic%20venous%20insufficiency&amp;title=Special:MediaSearch&amp;type=image
· Wikimedia — “cellulitis leg”
  https://commons.wikimedia.org/w/index.php?search=cellulitis%20leg&amp;title=Special:MediaSearch&amp;type=image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Staging describes tissue condition, not size. A small Stage III limb is still Stage III. Severity is graded separately by volume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Staging describes tissue condition, not size. A small Stage III limb is still Stage III. Severity is graded separately by volume difference.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slot: Stage 0 — no visible change; consider a limb-surveillance/measurement photo instead
SUGGESTED IMAGES FOR THIS SLIDE
· Wikimedia — “bioimpedance lymphedema”
  https://commons.wikimedia.org/w/index.php?search=bioimpedance%20lymphedema&amp;title=Special:MediaSearch&amp;type=image
· Wikimedia — “limb measurement tape”
  https://commons.wikimedia.org/w/index.php?search=limb%20measurement%20tape&amp;title=Special:MediaSearch&amp;type=image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slot: Stage I — soft pitting edema, dorsum of foot or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presence or absence of pitting is what separates early from late Stage II — not the size of the limb.
Photo slot: Stage II — firm non-pitting swelling, positive Stemmer, early skin thickening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III is not a treatment failure to be managed passively. Significant reduction is well documented with sustained CDT.
Photo slot: Stage III — elephantiasis, papillomas, deep skin 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III is not a treatment failure to be managed passively. Significant reduction is well documented with sustained CDT.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II is where outcomes are actually won or lost. Adherence, not technique, is the usual determinant of long-term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II is where outcomes are actually won or lost. Adherence, not technique, is the usual determinant of long-term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MLD alone produces modest results. Its value is greatest when combined with compression — the evidence supports CDT as a package, not MLD in isolation.
SUGGESTED IMAGES FOR THIS SLIDE
· Wikimedia — “manual lymphatic drainage”
  https://commons.wikimedia.org/w/index.php?search=manual%20lymphatic%20drainage&amp;title=Special:MediaSearch&amp;type=image
· Servier (CC BY) — “lymphatic drainage”
  https://smart.servier.com/?s=lymphatic%20drainage
· Wikimedia — “lymphatic watershed”
  https://commons.wikimedia.org/w/index.php?search=lymphatic%20watershed&amp;title=Special:MediaSearch&amp;type=image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MLD alone produces modest results. Its value is greatest when combined with compression — the evidence supports CDT as a package, not MLD in isolation.
SUGGESTED IMAGES FOR THIS SLIDE
· Wikimedia — “manual lymphatic drainage”
  https://commons.wikimedia.org/w/index.php?search=manual%20lymphatic%20drainage&amp;title=Special:MediaSearch&amp;type=image
· Servier (CC BY) — “lymphatic drainage”
  https://smart.servier.com/?s=lymphatic%20drainage
· Wikimedia — “lymphatic watershed”
  https://commons.wikimedia.org/w/index.php?search=lymphatic%20watershed&amp;title=Special:MediaSearch&amp;type=image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Intermittent pneumatic compression may be a useful adjunct but does not replace MLD or bandaging, and must not be used over an untreated proximal obstruction.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Aquatic exercise is particularly effective — hydrostatic pressure provides uniform external compression while the patient moves.
SUGGESTED IMAGES FOR THIS SLIDE
· Wikimedia — “aquatic therapy pool”
  https://commons.wikimedia.org/w/index.php?search=aquatic%20therapy%20pool&amp;title=Special:MediaSearch&amp;type=image
· Wikimedia — “resistance training rehabilitation”
  https://commons.wikimedia.org/w/index.php?search=resistance%20training%20rehabilitation&amp;title=Special:MediaSearch&amp;type=image
· Wikimedia — “diaphragmatic breathing”
  https://commons.wikimedia.org/w/index.php?search=diaphragmatic%20breathing&amp;title=Special:MediaSearch&amp;type=image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cause of Phase II failure is not the wrong pressure class — it is a garment the patient cannot physically get on. Assess grip, reach, and vision before prescribing, and reach for an adjustable wrap when donning is the limiting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cause of Phase II failure is not the wrong pressure class — it is a garment the patient cannot physically get on. Assess grip, reach, and vision before prescribing, and reach for an adjustable wrap when donning is the limiting factor.
SUGGESTED IMAGES FOR THIS SLIDE
Save as: garment_knee_high.png, garment_thigh_high.png, garment_pantyhose.png, garment_velcro_wrap.png, garment_custom.png
· Juzo — product images (ask for education use)
  https://www.juzousa.com/products
· Jobst — product images (ask for education use)
  https://www.jobst-usa.com/products
· Jobst FarrowWrap — Velcro wrap systems
  https://www.jobst-usa.com/farrowwrap
· Wikimedia — “compression stocking”
  https://commons.wikimedia.org/w/index.php?search=compression%20stocking&amp;title=Special:MediaSearch&amp;type=image
· Wikimedia — “compression bandage leg”
  https://commons.wikimedia.org/w/index.php?search=compression%20bandage%20leg&amp;title=Special:MediaSearch&amp;type=image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Bramblette and patient advocacy groups have driven recent recognition, but average time to diagnosis remains measured in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Bramblette and patient advocacy groups have driven recent recognition, but average time to diagnosis remains measured in years.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Bramblette and patient advocacy groups have driven recent recognition, but average time to diagnosis remains measured in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CAVEAT: The Lipedema Foundation no longer uses a 'Stage 4' designation, on the grounds that the lymphatic system can be compromised at any stage — lymphatic impairment is documented in Stages 2 and 3. Present Stage 4 as lipo-lymphedema, and note the debate. This is the intellectually honest framing and it will be the question a sharp student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CAVEAT: The Lipedema Foundation no longer uses a 'Stage 4' designation, on the grounds that the lymphatic system can be compromised at any stage — lymphatic impairment is documented in Stages 2 and 3. Present Stage 4 as lipo-lymphedema, and note the debate. This is the intellectually honest framing and it will be the question a sharp student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co-exist. Lipedema does not itself cause lymphedema — but central obesity, which frequently accompanies it, substantially raises lymphedema risk. Treat what you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 safe to cut]
The single most valuable thing you may do is tell the patient this is a recognized disease and not a personal failure of willpower.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valuable thing you may do is tell the patient this is a recognized disease and not a personal failure of willpower.
Images supplied by the practice / open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Patients are frequently discharged the moment limb volume plateaus. The gait, balance, and orthopedic findings underneath are what determine whether they actually return to their life — and they are squarely within PT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Patients are frequently discharged the moment limb volume plateaus. The gait, balance, and orthopedic findings underneath are what determine whether they actually return to their life — and they are squarely within PT scope.
SUGGESTED IMAGES FOR THIS SLIDE
· Wikimedia — “gait training physical therapy”
  https://commons.wikimedia.org/w/index.php?search=gait%20training%20physical%20therapy&amp;title=Special:MediaSearch&amp;type=image
· Wikimedia — “balance training rehabilitation”
  https://commons.wikimedia.org/w/index.php?search=balance%20training%20rehabilitation&amp;title=Special:MediaSearch&amp;type=image
· Wikimedia — “physical therapy knee”
  https://commons.wikimedia.org/w/index.php?search=physical%20therapy%20knee&amp;title=Special:MediaSearch&amp;type=image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MLD is contraindicated in acute infection, acute DVT, and decompensated heart failure. When in doubt, do not treat — refer.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Reviewing these is fine. Reusing their figures in a published deck is not — most contain third-party images the authors did not clear for redistribution. Use the per-slide image links instead; those are openly licensed. Structure, sequencing, and teaching approach are free to borrow from anyone.
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Reviewing these is fine. Reusing their figures in a published deck is not — most contain third-party images the authors did not clear for redistribution. Use the per-slide image links instead; those are openly licensed. Structure, sequencing, and teaching approach are free to borrow from anyone.
Links are clickable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takeaways. If you are short on time, 3, 5 and 7 are the ones they must leave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Remind them the QR opens the quiz.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www.isl.arizona.edu/sites/default/files/2024-11/THE-DIAGNOSIS-AND-TREATMENT-OF-PERIPHERAL-LYMPHEDEMA-2023-CONSENSUS-DOCUMENT-OF-THE-INTERNATIONAL-SOCIETY-OF-LYMPHOLOGY.pdf" TargetMode="External"/><Relationship Id="rId2" Type="http://schemas.openxmlformats.org/officeDocument/2006/relationships/hyperlink" Target="https://www.slideserve.com/collin/lymphedema-overview-and-treatment-considerations" TargetMode="External"/><Relationship Id="rId3" Type="http://schemas.openxmlformats.org/officeDocument/2006/relationships/hyperlink" Target="https://www.slideserve.com/lilly/lymphedema" TargetMode="External"/><Relationship Id="rId4" Type="http://schemas.openxmlformats.org/officeDocument/2006/relationships/hyperlink" Target="https://www.slideserve.com/lael/lymphedema-therapy" TargetMode="External"/><Relationship Id="rId5" Type="http://schemas.openxmlformats.org/officeDocument/2006/relationships/hyperlink" Target="https://www.slideserve.com/shoshana-reynolds/lymphedema-powerpoint-ppt-presentation" TargetMode="External"/><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hyperlink" Target="https://www.ncbi.nlm.nih.gov/pmc/articles/PMC6666846/" TargetMode="External"/><Relationship Id="rId2" Type="http://schemas.openxmlformats.org/officeDocument/2006/relationships/hyperlink" Target="https://www.lipedema.org/staging" TargetMode="External"/><Relationship Id="rId3" Type="http://schemas.openxmlformats.org/officeDocument/2006/relationships/hyperlink" Target="https://www.totallipedemacare.com/understanding-stage-4-lipedema-lipo-lymphedema/" TargetMode="External"/><Relationship Id="rId4" Type="http://schemas.openxmlformats.org/officeDocument/2006/relationships/hyperlink" Target="https://pubmed.ncbi.nlm.nih.gov/30280233/" TargetMode="External"/><Relationship Id="rId5" Type="http://schemas.openxmlformats.org/officeDocument/2006/relationships/hyperlink" Target="https://www.northwell.edu/news/insights/lipedema-vs-lymphedema-what-to-know" TargetMode="External"/><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5462"/>
        </a:solidFill>
      </p:bgPr>
    </p:bg>
    <p:spTree>
      <p:nvGrpSpPr>
        <p:cNvPr id="1" name=""/>
        <p:cNvGrpSpPr/>
        <p:nvPr/>
      </p:nvGrpSpPr>
      <p:grpSpPr>
        <a:xfrm>
          <a:off x="0" y="0"/>
          <a:ext cx="0" cy="0"/>
          <a:chOff x="0" y="0"/>
          <a:chExt cx="0" cy="0"/>
        </a:xfrm>
      </p:grpSpPr>
      <p:sp>
        <p:nvSpPr>
          <p:cNvPr id="2" name="Text 0"/>
          <p:cNvSpPr/>
          <p:nvPr/>
        </p:nvSpPr>
        <p:spPr>
          <a:xfrm>
            <a:off x="566928" y="1234440"/>
            <a:ext cx="11057839" cy="292608"/>
          </a:xfrm>
          <a:prstGeom prst="rect">
            <a:avLst/>
          </a:prstGeom>
          <a:noFill/>
          <a:ln/>
        </p:spPr>
        <p:txBody>
          <a:bodyPr wrap="square" lIns="0" tIns="0" rIns="0" bIns="0" rtlCol="0" anchor="ctr"/>
          <a:lstStyle/>
          <a:p>
            <a:pPr indent="0" marL="0">
              <a:buNone/>
            </a:pPr>
            <a:r>
              <a:rPr lang="en-US" sz="1300" b="1" spc="250" kern="0" dirty="0">
                <a:solidFill>
                  <a:srgbClr val="8FD3DE"/>
                </a:solidFill>
                <a:latin typeface="Calibri" pitchFamily="34" charset="0"/>
                <a:ea typeface="Calibri" pitchFamily="34" charset="-122"/>
                <a:cs typeface="Calibri" pitchFamily="34" charset="-120"/>
              </a:rPr>
              <a:t>TOTAL BODY THERAPY &amp; WELLNESS</a:t>
            </a:r>
            <a:endParaRPr lang="en-US" sz="1300" dirty="0"/>
          </a:p>
        </p:txBody>
      </p:sp>
      <p:sp>
        <p:nvSpPr>
          <p:cNvPr id="3" name="Text 1"/>
          <p:cNvSpPr/>
          <p:nvPr/>
        </p:nvSpPr>
        <p:spPr>
          <a:xfrm>
            <a:off x="566928" y="1691640"/>
            <a:ext cx="7863840" cy="1371600"/>
          </a:xfrm>
          <a:prstGeom prst="rect">
            <a:avLst/>
          </a:prstGeom>
          <a:noFill/>
          <a:ln/>
        </p:spPr>
        <p:txBody>
          <a:bodyPr wrap="square" lIns="0" tIns="0" rIns="0" bIns="0" rtlCol="0" anchor="t"/>
          <a:lstStyle/>
          <a:p>
            <a:pPr indent="0" marL="0">
              <a:buNone/>
            </a:pPr>
            <a:r>
              <a:rPr lang="en-US" sz="5000" b="1" dirty="0">
                <a:solidFill>
                  <a:srgbClr val="FFFFFF"/>
                </a:solidFill>
                <a:latin typeface="Cambria" pitchFamily="34" charset="0"/>
                <a:ea typeface="Cambria" pitchFamily="34" charset="-122"/>
                <a:cs typeface="Cambria" pitchFamily="34" charset="-120"/>
              </a:rPr>
              <a:t>Lymphedema &amp; Lipedema</a:t>
            </a:r>
            <a:endParaRPr lang="en-US" sz="5000" dirty="0"/>
          </a:p>
        </p:txBody>
      </p:sp>
      <p:sp>
        <p:nvSpPr>
          <p:cNvPr id="4" name="Text 2"/>
          <p:cNvSpPr/>
          <p:nvPr/>
        </p:nvSpPr>
        <p:spPr>
          <a:xfrm>
            <a:off x="566928" y="3063240"/>
            <a:ext cx="7680960" cy="777240"/>
          </a:xfrm>
          <a:prstGeom prst="rect">
            <a:avLst/>
          </a:prstGeom>
          <a:noFill/>
          <a:ln/>
        </p:spPr>
        <p:txBody>
          <a:bodyPr wrap="square" lIns="0" tIns="0" rIns="0" bIns="0" rtlCol="0" anchor="t"/>
          <a:lstStyle/>
          <a:p>
            <a:pPr indent="0" marL="0">
              <a:buNone/>
            </a:pPr>
            <a:r>
              <a:rPr lang="en-US" sz="1900" dirty="0">
                <a:solidFill>
                  <a:srgbClr val="CBE6EB"/>
                </a:solidFill>
                <a:latin typeface="Calibri" pitchFamily="34" charset="0"/>
                <a:ea typeface="Calibri" pitchFamily="34" charset="-122"/>
                <a:cs typeface="Calibri" pitchFamily="34" charset="-120"/>
              </a:rPr>
              <a:t>Staging, Differential Diagnosis, and Physical Therapy Management</a:t>
            </a:r>
            <a:endParaRPr lang="en-US" sz="1900" dirty="0"/>
          </a:p>
        </p:txBody>
      </p:sp>
      <p:sp>
        <p:nvSpPr>
          <p:cNvPr id="5" name="Shape 3"/>
          <p:cNvSpPr/>
          <p:nvPr/>
        </p:nvSpPr>
        <p:spPr>
          <a:xfrm>
            <a:off x="566928" y="4160520"/>
            <a:ext cx="5669280" cy="0"/>
          </a:xfrm>
          <a:prstGeom prst="line">
            <a:avLst/>
          </a:prstGeom>
          <a:noFill/>
          <a:ln w="12700">
            <a:solidFill>
              <a:srgbClr val="3E7C8A"/>
            </a:solidFill>
            <a:prstDash val="solid"/>
          </a:ln>
        </p:spPr>
      </p:sp>
      <p:sp>
        <p:nvSpPr>
          <p:cNvPr id="6" name="Text 4"/>
          <p:cNvSpPr/>
          <p:nvPr/>
        </p:nvSpPr>
        <p:spPr>
          <a:xfrm>
            <a:off x="566928" y="4389120"/>
            <a:ext cx="7680960" cy="118872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Dr. Sara S. Morrison</a:t>
            </a:r>
            <a:endParaRPr lang="en-US" sz="1900" dirty="0"/>
          </a:p>
          <a:p>
            <a:pPr indent="0" marL="0">
              <a:buNone/>
            </a:pPr>
            <a:r>
              <a:rPr lang="en-US" sz="1300" dirty="0">
                <a:solidFill>
                  <a:srgbClr val="A8CFD8"/>
                </a:solidFill>
                <a:latin typeface="Calibri" pitchFamily="34" charset="0"/>
                <a:ea typeface="Calibri" pitchFamily="34" charset="-122"/>
                <a:cs typeface="Calibri" pitchFamily="34" charset="-120"/>
              </a:rPr>
              <a:t>PT, DPT, CDT, Cert DN, PCES, CFT, FMT</a:t>
            </a:r>
            <a:endParaRPr lang="en-US" sz="1900" dirty="0"/>
          </a:p>
          <a:p>
            <a:pPr indent="0" marL="0">
              <a:buNone/>
            </a:pPr>
            <a:r>
              <a:rPr lang="en-US" sz="1300" dirty="0">
                <a:solidFill>
                  <a:srgbClr val="CBE6EB"/>
                </a:solidFill>
                <a:latin typeface="Calibri" pitchFamily="34" charset="0"/>
                <a:ea typeface="Calibri" pitchFamily="34" charset="-122"/>
                <a:cs typeface="Calibri" pitchFamily="34" charset="-120"/>
              </a:rPr>
              <a:t>Founder &amp; Lead Physical Therapist</a:t>
            </a:r>
            <a:endParaRPr lang="en-US" sz="1900" dirty="0"/>
          </a:p>
        </p:txBody>
      </p:sp>
      <p:sp>
        <p:nvSpPr>
          <p:cNvPr id="7" name="Shape 5"/>
          <p:cNvSpPr/>
          <p:nvPr/>
        </p:nvSpPr>
        <p:spPr>
          <a:xfrm>
            <a:off x="8869680" y="1645920"/>
            <a:ext cx="2788920" cy="3429000"/>
          </a:xfrm>
          <a:prstGeom prst="roundRect">
            <a:avLst>
              <a:gd name="adj" fmla="val 3934"/>
            </a:avLst>
          </a:prstGeom>
          <a:solidFill>
            <a:srgbClr val="FFFFFF"/>
          </a:solidFill>
          <a:ln w="12700">
            <a:solidFill>
              <a:srgbClr val="FFFFFF"/>
            </a:solidFill>
            <a:prstDash val="solid"/>
          </a:ln>
        </p:spPr>
      </p:sp>
      <p:pic>
        <p:nvPicPr>
          <p:cNvPr id="8" name="Image 0" descr="/home/claude/build/assets/qr.png">    </p:cNvPr>
          <p:cNvPicPr>
            <a:picLocks noChangeAspect="1"/>
          </p:cNvPicPr>
          <p:nvPr/>
        </p:nvPicPr>
        <p:blipFill>
          <a:blip r:embed="rId1"/>
          <a:stretch>
            <a:fillRect/>
          </a:stretch>
        </p:blipFill>
        <p:spPr>
          <a:xfrm>
            <a:off x="9189720" y="2194560"/>
            <a:ext cx="2148840" cy="2148840"/>
          </a:xfrm>
          <a:prstGeom prst="rect">
            <a:avLst/>
          </a:prstGeom>
        </p:spPr>
      </p:pic>
      <p:sp>
        <p:nvSpPr>
          <p:cNvPr id="9" name="Text 6"/>
          <p:cNvSpPr/>
          <p:nvPr/>
        </p:nvSpPr>
        <p:spPr>
          <a:xfrm>
            <a:off x="8869680" y="1828800"/>
            <a:ext cx="2788920" cy="274320"/>
          </a:xfrm>
          <a:prstGeom prst="rect">
            <a:avLst/>
          </a:prstGeom>
          <a:noFill/>
          <a:ln/>
        </p:spPr>
        <p:txBody>
          <a:bodyPr wrap="square" lIns="0" tIns="0" rIns="0" bIns="0" rtlCol="0" anchor="ctr"/>
          <a:lstStyle/>
          <a:p>
            <a:pPr algn="ctr" indent="0" marL="0">
              <a:buNone/>
            </a:pPr>
            <a:r>
              <a:rPr lang="en-US" sz="1000" b="1" spc="120" kern="0" dirty="0">
                <a:solidFill>
                  <a:srgbClr val="025462"/>
                </a:solidFill>
                <a:latin typeface="Calibri" pitchFamily="34" charset="0"/>
                <a:ea typeface="Calibri" pitchFamily="34" charset="-122"/>
                <a:cs typeface="Calibri" pitchFamily="34" charset="-120"/>
              </a:rPr>
              <a:t>SCAN TO FOLLOW ALONG</a:t>
            </a:r>
            <a:endParaRPr lang="en-US" sz="1000" dirty="0"/>
          </a:p>
        </p:txBody>
      </p:sp>
      <p:sp>
        <p:nvSpPr>
          <p:cNvPr id="10" name="Text 7"/>
          <p:cNvSpPr/>
          <p:nvPr/>
        </p:nvSpPr>
        <p:spPr>
          <a:xfrm>
            <a:off x="8915400" y="4434840"/>
            <a:ext cx="2697480" cy="457200"/>
          </a:xfrm>
          <a:prstGeom prst="rect">
            <a:avLst/>
          </a:prstGeom>
          <a:noFill/>
          <a:ln/>
        </p:spPr>
        <p:txBody>
          <a:bodyPr wrap="square" lIns="0" tIns="0" rIns="0" bIns="0" rtlCol="0" anchor="ctr"/>
          <a:lstStyle/>
          <a:p>
            <a:pPr algn="ctr" indent="0" marL="0">
              <a:buNone/>
            </a:pPr>
            <a:r>
              <a:rPr lang="en-US" sz="950" dirty="0">
                <a:solidFill>
                  <a:srgbClr val="36454F"/>
                </a:solidFill>
                <a:latin typeface="Calibri" pitchFamily="34" charset="0"/>
                <a:ea typeface="Calibri" pitchFamily="34" charset="-122"/>
                <a:cs typeface="Calibri" pitchFamily="34" charset="-120"/>
              </a:rPr>
              <a:t>Presentation, outline &amp; self-check quiz</a:t>
            </a:r>
            <a:endParaRPr lang="en-US" sz="950" dirty="0"/>
          </a:p>
        </p:txBody>
      </p:sp>
      <p:sp>
        <p:nvSpPr>
          <p:cNvPr id="11" name="Text 8"/>
          <p:cNvSpPr/>
          <p:nvPr/>
        </p:nvSpPr>
        <p:spPr>
          <a:xfrm>
            <a:off x="566928" y="6199632"/>
            <a:ext cx="11057839" cy="274320"/>
          </a:xfrm>
          <a:prstGeom prst="rect">
            <a:avLst/>
          </a:prstGeom>
          <a:noFill/>
          <a:ln/>
        </p:spPr>
        <p:txBody>
          <a:bodyPr wrap="square" lIns="0" tIns="0" rIns="0" bIns="0" rtlCol="0" anchor="ctr"/>
          <a:lstStyle/>
          <a:p>
            <a:pPr indent="0" marL="0">
              <a:buNone/>
            </a:pPr>
            <a:r>
              <a:rPr lang="en-US" sz="1100" dirty="0">
                <a:solidFill>
                  <a:srgbClr val="8FB4BE"/>
                </a:solidFill>
                <a:latin typeface="Calibri" pitchFamily="34" charset="0"/>
                <a:ea typeface="Calibri" pitchFamily="34" charset="-122"/>
                <a:cs typeface="Calibri" pitchFamily="34" charset="-120"/>
              </a:rPr>
              <a:t>260 Pine State Street, Lillington, NC 27546  ·  (910) 893-2850  ·  tbtwonline.com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ABOUT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About Total Body Therapy &amp; Wellness</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Founded in Lillington, NC in 2008 with the goal of bringing exceptional "Big City Care" to a small-town community. Physical therapy in Harnett County since 2002.</a:t>
            </a:r>
            <a:endParaRPr lang="en-US" sz="1500" dirty="0"/>
          </a:p>
        </p:txBody>
      </p:sp>
      <p:sp>
        <p:nvSpPr>
          <p:cNvPr id="6" name="Shape 4"/>
          <p:cNvSpPr/>
          <p:nvPr/>
        </p:nvSpPr>
        <p:spPr>
          <a:xfrm>
            <a:off x="566928" y="2231136"/>
            <a:ext cx="11057839" cy="2651760"/>
          </a:xfrm>
          <a:prstGeom prst="roundRect">
            <a:avLst>
              <a:gd name="adj" fmla="val 3103"/>
            </a:avLst>
          </a:prstGeom>
          <a:solidFill>
            <a:srgbClr val="FFFFFF"/>
          </a:solidFill>
          <a:ln w="12700">
            <a:solidFill>
              <a:srgbClr val="DCE6E8"/>
            </a:solidFill>
            <a:prstDash val="solid"/>
          </a:ln>
        </p:spPr>
      </p:sp>
      <p:sp>
        <p:nvSpPr>
          <p:cNvPr id="7" name="Text 5"/>
          <p:cNvSpPr/>
          <p:nvPr/>
        </p:nvSpPr>
        <p:spPr>
          <a:xfrm>
            <a:off x="886968" y="2505456"/>
            <a:ext cx="10417759" cy="2194560"/>
          </a:xfrm>
          <a:prstGeom prst="rect">
            <a:avLst/>
          </a:prstGeom>
          <a:noFill/>
          <a:ln/>
        </p:spPr>
        <p:txBody>
          <a:bodyPr wrap="square" lIns="0" tIns="0" rIns="0" bIns="0" rtlCol="0" anchor="t"/>
          <a:lstStyle/>
          <a:p>
            <a:pPr marL="190500" indent="-190500">
              <a:spcAft>
                <a:spcPts val="600"/>
              </a:spcAft>
              <a:buSzPct val="100000"/>
              <a:buChar char="•"/>
            </a:pPr>
            <a:r>
              <a:rPr lang="en-US" sz="1500" dirty="0">
                <a:solidFill>
                  <a:srgbClr val="1B2A30"/>
                </a:solidFill>
                <a:latin typeface="Calibri" pitchFamily="34" charset="0"/>
                <a:ea typeface="Calibri" pitchFamily="34" charset="-122"/>
                <a:cs typeface="Calibri" pitchFamily="34" charset="-120"/>
              </a:rPr>
              <a:t>Patient-centered, one-on-one treatment every visit</a:t>
            </a:r>
            <a:endParaRPr lang="en-US" sz="1500" dirty="0"/>
          </a:p>
          <a:p>
            <a:pPr marL="190500" indent="-190500">
              <a:spcAft>
                <a:spcPts val="600"/>
              </a:spcAft>
              <a:buSzPct val="100000"/>
              <a:buChar char="•"/>
            </a:pPr>
            <a:r>
              <a:rPr lang="en-US" sz="1500" dirty="0">
                <a:solidFill>
                  <a:srgbClr val="1B2A30"/>
                </a:solidFill>
                <a:latin typeface="Calibri" pitchFamily="34" charset="0"/>
                <a:ea typeface="Calibri" pitchFamily="34" charset="-122"/>
                <a:cs typeface="Calibri" pitchFamily="34" charset="-120"/>
              </a:rPr>
              <a:t>Certified Lymphedema Therapists (CLT) on staff</a:t>
            </a:r>
            <a:endParaRPr lang="en-US" sz="1500" dirty="0"/>
          </a:p>
          <a:p>
            <a:pPr marL="190500" indent="-190500">
              <a:spcAft>
                <a:spcPts val="600"/>
              </a:spcAft>
              <a:buSzPct val="100000"/>
              <a:buChar char="•"/>
            </a:pPr>
            <a:r>
              <a:rPr lang="en-US" sz="1500" dirty="0">
                <a:solidFill>
                  <a:srgbClr val="1B2A30"/>
                </a:solidFill>
                <a:latin typeface="Calibri" pitchFamily="34" charset="0"/>
                <a:ea typeface="Calibri" pitchFamily="34" charset="-122"/>
                <a:cs typeface="Calibri" pitchFamily="34" charset="-120"/>
              </a:rPr>
              <a:t>Whole-person approach — we treat the total body, not just the part</a:t>
            </a:r>
            <a:endParaRPr lang="en-US" sz="1500" dirty="0"/>
          </a:p>
          <a:p>
            <a:pPr marL="190500" indent="-190500">
              <a:spcAft>
                <a:spcPts val="600"/>
              </a:spcAft>
              <a:buSzPct val="100000"/>
              <a:buChar char="•"/>
            </a:pPr>
            <a:r>
              <a:rPr lang="en-US" sz="1500" dirty="0">
                <a:solidFill>
                  <a:srgbClr val="1B2A30"/>
                </a:solidFill>
                <a:latin typeface="Calibri" pitchFamily="34" charset="0"/>
                <a:ea typeface="Calibri" pitchFamily="34" charset="-122"/>
                <a:cs typeface="Calibri" pitchFamily="34" charset="-120"/>
              </a:rPr>
              <a:t>Patient education as a core part of the plan of care</a:t>
            </a:r>
            <a:endParaRPr lang="en-US" sz="1500" dirty="0"/>
          </a:p>
        </p:txBody>
      </p:sp>
      <p:sp>
        <p:nvSpPr>
          <p:cNvPr id="8" name="Text 6"/>
          <p:cNvSpPr/>
          <p:nvPr/>
        </p:nvSpPr>
        <p:spPr>
          <a:xfrm>
            <a:off x="566928" y="5111496"/>
            <a:ext cx="11057839" cy="274320"/>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260 Pine State Street, Lillington, NC 27546  ·  (910) 893-2850  ·  tbtwonline.com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OBJECTIVES</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On completion you will be able to</a:t>
            </a:r>
            <a:endParaRPr lang="en-US" sz="3400" dirty="0"/>
          </a:p>
        </p:txBody>
      </p:sp>
      <p:sp>
        <p:nvSpPr>
          <p:cNvPr id="5" name="Text 3"/>
          <p:cNvSpPr/>
          <p:nvPr/>
        </p:nvSpPr>
        <p:spPr>
          <a:xfrm>
            <a:off x="566928" y="1691640"/>
            <a:ext cx="5391760" cy="4206240"/>
          </a:xfrm>
          <a:prstGeom prst="rect">
            <a:avLst/>
          </a:prstGeom>
          <a:noFill/>
          <a:ln/>
        </p:spPr>
        <p:txBody>
          <a:bodyPr wrap="square" lIns="0" tIns="0" rIns="0" bIns="0" rtlCol="0" anchor="t"/>
          <a:lstStyle/>
          <a:p>
            <a:pPr indent="0" marL="0">
              <a:buNone/>
            </a:pPr>
            <a:r>
              <a:rPr lang="en-US" sz="1300" b="1" dirty="0">
                <a:solidFill>
                  <a:srgbClr val="028090"/>
                </a:solidFill>
                <a:latin typeface="Calibri" pitchFamily="34" charset="0"/>
                <a:ea typeface="Calibri" pitchFamily="34" charset="-122"/>
                <a:cs typeface="Calibri" pitchFamily="34" charset="-120"/>
              </a:rPr>
              <a:t>1.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Describe the structure and function of the lymphatic system</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2.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Differentiate primary from secondary lymphedema and identify risk factors</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3.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Recognize the symptomatology and clinical presentation of lymphedema</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4.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Perform and interpret key diagnostic tests, including Stemmer's sign</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5.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Stage lymphedema using ISL criteria, Stage 0 through Stage III</a:t>
            </a:r>
            <a:endParaRPr lang="en-US" sz="1300" dirty="0"/>
          </a:p>
        </p:txBody>
      </p:sp>
      <p:sp>
        <p:nvSpPr>
          <p:cNvPr id="6" name="Text 4"/>
          <p:cNvSpPr/>
          <p:nvPr/>
        </p:nvSpPr>
        <p:spPr>
          <a:xfrm>
            <a:off x="6233008" y="1691640"/>
            <a:ext cx="5391760" cy="4206240"/>
          </a:xfrm>
          <a:prstGeom prst="rect">
            <a:avLst/>
          </a:prstGeom>
          <a:noFill/>
          <a:ln/>
        </p:spPr>
        <p:txBody>
          <a:bodyPr wrap="square" lIns="0" tIns="0" rIns="0" bIns="0" rtlCol="0" anchor="t"/>
          <a:lstStyle/>
          <a:p>
            <a:pPr indent="0" marL="0">
              <a:buNone/>
            </a:pPr>
            <a:r>
              <a:rPr lang="en-US" sz="1300" b="1" dirty="0">
                <a:solidFill>
                  <a:srgbClr val="028090"/>
                </a:solidFill>
                <a:latin typeface="Calibri" pitchFamily="34" charset="0"/>
                <a:ea typeface="Calibri" pitchFamily="34" charset="-122"/>
                <a:cs typeface="Calibri" pitchFamily="34" charset="-120"/>
              </a:rPr>
              <a:t>6.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Apply the four components of Complete Decongestive Therapy</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7.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Select an appropriate long-term compression garment, including adjustable wrap and custom options</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8.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Distinguish lipedema from lymphedema and stage lipedema appropriately</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9.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Identify red flags requiring physician referral</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10.  </a:t>
            </a:r>
            <a:pPr indent="0" marL="0">
              <a:spcAft>
                <a:spcPts val="1000"/>
              </a:spcAft>
              <a:buNone/>
            </a:pPr>
            <a:r>
              <a:rPr lang="en-US" sz="1300" dirty="0">
                <a:solidFill>
                  <a:srgbClr val="1B2A30"/>
                </a:solidFill>
                <a:latin typeface="Calibri" pitchFamily="34" charset="0"/>
                <a:ea typeface="Calibri" pitchFamily="34" charset="-122"/>
                <a:cs typeface="Calibri" pitchFamily="34" charset="-120"/>
              </a:rPr>
              <a:t>Identify gait, balance, and orthopedic needs that persist after decongestion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4</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FOUNDATIONS</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The Lymphatic System</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A one-way drainage network running parallel to the venous system, returning fluid, protein, and immune cells to circulation.</a:t>
            </a:r>
            <a:endParaRPr lang="en-US" sz="1500" dirty="0"/>
          </a:p>
        </p:txBody>
      </p:sp>
      <p:pic>
        <p:nvPicPr>
          <p:cNvPr id="6" name="Image 0" descr="/home/claude/build/assets/lymph_pathway.png">    </p:cNvPr>
          <p:cNvPicPr>
            <a:picLocks noChangeAspect="1"/>
          </p:cNvPicPr>
          <p:nvPr/>
        </p:nvPicPr>
        <p:blipFill>
          <a:blip r:embed="rId1"/>
          <a:srcRect l="0" r="0" t="0" b="0"/>
          <a:stretch/>
        </p:blipFill>
        <p:spPr>
          <a:xfrm>
            <a:off x="566928" y="2231136"/>
            <a:ext cx="11057839" cy="3712464"/>
          </a:xfrm>
          <a:prstGeom prst="rect">
            <a:avLst/>
          </a:prstGeom>
        </p:spPr>
      </p:pic>
      <p:sp>
        <p:nvSpPr>
          <p:cNvPr id="7" name="Text 4"/>
          <p:cNvSpPr/>
          <p:nvPr/>
        </p:nvSpPr>
        <p:spPr>
          <a:xfrm>
            <a:off x="566928" y="6016752"/>
            <a:ext cx="11057839" cy="50292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Lymphangion contraction is the primary pump. It is stimulated by stretch, muscle contraction, arterial pulsation, and breathing — which is exactly why exercise and diaphragmatic breathing are treatment, not just adjuncts.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5</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FOUNDATIONS</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Lymphatic System — Pathway &amp; Function</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A one-way drainage network running parallel to the venous system, returning fluid, protein, and immune cells to circulation.</a:t>
            </a:r>
            <a:endParaRPr lang="en-US" sz="1500" dirty="0"/>
          </a:p>
        </p:txBody>
      </p:sp>
      <p:sp>
        <p:nvSpPr>
          <p:cNvPr id="6" name="Shape 4"/>
          <p:cNvSpPr/>
          <p:nvPr/>
        </p:nvSpPr>
        <p:spPr>
          <a:xfrm>
            <a:off x="566928" y="2231136"/>
            <a:ext cx="5428336" cy="4059936"/>
          </a:xfrm>
          <a:prstGeom prst="roundRect">
            <a:avLst>
              <a:gd name="adj" fmla="val 2027"/>
            </a:avLst>
          </a:prstGeom>
          <a:solidFill>
            <a:srgbClr val="FFFFFF"/>
          </a:solidFill>
          <a:ln w="12700">
            <a:solidFill>
              <a:srgbClr val="DCE6E8"/>
            </a:solidFill>
            <a:prstDash val="solid"/>
          </a:ln>
        </p:spPr>
      </p:sp>
      <p:sp>
        <p:nvSpPr>
          <p:cNvPr id="7" name="Text 5"/>
          <p:cNvSpPr/>
          <p:nvPr/>
        </p:nvSpPr>
        <p:spPr>
          <a:xfrm>
            <a:off x="786384" y="2359152"/>
            <a:ext cx="4989424"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Three jobs</a:t>
            </a:r>
            <a:endParaRPr lang="en-US" sz="1500" dirty="0"/>
          </a:p>
        </p:txBody>
      </p:sp>
      <p:sp>
        <p:nvSpPr>
          <p:cNvPr id="8" name="Text 6"/>
          <p:cNvSpPr/>
          <p:nvPr/>
        </p:nvSpPr>
        <p:spPr>
          <a:xfrm>
            <a:off x="786384" y="2724912"/>
            <a:ext cx="4989424" cy="3401568"/>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Fluid balance</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returns roughly 2–4 L of interstitial fluid to the bloodstream daily</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Protein transport</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the only route by which large interstitial proteins return to circulation</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Immune surveillance</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lymph nodes filter pathogens and host lymphocytes</a:t>
            </a:r>
            <a:endParaRPr lang="en-US" sz="1350" dirty="0"/>
          </a:p>
        </p:txBody>
      </p:sp>
      <p:sp>
        <p:nvSpPr>
          <p:cNvPr id="9" name="Shape 7"/>
          <p:cNvSpPr/>
          <p:nvPr/>
        </p:nvSpPr>
        <p:spPr>
          <a:xfrm>
            <a:off x="6196432" y="2231136"/>
            <a:ext cx="5428336" cy="4059936"/>
          </a:xfrm>
          <a:prstGeom prst="roundRect">
            <a:avLst>
              <a:gd name="adj" fmla="val 2027"/>
            </a:avLst>
          </a:prstGeom>
          <a:solidFill>
            <a:srgbClr val="FFFFFF"/>
          </a:solidFill>
          <a:ln w="12700">
            <a:solidFill>
              <a:srgbClr val="DCE6E8"/>
            </a:solidFill>
            <a:prstDash val="solid"/>
          </a:ln>
        </p:spPr>
      </p:sp>
      <p:sp>
        <p:nvSpPr>
          <p:cNvPr id="10" name="Text 8"/>
          <p:cNvSpPr/>
          <p:nvPr/>
        </p:nvSpPr>
        <p:spPr>
          <a:xfrm>
            <a:off x="6415888" y="2359152"/>
            <a:ext cx="4989424"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The pathway</a:t>
            </a:r>
            <a:endParaRPr lang="en-US" sz="1500" dirty="0"/>
          </a:p>
        </p:txBody>
      </p:sp>
      <p:sp>
        <p:nvSpPr>
          <p:cNvPr id="11" name="Text 9"/>
          <p:cNvSpPr/>
          <p:nvPr/>
        </p:nvSpPr>
        <p:spPr>
          <a:xfrm>
            <a:off x="6415888" y="2724912"/>
            <a:ext cx="4989424" cy="3401568"/>
          </a:xfrm>
          <a:prstGeom prst="rect">
            <a:avLst/>
          </a:prstGeom>
          <a:noFill/>
          <a:ln/>
        </p:spPr>
        <p:txBody>
          <a:bodyPr wrap="square" lIns="0" tIns="0" rIns="0" bIns="0" rtlCol="0" anchor="t"/>
          <a:lstStyle/>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Initial lymphatics (blind-ended capillaries) collect interstitial fluid</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Precollectors and collectors move lymph via lymphangions — segments that contract 6–10x/min</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Regional lymph nodes filter the load</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Trunks drain to the thoracic duct (left, and entire lower body) and right lymphatic duct</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Both empty at the subclavian veins — back into venous circulation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6</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FOUNDATIONS</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Lymph Load vs. Transport Capacity</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Every case of lymphedema is a mismatch between how much fluid needs to move and how much the system can move.</a:t>
            </a:r>
            <a:endParaRPr lang="en-US" sz="1500" dirty="0"/>
          </a:p>
        </p:txBody>
      </p:sp>
      <p:pic>
        <p:nvPicPr>
          <p:cNvPr id="6" name="Image 0" descr="/home/claude/build/assets/load_capacity.png">    </p:cNvPr>
          <p:cNvPicPr>
            <a:picLocks noChangeAspect="1"/>
          </p:cNvPicPr>
          <p:nvPr/>
        </p:nvPicPr>
        <p:blipFill>
          <a:blip r:embed="rId1"/>
          <a:srcRect l="0" r="0" t="0" b="0"/>
          <a:stretch/>
        </p:blipFill>
        <p:spPr>
          <a:xfrm>
            <a:off x="566928" y="2231136"/>
            <a:ext cx="11057839" cy="3712464"/>
          </a:xfrm>
          <a:prstGeom prst="rect">
            <a:avLst/>
          </a:prstGeom>
        </p:spPr>
      </p:pic>
      <p:sp>
        <p:nvSpPr>
          <p:cNvPr id="7" name="Text 4"/>
          <p:cNvSpPr/>
          <p:nvPr/>
        </p:nvSpPr>
        <p:spPr>
          <a:xfrm>
            <a:off x="566928" y="6016752"/>
            <a:ext cx="11057839" cy="50292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Combined insufficiency — high load AND damaged system — is common in the patients you will actually see.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7</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ETIOLOGY</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Primary vs. Secondary Lymphedema</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Primary lymphedema arises from congenital lymphatic dysplasia. Secondary lymphedema follows anatomical disruption of a previously normal system.</a:t>
            </a:r>
            <a:endParaRPr lang="en-US" sz="1500" dirty="0"/>
          </a:p>
        </p:txBody>
      </p:sp>
      <p:pic>
        <p:nvPicPr>
          <p:cNvPr id="6" name="Image 0" descr="/home/claude/build/assets/photos/anat_axillary_nodes.jpg">    </p:cNvPr>
          <p:cNvPicPr>
            <a:picLocks noChangeAspect="1"/>
          </p:cNvPicPr>
          <p:nvPr/>
        </p:nvPicPr>
        <p:blipFill>
          <a:blip r:embed="rId1"/>
          <a:srcRect l="0" r="0" t="0" b="0"/>
          <a:stretch/>
        </p:blipFill>
        <p:spPr>
          <a:xfrm>
            <a:off x="6732727" y="2322576"/>
            <a:ext cx="4892040" cy="3291840"/>
          </a:xfrm>
          <a:prstGeom prst="rect">
            <a:avLst/>
          </a:prstGeom>
        </p:spPr>
      </p:pic>
      <p:sp>
        <p:nvSpPr>
          <p:cNvPr id="7" name="Shape 4"/>
          <p:cNvSpPr/>
          <p:nvPr/>
        </p:nvSpPr>
        <p:spPr>
          <a:xfrm>
            <a:off x="566928" y="2231136"/>
            <a:ext cx="5754319" cy="1686560"/>
          </a:xfrm>
          <a:prstGeom prst="roundRect">
            <a:avLst>
              <a:gd name="adj" fmla="val 4880"/>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1150" b="1" dirty="0">
                <a:solidFill>
                  <a:srgbClr val="025462"/>
                </a:solidFill>
                <a:latin typeface="Calibri" pitchFamily="34" charset="0"/>
                <a:ea typeface="Calibri" pitchFamily="34" charset="-122"/>
                <a:cs typeface="Calibri" pitchFamily="34" charset="-120"/>
              </a:rPr>
              <a:t>Primary — developmental</a:t>
            </a:r>
            <a:endParaRPr lang="en-US" sz="1150" dirty="0"/>
          </a:p>
        </p:txBody>
      </p:sp>
      <p:sp>
        <p:nvSpPr>
          <p:cNvPr id="9" name="Text 6"/>
          <p:cNvSpPr/>
          <p:nvPr/>
        </p:nvSpPr>
        <p:spPr>
          <a:xfrm>
            <a:off x="822960" y="2706624"/>
            <a:ext cx="5242255" cy="1046480"/>
          </a:xfrm>
          <a:prstGeom prst="rect">
            <a:avLst/>
          </a:prstGeom>
          <a:noFill/>
          <a:ln/>
        </p:spPr>
        <p:txBody>
          <a:bodyPr wrap="square" lIns="0" tIns="0" rIns="0" bIns="0" rtlCol="0" anchor="t"/>
          <a:lstStyle/>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Congenital</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present at birth or within the first 2 years. Includes Milroy disease.</a:t>
            </a:r>
            <a:endParaRPr lang="en-US" sz="1000" dirty="0"/>
          </a:p>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Praecox</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onset at puberty through age 35. The most common primary form.</a:t>
            </a:r>
            <a:endParaRPr lang="en-US" sz="1000" dirty="0"/>
          </a:p>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Tarda</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onset after age 35</a:t>
            </a:r>
            <a:endParaRPr lang="en-US" sz="1000" dirty="0"/>
          </a:p>
          <a:p>
            <a:pPr marL="190500" indent="-190500">
              <a:spcAft>
                <a:spcPts val="600"/>
              </a:spcAft>
              <a:buSzPct val="100000"/>
              <a:buChar char="•"/>
            </a:pPr>
            <a:r>
              <a:rPr lang="en-US" sz="1000" dirty="0">
                <a:solidFill>
                  <a:srgbClr val="1B2A30"/>
                </a:solidFill>
                <a:latin typeface="Calibri" pitchFamily="34" charset="0"/>
                <a:ea typeface="Calibri" pitchFamily="34" charset="-122"/>
                <a:cs typeface="Calibri" pitchFamily="34" charset="-120"/>
              </a:rPr>
              <a:t>Mechanisms: aplasia, hypoplasia, hyperplasia, or valvular incompetence of lymphatics</a:t>
            </a:r>
            <a:endParaRPr lang="en-US" sz="1000" dirty="0"/>
          </a:p>
        </p:txBody>
      </p:sp>
      <p:sp>
        <p:nvSpPr>
          <p:cNvPr id="10" name="Shape 7"/>
          <p:cNvSpPr/>
          <p:nvPr/>
        </p:nvSpPr>
        <p:spPr>
          <a:xfrm>
            <a:off x="566928" y="4082288"/>
            <a:ext cx="5754319" cy="2136648"/>
          </a:xfrm>
          <a:prstGeom prst="roundRect">
            <a:avLst>
              <a:gd name="adj" fmla="val 3852"/>
            </a:avLst>
          </a:prstGeom>
          <a:solidFill>
            <a:srgbClr val="FFFFFF"/>
          </a:solidFill>
          <a:ln w="12700">
            <a:solidFill>
              <a:srgbClr val="DCE6E8"/>
            </a:solidFill>
            <a:prstDash val="solid"/>
          </a:ln>
        </p:spPr>
      </p:sp>
      <p:sp>
        <p:nvSpPr>
          <p:cNvPr id="11" name="Text 8"/>
          <p:cNvSpPr/>
          <p:nvPr/>
        </p:nvSpPr>
        <p:spPr>
          <a:xfrm>
            <a:off x="822960" y="4210304"/>
            <a:ext cx="5242255" cy="274320"/>
          </a:xfrm>
          <a:prstGeom prst="rect">
            <a:avLst/>
          </a:prstGeom>
          <a:noFill/>
          <a:ln/>
        </p:spPr>
        <p:txBody>
          <a:bodyPr wrap="square" lIns="0" tIns="0" rIns="0" bIns="0" rtlCol="0" anchor="ctr"/>
          <a:lstStyle/>
          <a:p>
            <a:pPr indent="0" marL="0">
              <a:buNone/>
            </a:pPr>
            <a:r>
              <a:rPr lang="en-US" sz="1150" b="1" dirty="0">
                <a:solidFill>
                  <a:srgbClr val="025462"/>
                </a:solidFill>
                <a:latin typeface="Calibri" pitchFamily="34" charset="0"/>
                <a:ea typeface="Calibri" pitchFamily="34" charset="-122"/>
                <a:cs typeface="Calibri" pitchFamily="34" charset="-120"/>
              </a:rPr>
              <a:t>Secondary — acquired</a:t>
            </a:r>
            <a:endParaRPr lang="en-US" sz="1150" dirty="0"/>
          </a:p>
        </p:txBody>
      </p:sp>
      <p:sp>
        <p:nvSpPr>
          <p:cNvPr id="12" name="Text 9"/>
          <p:cNvSpPr/>
          <p:nvPr/>
        </p:nvSpPr>
        <p:spPr>
          <a:xfrm>
            <a:off x="822960" y="4557776"/>
            <a:ext cx="5242255" cy="1496568"/>
          </a:xfrm>
          <a:prstGeom prst="rect">
            <a:avLst/>
          </a:prstGeom>
          <a:noFill/>
          <a:ln/>
        </p:spPr>
        <p:txBody>
          <a:bodyPr wrap="square" lIns="0" tIns="0" rIns="0" bIns="0" rtlCol="0" anchor="t"/>
          <a:lstStyle/>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Cancer treatment</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lymph node dissection and/or radiation. The leading cause in developed countries.</a:t>
            </a:r>
            <a:endParaRPr lang="en-US" sz="1000" dirty="0"/>
          </a:p>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Filariasis</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*Wuchereria bancrofti*. The leading cause worldwide.</a:t>
            </a:r>
            <a:endParaRPr lang="en-US" sz="1000" dirty="0"/>
          </a:p>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Trauma or surgery</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burns, vein harvest, orthopedic procedures</a:t>
            </a:r>
            <a:endParaRPr lang="en-US" sz="1000" dirty="0"/>
          </a:p>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Chronic venous insufficiency</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progresses to phlebolymphedema</a:t>
            </a:r>
            <a:endParaRPr lang="en-US" sz="1000" dirty="0"/>
          </a:p>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Recurrent infection</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each episode of cellulitis causes further lymphatic damage</a:t>
            </a:r>
            <a:endParaRPr lang="en-US" sz="1000" dirty="0"/>
          </a:p>
          <a:p>
            <a:pPr marL="190500" indent="-190500">
              <a:spcAft>
                <a:spcPts val="600"/>
              </a:spcAft>
              <a:buSzPct val="100000"/>
              <a:buChar char="•"/>
            </a:pPr>
            <a:r>
              <a:rPr lang="en-US" sz="1000" b="1" dirty="0">
                <a:solidFill>
                  <a:srgbClr val="1B2A30"/>
                </a:solidFill>
                <a:latin typeface="Calibri" pitchFamily="34" charset="0"/>
                <a:ea typeface="Calibri" pitchFamily="34" charset="-122"/>
                <a:cs typeface="Calibri" pitchFamily="34" charset="-120"/>
              </a:rPr>
              <a:t>Obesity</a:t>
            </a:r>
            <a:pPr indent="0" marL="0">
              <a:spcAft>
                <a:spcPts val="600"/>
              </a:spcAft>
              <a:buNone/>
            </a:pPr>
            <a:r>
              <a:rPr lang="en-US" sz="1000" dirty="0">
                <a:solidFill>
                  <a:srgbClr val="1B2A30"/>
                </a:solidFill>
                <a:latin typeface="Calibri" pitchFamily="34" charset="0"/>
                <a:ea typeface="Calibri" pitchFamily="34" charset="-122"/>
                <a:cs typeface="Calibri" pitchFamily="34" charset="-120"/>
              </a:rPr>
              <a:t> — central obesity significantly raises risk independently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8</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PRESENTATION</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Symptomatology</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Subjective symptoms frequently precede visible swelling by months. Do not wait for a measurable difference to take a patient seriously.</a:t>
            </a:r>
            <a:endParaRPr lang="en-US" sz="1500" dirty="0"/>
          </a:p>
        </p:txBody>
      </p:sp>
      <p:pic>
        <p:nvPicPr>
          <p:cNvPr id="6" name="Image 0" descr="/home/claude/build/assets/photos/tbtw_arm_trunk.jpg">    </p:cNvPr>
          <p:cNvPicPr>
            <a:picLocks noChangeAspect="1"/>
          </p:cNvPicPr>
          <p:nvPr/>
        </p:nvPicPr>
        <p:blipFill>
          <a:blip r:embed="rId1"/>
          <a:srcRect l="0" r="0" t="0" b="0"/>
          <a:stretch/>
        </p:blipFill>
        <p:spPr>
          <a:xfrm>
            <a:off x="6732727" y="2322576"/>
            <a:ext cx="4892040" cy="3291840"/>
          </a:xfrm>
          <a:prstGeom prst="rect">
            <a:avLst/>
          </a:prstGeom>
        </p:spPr>
      </p:pic>
      <p:sp>
        <p:nvSpPr>
          <p:cNvPr id="7" name="Shape 4"/>
          <p:cNvSpPr/>
          <p:nvPr/>
        </p:nvSpPr>
        <p:spPr>
          <a:xfrm>
            <a:off x="566928" y="2231136"/>
            <a:ext cx="5754319" cy="1741424"/>
          </a:xfrm>
          <a:prstGeom prst="roundRect">
            <a:avLst>
              <a:gd name="adj" fmla="val 4726"/>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Early — often reported before anything is visible</a:t>
            </a:r>
            <a:endParaRPr lang="en-US" sz="950" dirty="0"/>
          </a:p>
        </p:txBody>
      </p:sp>
      <p:sp>
        <p:nvSpPr>
          <p:cNvPr id="9" name="Text 6"/>
          <p:cNvSpPr/>
          <p:nvPr/>
        </p:nvSpPr>
        <p:spPr>
          <a:xfrm>
            <a:off x="822960" y="2706624"/>
            <a:ext cx="5242255" cy="1101344"/>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Heaviness, fullness, or tightness in the limb</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Clothing, sleeves, rings, or shoes fitting differently</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Aching or discomfort without a clear mechanical cause</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Reduced flexibility at the wrist, hand, or ankle</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Transient swelling that resolves overnight</a:t>
            </a:r>
            <a:endParaRPr lang="en-US" sz="800" dirty="0"/>
          </a:p>
        </p:txBody>
      </p:sp>
      <p:sp>
        <p:nvSpPr>
          <p:cNvPr id="10" name="Shape 7"/>
          <p:cNvSpPr/>
          <p:nvPr/>
        </p:nvSpPr>
        <p:spPr>
          <a:xfrm>
            <a:off x="566928" y="4137152"/>
            <a:ext cx="5754319" cy="1932432"/>
          </a:xfrm>
          <a:prstGeom prst="roundRect">
            <a:avLst>
              <a:gd name="adj" fmla="val 4259"/>
            </a:avLst>
          </a:prstGeom>
          <a:solidFill>
            <a:srgbClr val="FFFFFF"/>
          </a:solidFill>
          <a:ln w="12700">
            <a:solidFill>
              <a:srgbClr val="DCE6E8"/>
            </a:solidFill>
            <a:prstDash val="solid"/>
          </a:ln>
        </p:spPr>
      </p:sp>
      <p:sp>
        <p:nvSpPr>
          <p:cNvPr id="11" name="Text 8"/>
          <p:cNvSpPr/>
          <p:nvPr/>
        </p:nvSpPr>
        <p:spPr>
          <a:xfrm>
            <a:off x="822960" y="4265168"/>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Established</a:t>
            </a:r>
            <a:endParaRPr lang="en-US" sz="950" dirty="0"/>
          </a:p>
        </p:txBody>
      </p:sp>
      <p:sp>
        <p:nvSpPr>
          <p:cNvPr id="12" name="Text 9"/>
          <p:cNvSpPr/>
          <p:nvPr/>
        </p:nvSpPr>
        <p:spPr>
          <a:xfrm>
            <a:off x="822960" y="4612640"/>
            <a:ext cx="5242255" cy="1292352"/>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Persistent swelling, initially distal, that no longer resolves with elevation</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Pitting edema — later becoming non-pitting as fibrosis develops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Skin feels thickened, firm, or leathery</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Positive Stemmer's sign</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Deepened natural skin folds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Recurrent cellulitis</a:t>
            </a:r>
            <a:endParaRPr lang="en-US" sz="800" dirty="0"/>
          </a:p>
        </p:txBody>
      </p:sp>
      <p:sp>
        <p:nvSpPr>
          <p:cNvPr id="13" name="Shape 10"/>
          <p:cNvSpPr/>
          <p:nvPr/>
        </p:nvSpPr>
        <p:spPr>
          <a:xfrm>
            <a:off x="566928" y="6234176"/>
            <a:ext cx="5754319" cy="1359408"/>
          </a:xfrm>
          <a:prstGeom prst="roundRect">
            <a:avLst>
              <a:gd name="adj" fmla="val 6054"/>
            </a:avLst>
          </a:prstGeom>
          <a:solidFill>
            <a:srgbClr val="FFFFFF"/>
          </a:solidFill>
          <a:ln w="12700">
            <a:solidFill>
              <a:srgbClr val="DCE6E8"/>
            </a:solidFill>
            <a:prstDash val="solid"/>
          </a:ln>
        </p:spPr>
      </p:sp>
      <p:sp>
        <p:nvSpPr>
          <p:cNvPr id="14" name="Text 11"/>
          <p:cNvSpPr/>
          <p:nvPr/>
        </p:nvSpPr>
        <p:spPr>
          <a:xfrm>
            <a:off x="822960" y="6362192"/>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Do not overlook</a:t>
            </a:r>
            <a:endParaRPr lang="en-US" sz="950" dirty="0"/>
          </a:p>
        </p:txBody>
      </p:sp>
      <p:sp>
        <p:nvSpPr>
          <p:cNvPr id="15" name="Text 12"/>
          <p:cNvSpPr/>
          <p:nvPr/>
        </p:nvSpPr>
        <p:spPr>
          <a:xfrm>
            <a:off x="822960" y="6709664"/>
            <a:ext cx="5242255" cy="719328"/>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Psychosocial burden — body image, clothing, social withdrawal, anxiety</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Functional loss — grip, reach, gait, footwear, ADLs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Occupational impact and cost of ongoing garments</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9</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ASSESSMENT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Diagnosis — History &amp; Examination</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Diagnosis is primarily clinical. History and physical examination identify the great majority of cases.</a:t>
            </a:r>
            <a:endParaRPr lang="en-US" sz="1500" dirty="0"/>
          </a:p>
        </p:txBody>
      </p:sp>
      <p:pic>
        <p:nvPicPr>
          <p:cNvPr id="6" name="Image 0" descr="/home/claude/build/assets/stemmer.png">    </p:cNvPr>
          <p:cNvPicPr>
            <a:picLocks noChangeAspect="1"/>
          </p:cNvPicPr>
          <p:nvPr/>
        </p:nvPicPr>
        <p:blipFill>
          <a:blip r:embed="rId1"/>
          <a:srcRect l="0" r="0" t="0" b="0"/>
          <a:stretch/>
        </p:blipFill>
        <p:spPr>
          <a:xfrm>
            <a:off x="6732727" y="2322576"/>
            <a:ext cx="4892040" cy="3291840"/>
          </a:xfrm>
          <a:prstGeom prst="rect">
            <a:avLst/>
          </a:prstGeom>
        </p:spPr>
      </p:pic>
      <p:sp>
        <p:nvSpPr>
          <p:cNvPr id="7" name="Shape 4"/>
          <p:cNvSpPr/>
          <p:nvPr/>
        </p:nvSpPr>
        <p:spPr>
          <a:xfrm>
            <a:off x="566928" y="2231136"/>
            <a:ext cx="5754319" cy="1869059"/>
          </a:xfrm>
          <a:prstGeom prst="roundRect">
            <a:avLst>
              <a:gd name="adj" fmla="val 4403"/>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1100" b="1" dirty="0">
                <a:solidFill>
                  <a:srgbClr val="025462"/>
                </a:solidFill>
                <a:latin typeface="Calibri" pitchFamily="34" charset="0"/>
                <a:ea typeface="Calibri" pitchFamily="34" charset="-122"/>
                <a:cs typeface="Calibri" pitchFamily="34" charset="-120"/>
              </a:rPr>
              <a:t>History</a:t>
            </a:r>
            <a:endParaRPr lang="en-US" sz="1100" dirty="0"/>
          </a:p>
        </p:txBody>
      </p:sp>
      <p:sp>
        <p:nvSpPr>
          <p:cNvPr id="9" name="Text 6"/>
          <p:cNvSpPr/>
          <p:nvPr/>
        </p:nvSpPr>
        <p:spPr>
          <a:xfrm>
            <a:off x="822960" y="2706624"/>
            <a:ext cx="5242255" cy="1228979"/>
          </a:xfrm>
          <a:prstGeom prst="rect">
            <a:avLst/>
          </a:prstGeom>
          <a:noFill/>
          <a:ln/>
        </p:spPr>
        <p:txBody>
          <a:bodyPr wrap="square" lIns="0" tIns="0" rIns="0" bIns="0" rtlCol="0" anchor="t"/>
          <a:lstStyle/>
          <a:p>
            <a:pPr marL="190500" indent="-190500">
              <a:spcAft>
                <a:spcPts val="600"/>
              </a:spcAft>
              <a:buSzPct val="100000"/>
              <a:buChar char="•"/>
            </a:pPr>
            <a:r>
              <a:rPr lang="en-US" sz="950" dirty="0">
                <a:solidFill>
                  <a:srgbClr val="1B2A30"/>
                </a:solidFill>
                <a:latin typeface="Calibri" pitchFamily="34" charset="0"/>
                <a:ea typeface="Calibri" pitchFamily="34" charset="-122"/>
                <a:cs typeface="Calibri" pitchFamily="34" charset="-120"/>
              </a:rPr>
              <a:t>Onset, duration, progression, and whether it resolves overnight</a:t>
            </a:r>
            <a:endParaRPr lang="en-US" sz="950" dirty="0"/>
          </a:p>
          <a:p>
            <a:pPr marL="190500" indent="-190500">
              <a:spcAft>
                <a:spcPts val="600"/>
              </a:spcAft>
              <a:buSzPct val="100000"/>
              <a:buChar char="•"/>
            </a:pPr>
            <a:r>
              <a:rPr lang="en-US" sz="950" dirty="0">
                <a:solidFill>
                  <a:srgbClr val="1B2A30"/>
                </a:solidFill>
                <a:latin typeface="Calibri" pitchFamily="34" charset="0"/>
                <a:ea typeface="Calibri" pitchFamily="34" charset="-122"/>
                <a:cs typeface="Calibri" pitchFamily="34" charset="-120"/>
              </a:rPr>
              <a:t>Surgical and oncologic history — nodes removed, radiation fields</a:t>
            </a:r>
            <a:endParaRPr lang="en-US" sz="950" dirty="0"/>
          </a:p>
          <a:p>
            <a:pPr marL="190500" indent="-190500">
              <a:spcAft>
                <a:spcPts val="600"/>
              </a:spcAft>
              <a:buSzPct val="100000"/>
              <a:buChar char="•"/>
            </a:pPr>
            <a:r>
              <a:rPr lang="en-US" sz="950" dirty="0">
                <a:solidFill>
                  <a:srgbClr val="1B2A30"/>
                </a:solidFill>
                <a:latin typeface="Calibri" pitchFamily="34" charset="0"/>
                <a:ea typeface="Calibri" pitchFamily="34" charset="-122"/>
                <a:cs typeface="Calibri" pitchFamily="34" charset="-120"/>
              </a:rPr>
              <a:t>Infection history — every episode of cellulitis</a:t>
            </a:r>
            <a:endParaRPr lang="en-US" sz="950" dirty="0"/>
          </a:p>
          <a:p>
            <a:pPr marL="190500" indent="-190500">
              <a:spcAft>
                <a:spcPts val="600"/>
              </a:spcAft>
              <a:buSzPct val="100000"/>
              <a:buChar char="•"/>
            </a:pPr>
            <a:r>
              <a:rPr lang="en-US" sz="950" dirty="0">
                <a:solidFill>
                  <a:srgbClr val="1B2A30"/>
                </a:solidFill>
                <a:latin typeface="Calibri" pitchFamily="34" charset="0"/>
                <a:ea typeface="Calibri" pitchFamily="34" charset="-122"/>
                <a:cs typeface="Calibri" pitchFamily="34" charset="-120"/>
              </a:rPr>
              <a:t>Family history (suggests primary lymphedema or lipedema)</a:t>
            </a:r>
            <a:endParaRPr lang="en-US" sz="950" dirty="0"/>
          </a:p>
          <a:p>
            <a:pPr marL="190500" indent="-190500">
              <a:spcAft>
                <a:spcPts val="600"/>
              </a:spcAft>
              <a:buSzPct val="100000"/>
              <a:buChar char="•"/>
            </a:pPr>
            <a:r>
              <a:rPr lang="en-US" sz="950" dirty="0">
                <a:solidFill>
                  <a:srgbClr val="1B2A30"/>
                </a:solidFill>
                <a:latin typeface="Calibri" pitchFamily="34" charset="0"/>
                <a:ea typeface="Calibri" pitchFamily="34" charset="-122"/>
                <a:cs typeface="Calibri" pitchFamily="34" charset="-120"/>
              </a:rPr>
              <a:t>Travel history (filariasis), cardiac, renal, and hepatic history</a:t>
            </a:r>
            <a:endParaRPr lang="en-US" sz="950" dirty="0"/>
          </a:p>
        </p:txBody>
      </p:sp>
      <p:sp>
        <p:nvSpPr>
          <p:cNvPr id="10" name="Shape 7"/>
          <p:cNvSpPr/>
          <p:nvPr/>
        </p:nvSpPr>
        <p:spPr>
          <a:xfrm>
            <a:off x="566928" y="4264787"/>
            <a:ext cx="5754319" cy="1814195"/>
          </a:xfrm>
          <a:prstGeom prst="roundRect">
            <a:avLst>
              <a:gd name="adj" fmla="val 4536"/>
            </a:avLst>
          </a:prstGeom>
          <a:solidFill>
            <a:srgbClr val="FFFFFF"/>
          </a:solidFill>
          <a:ln w="12700">
            <a:solidFill>
              <a:srgbClr val="DCE6E8"/>
            </a:solidFill>
            <a:prstDash val="solid"/>
          </a:ln>
        </p:spPr>
      </p:sp>
      <p:sp>
        <p:nvSpPr>
          <p:cNvPr id="11" name="Text 8"/>
          <p:cNvSpPr/>
          <p:nvPr/>
        </p:nvSpPr>
        <p:spPr>
          <a:xfrm>
            <a:off x="822960" y="4392803"/>
            <a:ext cx="5242255" cy="274320"/>
          </a:xfrm>
          <a:prstGeom prst="rect">
            <a:avLst/>
          </a:prstGeom>
          <a:noFill/>
          <a:ln/>
        </p:spPr>
        <p:txBody>
          <a:bodyPr wrap="square" lIns="0" tIns="0" rIns="0" bIns="0" rtlCol="0" anchor="ctr"/>
          <a:lstStyle/>
          <a:p>
            <a:pPr indent="0" marL="0">
              <a:buNone/>
            </a:pPr>
            <a:r>
              <a:rPr lang="en-US" sz="1100" b="1" dirty="0">
                <a:solidFill>
                  <a:srgbClr val="025462"/>
                </a:solidFill>
                <a:latin typeface="Calibri" pitchFamily="34" charset="0"/>
                <a:ea typeface="Calibri" pitchFamily="34" charset="-122"/>
                <a:cs typeface="Calibri" pitchFamily="34" charset="-120"/>
              </a:rPr>
              <a:t>Physical examination</a:t>
            </a:r>
            <a:endParaRPr lang="en-US" sz="1100" dirty="0"/>
          </a:p>
        </p:txBody>
      </p:sp>
      <p:sp>
        <p:nvSpPr>
          <p:cNvPr id="12" name="Text 9"/>
          <p:cNvSpPr/>
          <p:nvPr/>
        </p:nvSpPr>
        <p:spPr>
          <a:xfrm>
            <a:off x="822960" y="4740275"/>
            <a:ext cx="5242255" cy="1174115"/>
          </a:xfrm>
          <a:prstGeom prst="rect">
            <a:avLst/>
          </a:prstGeom>
          <a:noFill/>
          <a:ln/>
        </p:spPr>
        <p:txBody>
          <a:bodyPr wrap="square" lIns="0" tIns="0" rIns="0" bIns="0" rtlCol="0" anchor="t"/>
          <a:lstStyle/>
          <a:p>
            <a:pPr marL="190500" indent="-190500">
              <a:spcAft>
                <a:spcPts val="600"/>
              </a:spcAft>
              <a:buSzPct val="100000"/>
              <a:buChar char="•"/>
            </a:pPr>
            <a:r>
              <a:rPr lang="en-US" sz="950" b="1" dirty="0">
                <a:solidFill>
                  <a:srgbClr val="1B2A30"/>
                </a:solidFill>
                <a:latin typeface="Calibri" pitchFamily="34" charset="0"/>
                <a:ea typeface="Calibri" pitchFamily="34" charset="-122"/>
                <a:cs typeface="Calibri" pitchFamily="34" charset="-120"/>
              </a:rPr>
              <a:t>Stemmer's sign</a:t>
            </a:r>
            <a:pPr indent="0" marL="0">
              <a:spcAft>
                <a:spcPts val="600"/>
              </a:spcAft>
              <a:buNone/>
            </a:pPr>
            <a:r>
              <a:rPr lang="en-US" sz="950" dirty="0">
                <a:solidFill>
                  <a:srgbClr val="1B2A30"/>
                </a:solidFill>
                <a:latin typeface="Calibri" pitchFamily="34" charset="0"/>
                <a:ea typeface="Calibri" pitchFamily="34" charset="-122"/>
                <a:cs typeface="Calibri" pitchFamily="34" charset="-120"/>
              </a:rPr>
              <a:t> — attempt to pinch and lift the skin fold at the base of the 2nd toe or finger. Cannot lift = positive = lymphedema. Positive is diagnostic; negative does not rule it out.</a:t>
            </a:r>
            <a:endParaRPr lang="en-US" sz="950" dirty="0"/>
          </a:p>
          <a:p>
            <a:pPr marL="190500" indent="-190500">
              <a:spcAft>
                <a:spcPts val="600"/>
              </a:spcAft>
              <a:buSzPct val="100000"/>
              <a:buChar char="•"/>
            </a:pPr>
            <a:r>
              <a:rPr lang="en-US" sz="950" b="1" dirty="0">
                <a:solidFill>
                  <a:srgbClr val="1B2A30"/>
                </a:solidFill>
                <a:latin typeface="Calibri" pitchFamily="34" charset="0"/>
                <a:ea typeface="Calibri" pitchFamily="34" charset="-122"/>
                <a:cs typeface="Calibri" pitchFamily="34" charset="-120"/>
              </a:rPr>
              <a:t>Pitting assessment</a:t>
            </a:r>
            <a:pPr indent="0" marL="0">
              <a:spcAft>
                <a:spcPts val="600"/>
              </a:spcAft>
              <a:buNone/>
            </a:pPr>
            <a:r>
              <a:rPr lang="en-US" sz="950" dirty="0">
                <a:solidFill>
                  <a:srgbClr val="1B2A30"/>
                </a:solidFill>
                <a:latin typeface="Calibri" pitchFamily="34" charset="0"/>
                <a:ea typeface="Calibri" pitchFamily="34" charset="-122"/>
                <a:cs typeface="Calibri" pitchFamily="34" charset="-120"/>
              </a:rPr>
              <a:t> — depth and rebound time, graded 1+ to 4+</a:t>
            </a:r>
            <a:endParaRPr lang="en-US" sz="950" dirty="0"/>
          </a:p>
          <a:p>
            <a:pPr marL="190500" indent="-190500">
              <a:spcAft>
                <a:spcPts val="600"/>
              </a:spcAft>
              <a:buSzPct val="100000"/>
              <a:buChar char="•"/>
            </a:pPr>
            <a:r>
              <a:rPr lang="en-US" sz="950" b="1" dirty="0">
                <a:solidFill>
                  <a:srgbClr val="1B2A30"/>
                </a:solidFill>
                <a:latin typeface="Calibri" pitchFamily="34" charset="0"/>
                <a:ea typeface="Calibri" pitchFamily="34" charset="-122"/>
                <a:cs typeface="Calibri" pitchFamily="34" charset="-120"/>
              </a:rPr>
              <a:t>Skin inspection</a:t>
            </a:r>
            <a:pPr indent="0" marL="0">
              <a:spcAft>
                <a:spcPts val="600"/>
              </a:spcAft>
              <a:buNone/>
            </a:pPr>
            <a:r>
              <a:rPr lang="en-US" sz="950" dirty="0">
                <a:solidFill>
                  <a:srgbClr val="1B2A30"/>
                </a:solidFill>
                <a:latin typeface="Calibri" pitchFamily="34" charset="0"/>
                <a:ea typeface="Calibri" pitchFamily="34" charset="-122"/>
                <a:cs typeface="Calibri" pitchFamily="34" charset="-120"/>
              </a:rPr>
              <a:t> — texture, temperature, color, papillomas, fissures, wounds, fungal infection between digits</a:t>
            </a:r>
            <a:endParaRPr lang="en-US" sz="950" dirty="0"/>
          </a:p>
          <a:p>
            <a:pPr marL="190500" indent="-190500">
              <a:spcAft>
                <a:spcPts val="600"/>
              </a:spcAft>
              <a:buSzPct val="100000"/>
              <a:buChar char="•"/>
            </a:pPr>
            <a:r>
              <a:rPr lang="en-US" sz="950" b="1" dirty="0">
                <a:solidFill>
                  <a:srgbClr val="1B2A30"/>
                </a:solidFill>
                <a:latin typeface="Calibri" pitchFamily="34" charset="0"/>
                <a:ea typeface="Calibri" pitchFamily="34" charset="-122"/>
                <a:cs typeface="Calibri" pitchFamily="34" charset="-120"/>
              </a:rPr>
              <a:t>Bilateral comparison</a:t>
            </a:r>
            <a:pPr indent="0" marL="0">
              <a:spcAft>
                <a:spcPts val="600"/>
              </a:spcAft>
              <a:buNone/>
            </a:pPr>
            <a:r>
              <a:rPr lang="en-US" sz="950" dirty="0">
                <a:solidFill>
                  <a:srgbClr val="1B2A30"/>
                </a:solidFill>
                <a:latin typeface="Calibri" pitchFamily="34" charset="0"/>
                <a:ea typeface="Calibri" pitchFamily="34" charset="-122"/>
                <a:cs typeface="Calibri" pitchFamily="34" charset="-120"/>
              </a:rPr>
              <a:t> — symmetry, foot involvement, where the swelling stops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10</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ASSESSMENT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Diagnosis — Measurement &amp; Imaging</a:t>
            </a:r>
            <a:endParaRPr lang="en-US" sz="3400" dirty="0"/>
          </a:p>
        </p:txBody>
      </p:sp>
      <p:sp>
        <p:nvSpPr>
          <p:cNvPr id="5" name="Shape 3"/>
          <p:cNvSpPr/>
          <p:nvPr/>
        </p:nvSpPr>
        <p:spPr>
          <a:xfrm>
            <a:off x="566928" y="1572768"/>
            <a:ext cx="5428336" cy="4718304"/>
          </a:xfrm>
          <a:prstGeom prst="roundRect">
            <a:avLst>
              <a:gd name="adj" fmla="val 1744"/>
            </a:avLst>
          </a:prstGeom>
          <a:solidFill>
            <a:srgbClr val="FFFFFF"/>
          </a:solidFill>
          <a:ln w="12700">
            <a:solidFill>
              <a:srgbClr val="DCE6E8"/>
            </a:solidFill>
            <a:prstDash val="solid"/>
          </a:ln>
        </p:spPr>
      </p:sp>
      <p:sp>
        <p:nvSpPr>
          <p:cNvPr id="6" name="Text 4"/>
          <p:cNvSpPr/>
          <p:nvPr/>
        </p:nvSpPr>
        <p:spPr>
          <a:xfrm>
            <a:off x="786384" y="1700784"/>
            <a:ext cx="4989424"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Objective measurement</a:t>
            </a:r>
            <a:endParaRPr lang="en-US" sz="1500" dirty="0"/>
          </a:p>
        </p:txBody>
      </p:sp>
      <p:sp>
        <p:nvSpPr>
          <p:cNvPr id="7" name="Text 5"/>
          <p:cNvSpPr/>
          <p:nvPr/>
        </p:nvSpPr>
        <p:spPr>
          <a:xfrm>
            <a:off x="786384" y="2066544"/>
            <a:ext cx="4989424" cy="4059936"/>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Circumferential tape</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at fixed 4 cm intervals from a bony landmark. Low cost, good reliability if landmarks are consistent.</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Volumetry</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water displacement. Historically the gold standard; impractical with open wounds.</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Perometry</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infrared optical scanning. Fast and reproducible.</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Bioimpedance spectroscopy (L-Dex)</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detects extracellular fluid change; can identify subclinical Stage 0.</a:t>
            </a:r>
            <a:endParaRPr lang="en-US" sz="1350" dirty="0"/>
          </a:p>
        </p:txBody>
      </p:sp>
      <p:sp>
        <p:nvSpPr>
          <p:cNvPr id="8" name="Shape 6"/>
          <p:cNvSpPr/>
          <p:nvPr/>
        </p:nvSpPr>
        <p:spPr>
          <a:xfrm>
            <a:off x="6196432" y="1572768"/>
            <a:ext cx="5428336" cy="4718304"/>
          </a:xfrm>
          <a:prstGeom prst="roundRect">
            <a:avLst>
              <a:gd name="adj" fmla="val 1744"/>
            </a:avLst>
          </a:prstGeom>
          <a:solidFill>
            <a:srgbClr val="FFFFFF"/>
          </a:solidFill>
          <a:ln w="12700">
            <a:solidFill>
              <a:srgbClr val="DCE6E8"/>
            </a:solidFill>
            <a:prstDash val="solid"/>
          </a:ln>
        </p:spPr>
      </p:sp>
      <p:sp>
        <p:nvSpPr>
          <p:cNvPr id="9" name="Text 7"/>
          <p:cNvSpPr/>
          <p:nvPr/>
        </p:nvSpPr>
        <p:spPr>
          <a:xfrm>
            <a:off x="6415888" y="1700784"/>
            <a:ext cx="4989424"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Imaging — when the picture is unclear</a:t>
            </a:r>
            <a:endParaRPr lang="en-US" sz="1500" dirty="0"/>
          </a:p>
        </p:txBody>
      </p:sp>
      <p:sp>
        <p:nvSpPr>
          <p:cNvPr id="10" name="Text 8"/>
          <p:cNvSpPr/>
          <p:nvPr/>
        </p:nvSpPr>
        <p:spPr>
          <a:xfrm>
            <a:off x="6415888" y="2066544"/>
            <a:ext cx="4989424" cy="4059936"/>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Lymphoscintigraphy</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the imaging standard for confirming lymphatic dysfunction</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ICG lymphography</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maps superficial lymphatics; guides MLD and surgical planning</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Duplex ultrasound</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rule out DVT and venous insufficiency</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MRI / CT</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rule out malignancy or extrinsic compression</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11</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ASSESSMENT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What Else Swells a Limb</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Before you treat it as lymphedema, rule these out.</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231136"/>
          <a:ext cx="11057839" cy="914400"/>
        </p:xfrm>
        <a:graphic>
          <a:graphicData uri="http://schemas.openxmlformats.org/drawingml/2006/table">
            <a:tbl>
              <a:tblPr/>
              <a:tblGrid>
                <a:gridCol w="2743200"/>
                <a:gridCol w="8330184"/>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Condition</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Distinguishing features</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Deep vein thrombosis</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Acute unilateral onset, pain, warmth, erythema. URGENT — do not perform MLD.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Chronic venous insufficiency</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Hemosiderin staining, varicosities, medial malleolar ulceration, improves with elevation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Congestive heart failure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Bilateral, dependent, pitting, dyspnea, JVD, orthopnea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Hypoproteinemia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Bilateral, generalized, may include ascites/periorbital edema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Lipedema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Bilateral, symmetrical, painful, bruises easily, SPARES THE FEET, negative Stemmer</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Malignant lymphedema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Rapid onset, pain, proximal-first, neurologic signs. Requires imaging.</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Cellulitis</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Fever, spreading erythema, heat, pain. Antibiotics first — MLD contraindicated.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84048">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Medication-induced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Calcium channel blockers, NSAIDs, steroids, gabapentin, some diabetes drugs</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080760"/>
            <a:ext cx="11057839" cy="457200"/>
          </a:xfrm>
          <a:prstGeom prst="rect">
            <a:avLst/>
          </a:prstGeom>
          <a:noFill/>
          <a:ln/>
        </p:spPr>
        <p:txBody>
          <a:bodyPr wrap="square" lIns="0" tIns="0" rIns="0" bIns="0" rtlCol="0" anchor="t"/>
          <a:lstStyle/>
          <a:p>
            <a:pPr indent="0" marL="0">
              <a:buNone/>
            </a:pPr>
            <a:r>
              <a:rPr lang="en-US" sz="1050" i="1" dirty="0">
                <a:solidFill>
                  <a:srgbClr val="36454F"/>
                </a:solidFill>
                <a:latin typeface="Calibri" pitchFamily="34" charset="0"/>
                <a:ea typeface="Calibri" pitchFamily="34" charset="-122"/>
                <a:cs typeface="Calibri" pitchFamily="34" charset="-120"/>
              </a:rPr>
              <a:t>Malignant lymphedema and DVT are the two that must not be missed. Both are referrals, not treatment plans.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STAGING</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ISL Staging — Overview</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The International Society of Lymphology defines four stages. Stage 0 is latent — the lymphatics are already impaired before anything is visible.</a:t>
            </a:r>
            <a:endParaRPr lang="en-US" sz="1500" dirty="0"/>
          </a:p>
        </p:txBody>
      </p:sp>
      <p:pic>
        <p:nvPicPr>
          <p:cNvPr id="6" name="Image 0" descr="/home/claude/build/assets/stage_progression.png">    </p:cNvPr>
          <p:cNvPicPr>
            <a:picLocks noChangeAspect="1"/>
          </p:cNvPicPr>
          <p:nvPr/>
        </p:nvPicPr>
        <p:blipFill>
          <a:blip r:embed="rId1"/>
          <a:srcRect l="0" r="0" t="0" b="0"/>
          <a:stretch/>
        </p:blipFill>
        <p:spPr>
          <a:xfrm>
            <a:off x="566928" y="2231136"/>
            <a:ext cx="11057839" cy="3712464"/>
          </a:xfrm>
          <a:prstGeom prst="rect">
            <a:avLst/>
          </a:prstGeom>
        </p:spPr>
      </p:pic>
      <p:sp>
        <p:nvSpPr>
          <p:cNvPr id="7" name="Text 4"/>
          <p:cNvSpPr/>
          <p:nvPr/>
        </p:nvSpPr>
        <p:spPr>
          <a:xfrm>
            <a:off x="566928" y="6016752"/>
            <a:ext cx="11057839" cy="50292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Staging describes tissue condition, not size. A small Stage III limb is still Stage III. Severity is graded separately by volume difference.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13</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STAGING</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Staging — Clinical Appearance</a:t>
            </a:r>
            <a:endParaRPr lang="en-US" sz="3400" dirty="0"/>
          </a:p>
        </p:txBody>
      </p:sp>
      <p:pic>
        <p:nvPicPr>
          <p:cNvPr id="5" name="Image 0" descr="/home/claude/build/assets/photos/stage_progression_photo.jpg">    </p:cNvPr>
          <p:cNvPicPr>
            <a:picLocks noChangeAspect="1"/>
          </p:cNvPicPr>
          <p:nvPr/>
        </p:nvPicPr>
        <p:blipFill>
          <a:blip r:embed="rId1"/>
          <a:srcRect l="0" r="0" t="0" b="0"/>
          <a:stretch/>
        </p:blipFill>
        <p:spPr>
          <a:xfrm>
            <a:off x="566928" y="1600200"/>
            <a:ext cx="5446624" cy="4233672"/>
          </a:xfrm>
          <a:prstGeom prst="rect">
            <a:avLst/>
          </a:prstGeom>
        </p:spPr>
      </p:pic>
      <p:sp>
        <p:nvSpPr>
          <p:cNvPr id="6" name="Text 3"/>
          <p:cNvSpPr/>
          <p:nvPr/>
        </p:nvSpPr>
        <p:spPr>
          <a:xfrm>
            <a:off x="566928" y="5870448"/>
            <a:ext cx="5446624"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Lower limb, Stages I–IV left to right</a:t>
            </a:r>
            <a:endParaRPr lang="en-US" sz="900" dirty="0"/>
          </a:p>
        </p:txBody>
      </p:sp>
      <p:pic>
        <p:nvPicPr>
          <p:cNvPr id="7" name="Image 1" descr="/home/claude/build/assets/photos/stage_upper_limb.jpg">    </p:cNvPr>
          <p:cNvPicPr>
            <a:picLocks noChangeAspect="1"/>
          </p:cNvPicPr>
          <p:nvPr/>
        </p:nvPicPr>
        <p:blipFill>
          <a:blip r:embed="rId2"/>
          <a:srcRect l="0" r="0" t="0" b="0"/>
          <a:stretch/>
        </p:blipFill>
        <p:spPr>
          <a:xfrm>
            <a:off x="6178144" y="1600200"/>
            <a:ext cx="5446624" cy="4233672"/>
          </a:xfrm>
          <a:prstGeom prst="rect">
            <a:avLst/>
          </a:prstGeom>
        </p:spPr>
      </p:pic>
      <p:sp>
        <p:nvSpPr>
          <p:cNvPr id="8" name="Text 4"/>
          <p:cNvSpPr/>
          <p:nvPr/>
        </p:nvSpPr>
        <p:spPr>
          <a:xfrm>
            <a:off x="6178144" y="5870448"/>
            <a:ext cx="5446624"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Upper limb, Stages I–IV left to right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14</a:t>
            </a:r>
            <a:endParaRPr lang="en-US" sz="1000" dirty="0"/>
          </a:p>
        </p:txBody>
      </p:sp>
      <p:sp>
        <p:nvSpPr>
          <p:cNvPr id="3" name="Shape 1"/>
          <p:cNvSpPr/>
          <p:nvPr/>
        </p:nvSpPr>
        <p:spPr>
          <a:xfrm>
            <a:off x="566928" y="310896"/>
            <a:ext cx="1371600" cy="384048"/>
          </a:xfrm>
          <a:prstGeom prst="roundRect">
            <a:avLst>
              <a:gd name="adj" fmla="val 47619"/>
            </a:avLst>
          </a:prstGeom>
          <a:solidFill>
            <a:srgbClr val="025462"/>
          </a:solidFill>
          <a:ln w="12700">
            <a:solidFill>
              <a:srgbClr val="025462"/>
            </a:solidFill>
            <a:prstDash val="solid"/>
          </a:ln>
        </p:spPr>
      </p:sp>
      <p:sp>
        <p:nvSpPr>
          <p:cNvPr id="4" name="Text 2"/>
          <p:cNvSpPr/>
          <p:nvPr/>
        </p:nvSpPr>
        <p:spPr>
          <a:xfrm>
            <a:off x="566928" y="310896"/>
            <a:ext cx="1371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STAGE 0</a:t>
            </a:r>
            <a:endParaRPr lang="en-US" sz="1200" dirty="0"/>
          </a:p>
        </p:txBody>
      </p:sp>
      <p:sp>
        <p:nvSpPr>
          <p:cNvPr id="5" name="Text 3"/>
          <p:cNvSpPr/>
          <p:nvPr/>
        </p:nvSpPr>
        <p:spPr>
          <a:xfrm>
            <a:off x="2121408" y="274320"/>
            <a:ext cx="9503359" cy="457200"/>
          </a:xfrm>
          <a:prstGeom prst="rect">
            <a:avLst/>
          </a:prstGeom>
          <a:noFill/>
          <a:ln/>
        </p:spPr>
        <p:txBody>
          <a:bodyPr wrap="square" lIns="0" tIns="0" rIns="0" bIns="0" rtlCol="0" anchor="ctr"/>
          <a:lstStyle/>
          <a:p>
            <a:pPr indent="0" marL="0">
              <a:buNone/>
            </a:pPr>
            <a:r>
              <a:rPr lang="en-US" sz="3000" b="1" dirty="0">
                <a:solidFill>
                  <a:srgbClr val="025462"/>
                </a:solidFill>
                <a:latin typeface="Cambria" pitchFamily="34" charset="0"/>
                <a:ea typeface="Cambria" pitchFamily="34" charset="-122"/>
                <a:cs typeface="Cambria" pitchFamily="34" charset="-120"/>
              </a:rPr>
              <a:t>Latent / Subclinical</a:t>
            </a:r>
            <a:endParaRPr lang="en-US" sz="3000" dirty="0"/>
          </a:p>
        </p:txBody>
      </p:sp>
      <p:sp>
        <p:nvSpPr>
          <p:cNvPr id="6" name="Text 4"/>
          <p:cNvSpPr/>
          <p:nvPr/>
        </p:nvSpPr>
        <p:spPr>
          <a:xfrm>
            <a:off x="566928" y="914400"/>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Lymph transport is already impaired. No visible swelling. May persist for months or years before progressing.</a:t>
            </a:r>
            <a:endParaRPr lang="en-US" sz="1500" dirty="0"/>
          </a:p>
        </p:txBody>
      </p:sp>
      <p:sp>
        <p:nvSpPr>
          <p:cNvPr id="7" name="Shape 5"/>
          <p:cNvSpPr/>
          <p:nvPr/>
        </p:nvSpPr>
        <p:spPr>
          <a:xfrm>
            <a:off x="566928" y="1572768"/>
            <a:ext cx="5414620" cy="4718304"/>
          </a:xfrm>
          <a:prstGeom prst="roundRect">
            <a:avLst>
              <a:gd name="adj" fmla="val 1744"/>
            </a:avLst>
          </a:prstGeom>
          <a:solidFill>
            <a:srgbClr val="FFFFFF"/>
          </a:solidFill>
          <a:ln w="12700">
            <a:solidFill>
              <a:srgbClr val="DCE6E8"/>
            </a:solidFill>
            <a:prstDash val="solid"/>
          </a:ln>
        </p:spPr>
      </p:sp>
      <p:sp>
        <p:nvSpPr>
          <p:cNvPr id="8" name="Text 6"/>
          <p:cNvSpPr/>
          <p:nvPr/>
        </p:nvSpPr>
        <p:spPr>
          <a:xfrm>
            <a:off x="804672" y="1719072"/>
            <a:ext cx="4939132" cy="292608"/>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Findings</a:t>
            </a:r>
            <a:endParaRPr lang="en-US" sz="1450" dirty="0"/>
          </a:p>
        </p:txBody>
      </p:sp>
      <p:sp>
        <p:nvSpPr>
          <p:cNvPr id="9" name="Text 7"/>
          <p:cNvSpPr/>
          <p:nvPr/>
        </p:nvSpPr>
        <p:spPr>
          <a:xfrm>
            <a:off x="804672" y="2103120"/>
            <a:ext cx="4939132" cy="402336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No visible or palpable edema</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Subjective heaviness, tightness, or fullness may be reported</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Reduced transport capacity detectable by bioimpedance or lymphoscintigraphy</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Normal tissue consistency</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Negative Stemmer's sign</a:t>
            </a:r>
            <a:endParaRPr lang="en-US" sz="1300" dirty="0"/>
          </a:p>
        </p:txBody>
      </p:sp>
      <p:sp>
        <p:nvSpPr>
          <p:cNvPr id="10" name="Shape 8"/>
          <p:cNvSpPr/>
          <p:nvPr/>
        </p:nvSpPr>
        <p:spPr>
          <a:xfrm>
            <a:off x="6210148" y="1572768"/>
            <a:ext cx="5414620" cy="4718304"/>
          </a:xfrm>
          <a:prstGeom prst="roundRect">
            <a:avLst>
              <a:gd name="adj" fmla="val 1744"/>
            </a:avLst>
          </a:prstGeom>
          <a:solidFill>
            <a:srgbClr val="FFFFFF"/>
          </a:solidFill>
          <a:ln w="12700">
            <a:solidFill>
              <a:srgbClr val="DCE6E8"/>
            </a:solidFill>
            <a:prstDash val="solid"/>
          </a:ln>
        </p:spPr>
      </p:sp>
      <p:sp>
        <p:nvSpPr>
          <p:cNvPr id="11" name="Text 9"/>
          <p:cNvSpPr/>
          <p:nvPr/>
        </p:nvSpPr>
        <p:spPr>
          <a:xfrm>
            <a:off x="6447892" y="1719072"/>
            <a:ext cx="4939132" cy="292608"/>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PT implications</a:t>
            </a:r>
            <a:endParaRPr lang="en-US" sz="1450" dirty="0"/>
          </a:p>
        </p:txBody>
      </p:sp>
      <p:sp>
        <p:nvSpPr>
          <p:cNvPr id="12" name="Text 10"/>
          <p:cNvSpPr/>
          <p:nvPr/>
        </p:nvSpPr>
        <p:spPr>
          <a:xfrm>
            <a:off x="6447892" y="2103120"/>
            <a:ext cx="4939132" cy="402336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This is the highest-value window for intervention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Baseline measurement pre-operatively makes this stage detectable at all</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Surveillance program, risk-reduction education, early compression if indicated</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Prophylactic PT after node dissection has been shown to reduce progression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15</a:t>
            </a:r>
            <a:endParaRPr lang="en-US" sz="1000" dirty="0"/>
          </a:p>
        </p:txBody>
      </p:sp>
      <p:sp>
        <p:nvSpPr>
          <p:cNvPr id="3" name="Shape 1"/>
          <p:cNvSpPr/>
          <p:nvPr/>
        </p:nvSpPr>
        <p:spPr>
          <a:xfrm>
            <a:off x="566928" y="310896"/>
            <a:ext cx="1371600" cy="384048"/>
          </a:xfrm>
          <a:prstGeom prst="roundRect">
            <a:avLst>
              <a:gd name="adj" fmla="val 47619"/>
            </a:avLst>
          </a:prstGeom>
          <a:solidFill>
            <a:srgbClr val="025462"/>
          </a:solidFill>
          <a:ln w="12700">
            <a:solidFill>
              <a:srgbClr val="025462"/>
            </a:solidFill>
            <a:prstDash val="solid"/>
          </a:ln>
        </p:spPr>
      </p:sp>
      <p:sp>
        <p:nvSpPr>
          <p:cNvPr id="4" name="Text 2"/>
          <p:cNvSpPr/>
          <p:nvPr/>
        </p:nvSpPr>
        <p:spPr>
          <a:xfrm>
            <a:off x="566928" y="310896"/>
            <a:ext cx="1371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STAGE I</a:t>
            </a:r>
            <a:endParaRPr lang="en-US" sz="1200" dirty="0"/>
          </a:p>
        </p:txBody>
      </p:sp>
      <p:sp>
        <p:nvSpPr>
          <p:cNvPr id="5" name="Text 3"/>
          <p:cNvSpPr/>
          <p:nvPr/>
        </p:nvSpPr>
        <p:spPr>
          <a:xfrm>
            <a:off x="2121408" y="274320"/>
            <a:ext cx="9503359" cy="457200"/>
          </a:xfrm>
          <a:prstGeom prst="rect">
            <a:avLst/>
          </a:prstGeom>
          <a:noFill/>
          <a:ln/>
        </p:spPr>
        <p:txBody>
          <a:bodyPr wrap="square" lIns="0" tIns="0" rIns="0" bIns="0" rtlCol="0" anchor="ctr"/>
          <a:lstStyle/>
          <a:p>
            <a:pPr indent="0" marL="0">
              <a:buNone/>
            </a:pPr>
            <a:r>
              <a:rPr lang="en-US" sz="3000" b="1" dirty="0">
                <a:solidFill>
                  <a:srgbClr val="025462"/>
                </a:solidFill>
                <a:latin typeface="Cambria" pitchFamily="34" charset="0"/>
                <a:ea typeface="Cambria" pitchFamily="34" charset="-122"/>
                <a:cs typeface="Cambria" pitchFamily="34" charset="-120"/>
              </a:rPr>
              <a:t>Spontaneously Reversible</a:t>
            </a:r>
            <a:endParaRPr lang="en-US" sz="3000" dirty="0"/>
          </a:p>
        </p:txBody>
      </p:sp>
      <p:sp>
        <p:nvSpPr>
          <p:cNvPr id="6" name="Text 4"/>
          <p:cNvSpPr/>
          <p:nvPr/>
        </p:nvSpPr>
        <p:spPr>
          <a:xfrm>
            <a:off x="566928" y="914400"/>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Early accumulation of protein-rich fluid. Swelling reduces with elevation — often resolving completely overnight.</a:t>
            </a:r>
            <a:endParaRPr lang="en-US" sz="1500" dirty="0"/>
          </a:p>
        </p:txBody>
      </p:sp>
      <p:pic>
        <p:nvPicPr>
          <p:cNvPr id="7" name="Image 0" descr="/home/claude/build/assets/photos/stage1_photo.jpg">    </p:cNvPr>
          <p:cNvPicPr>
            <a:picLocks noChangeAspect="1"/>
          </p:cNvPicPr>
          <p:nvPr/>
        </p:nvPicPr>
        <p:blipFill>
          <a:blip r:embed="rId1"/>
          <a:srcRect l="0" r="0" t="0" b="0"/>
          <a:stretch/>
        </p:blipFill>
        <p:spPr>
          <a:xfrm>
            <a:off x="8561527" y="1572768"/>
            <a:ext cx="3063240" cy="1984248"/>
          </a:xfrm>
          <a:prstGeom prst="rect">
            <a:avLst/>
          </a:prstGeom>
        </p:spPr>
      </p:pic>
      <p:sp>
        <p:nvSpPr>
          <p:cNvPr id="8" name="Text 5"/>
          <p:cNvSpPr/>
          <p:nvPr/>
        </p:nvSpPr>
        <p:spPr>
          <a:xfrm>
            <a:off x="8561527" y="3575304"/>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Early unilateral involvement</a:t>
            </a:r>
            <a:endParaRPr lang="en-US" sz="850" dirty="0"/>
          </a:p>
        </p:txBody>
      </p:sp>
      <p:pic>
        <p:nvPicPr>
          <p:cNvPr id="9" name="Image 1" descr="/home/claude/build/assets/photos/stage_clinical_leg.jpg">    </p:cNvPr>
          <p:cNvPicPr>
            <a:picLocks noChangeAspect="1"/>
          </p:cNvPicPr>
          <p:nvPr/>
        </p:nvPicPr>
        <p:blipFill>
          <a:blip r:embed="rId2"/>
          <a:srcRect l="0" r="0" t="0" b="0"/>
          <a:stretch/>
        </p:blipFill>
        <p:spPr>
          <a:xfrm>
            <a:off x="8561527" y="3995928"/>
            <a:ext cx="3063240" cy="1984248"/>
          </a:xfrm>
          <a:prstGeom prst="rect">
            <a:avLst/>
          </a:prstGeom>
        </p:spPr>
      </p:pic>
      <p:sp>
        <p:nvSpPr>
          <p:cNvPr id="10" name="Text 6"/>
          <p:cNvSpPr/>
          <p:nvPr/>
        </p:nvSpPr>
        <p:spPr>
          <a:xfrm>
            <a:off x="8561527" y="5998464"/>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Unilateral lower limb lymphedema</a:t>
            </a:r>
            <a:endParaRPr lang="en-US" sz="850" dirty="0"/>
          </a:p>
        </p:txBody>
      </p:sp>
      <p:sp>
        <p:nvSpPr>
          <p:cNvPr id="11" name="Shape 7"/>
          <p:cNvSpPr/>
          <p:nvPr/>
        </p:nvSpPr>
        <p:spPr>
          <a:xfrm>
            <a:off x="566928" y="1572768"/>
            <a:ext cx="3745840" cy="4718304"/>
          </a:xfrm>
          <a:prstGeom prst="roundRect">
            <a:avLst>
              <a:gd name="adj" fmla="val 2197"/>
            </a:avLst>
          </a:prstGeom>
          <a:solidFill>
            <a:srgbClr val="FFFFFF"/>
          </a:solidFill>
          <a:ln w="12700">
            <a:solidFill>
              <a:srgbClr val="DCE6E8"/>
            </a:solidFill>
            <a:prstDash val="solid"/>
          </a:ln>
        </p:spPr>
      </p:sp>
      <p:sp>
        <p:nvSpPr>
          <p:cNvPr id="12" name="Text 8"/>
          <p:cNvSpPr/>
          <p:nvPr/>
        </p:nvSpPr>
        <p:spPr>
          <a:xfrm>
            <a:off x="804672" y="1719072"/>
            <a:ext cx="3270352" cy="292608"/>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Findings</a:t>
            </a:r>
            <a:endParaRPr lang="en-US" sz="1450" dirty="0"/>
          </a:p>
        </p:txBody>
      </p:sp>
      <p:sp>
        <p:nvSpPr>
          <p:cNvPr id="13" name="Text 9"/>
          <p:cNvSpPr/>
          <p:nvPr/>
        </p:nvSpPr>
        <p:spPr>
          <a:xfrm>
            <a:off x="804672" y="2103120"/>
            <a:ext cx="3270352" cy="402336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Soft, pitting edema</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Subsides with elevation; frequently gone by morning</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No secondary tissue changes</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no fibrosis yet</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Stemmer's sign usually negative</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Limb feels heavy; may be visibly larger by end of day</a:t>
            </a:r>
            <a:endParaRPr lang="en-US" sz="1300" dirty="0"/>
          </a:p>
        </p:txBody>
      </p:sp>
      <p:sp>
        <p:nvSpPr>
          <p:cNvPr id="14" name="Shape 10"/>
          <p:cNvSpPr/>
          <p:nvPr/>
        </p:nvSpPr>
        <p:spPr>
          <a:xfrm>
            <a:off x="4541368" y="1572768"/>
            <a:ext cx="3745840" cy="4718304"/>
          </a:xfrm>
          <a:prstGeom prst="roundRect">
            <a:avLst>
              <a:gd name="adj" fmla="val 2197"/>
            </a:avLst>
          </a:prstGeom>
          <a:solidFill>
            <a:srgbClr val="FFFFFF"/>
          </a:solidFill>
          <a:ln w="12700">
            <a:solidFill>
              <a:srgbClr val="DCE6E8"/>
            </a:solidFill>
            <a:prstDash val="solid"/>
          </a:ln>
        </p:spPr>
      </p:sp>
      <p:sp>
        <p:nvSpPr>
          <p:cNvPr id="15" name="Text 11"/>
          <p:cNvSpPr/>
          <p:nvPr/>
        </p:nvSpPr>
        <p:spPr>
          <a:xfrm>
            <a:off x="4779112" y="1719072"/>
            <a:ext cx="3270352" cy="292608"/>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PT implications</a:t>
            </a:r>
            <a:endParaRPr lang="en-US" sz="1450" dirty="0"/>
          </a:p>
        </p:txBody>
      </p:sp>
      <p:sp>
        <p:nvSpPr>
          <p:cNvPr id="16" name="Text 12"/>
          <p:cNvSpPr/>
          <p:nvPr/>
        </p:nvSpPr>
        <p:spPr>
          <a:xfrm>
            <a:off x="4779112" y="2103120"/>
            <a:ext cx="3270352" cy="402336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Highly responsive to CDT</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Compression garments often sufficient for maintenance</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Patient education on self-management is decisive here</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Goal: prevent the transition to fibrosis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16</a:t>
            </a:r>
            <a:endParaRPr lang="en-US" sz="1000" dirty="0"/>
          </a:p>
        </p:txBody>
      </p:sp>
      <p:sp>
        <p:nvSpPr>
          <p:cNvPr id="3" name="Shape 1"/>
          <p:cNvSpPr/>
          <p:nvPr/>
        </p:nvSpPr>
        <p:spPr>
          <a:xfrm>
            <a:off x="566928" y="310896"/>
            <a:ext cx="1371600" cy="384048"/>
          </a:xfrm>
          <a:prstGeom prst="roundRect">
            <a:avLst>
              <a:gd name="adj" fmla="val 47619"/>
            </a:avLst>
          </a:prstGeom>
          <a:solidFill>
            <a:srgbClr val="025462"/>
          </a:solidFill>
          <a:ln w="12700">
            <a:solidFill>
              <a:srgbClr val="025462"/>
            </a:solidFill>
            <a:prstDash val="solid"/>
          </a:ln>
        </p:spPr>
      </p:sp>
      <p:sp>
        <p:nvSpPr>
          <p:cNvPr id="4" name="Text 2"/>
          <p:cNvSpPr/>
          <p:nvPr/>
        </p:nvSpPr>
        <p:spPr>
          <a:xfrm>
            <a:off x="566928" y="310896"/>
            <a:ext cx="1371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STAGE II</a:t>
            </a:r>
            <a:endParaRPr lang="en-US" sz="1200" dirty="0"/>
          </a:p>
        </p:txBody>
      </p:sp>
      <p:sp>
        <p:nvSpPr>
          <p:cNvPr id="5" name="Text 3"/>
          <p:cNvSpPr/>
          <p:nvPr/>
        </p:nvSpPr>
        <p:spPr>
          <a:xfrm>
            <a:off x="2121408" y="274320"/>
            <a:ext cx="9503359" cy="457200"/>
          </a:xfrm>
          <a:prstGeom prst="rect">
            <a:avLst/>
          </a:prstGeom>
          <a:noFill/>
          <a:ln/>
        </p:spPr>
        <p:txBody>
          <a:bodyPr wrap="square" lIns="0" tIns="0" rIns="0" bIns="0" rtlCol="0" anchor="ctr"/>
          <a:lstStyle/>
          <a:p>
            <a:pPr indent="0" marL="0">
              <a:buNone/>
            </a:pPr>
            <a:r>
              <a:rPr lang="en-US" sz="3000" b="1" dirty="0">
                <a:solidFill>
                  <a:srgbClr val="025462"/>
                </a:solidFill>
                <a:latin typeface="Cambria" pitchFamily="34" charset="0"/>
                <a:ea typeface="Cambria" pitchFamily="34" charset="-122"/>
                <a:cs typeface="Cambria" pitchFamily="34" charset="-120"/>
              </a:rPr>
              <a:t>Spontaneously Irreversible</a:t>
            </a:r>
            <a:endParaRPr lang="en-US" sz="3000" dirty="0"/>
          </a:p>
        </p:txBody>
      </p:sp>
      <p:sp>
        <p:nvSpPr>
          <p:cNvPr id="6" name="Text 4"/>
          <p:cNvSpPr/>
          <p:nvPr/>
        </p:nvSpPr>
        <p:spPr>
          <a:xfrm>
            <a:off x="566928" y="914400"/>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Elevation alone no longer reduces the swelling. Lymphostatic fibrosis has begun and the tissue is changing character.</a:t>
            </a:r>
            <a:endParaRPr lang="en-US" sz="1500" dirty="0"/>
          </a:p>
        </p:txBody>
      </p:sp>
      <p:pic>
        <p:nvPicPr>
          <p:cNvPr id="7" name="Image 0" descr="/home/claude/build/assets/photos/tbtw_arm_extended.jpg">    </p:cNvPr>
          <p:cNvPicPr>
            <a:picLocks noChangeAspect="1"/>
          </p:cNvPicPr>
          <p:nvPr/>
        </p:nvPicPr>
        <p:blipFill>
          <a:blip r:embed="rId1"/>
          <a:srcRect l="0" r="0" t="0" b="0"/>
          <a:stretch/>
        </p:blipFill>
        <p:spPr>
          <a:xfrm>
            <a:off x="8561527" y="1572768"/>
            <a:ext cx="3063240" cy="1700784"/>
          </a:xfrm>
          <a:prstGeom prst="rect">
            <a:avLst/>
          </a:prstGeom>
        </p:spPr>
      </p:pic>
      <p:sp>
        <p:nvSpPr>
          <p:cNvPr id="8" name="Text 5"/>
          <p:cNvSpPr/>
          <p:nvPr/>
        </p:nvSpPr>
        <p:spPr>
          <a:xfrm>
            <a:off x="8561527" y="3291840"/>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Upper limb, extended</a:t>
            </a:r>
            <a:endParaRPr lang="en-US" sz="850" dirty="0"/>
          </a:p>
        </p:txBody>
      </p:sp>
      <p:pic>
        <p:nvPicPr>
          <p:cNvPr id="9" name="Image 1" descr="/home/claude/build/assets/photos/tbtw_arm_raised.jpg">    </p:cNvPr>
          <p:cNvPicPr>
            <a:picLocks noChangeAspect="1"/>
          </p:cNvPicPr>
          <p:nvPr/>
        </p:nvPicPr>
        <p:blipFill>
          <a:blip r:embed="rId2"/>
          <a:srcRect l="0" r="0" t="0" b="0"/>
          <a:stretch/>
        </p:blipFill>
        <p:spPr>
          <a:xfrm>
            <a:off x="8561527" y="3712464"/>
            <a:ext cx="3063240" cy="1700784"/>
          </a:xfrm>
          <a:prstGeom prst="rect">
            <a:avLst/>
          </a:prstGeom>
        </p:spPr>
      </p:pic>
      <p:sp>
        <p:nvSpPr>
          <p:cNvPr id="10" name="Text 6"/>
          <p:cNvSpPr/>
          <p:nvPr/>
        </p:nvSpPr>
        <p:spPr>
          <a:xfrm>
            <a:off x="8561527" y="5431536"/>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Upper limb, elevated</a:t>
            </a:r>
            <a:endParaRPr lang="en-US" sz="850" dirty="0"/>
          </a:p>
        </p:txBody>
      </p:sp>
      <p:sp>
        <p:nvSpPr>
          <p:cNvPr id="11" name="Shape 7"/>
          <p:cNvSpPr/>
          <p:nvPr/>
        </p:nvSpPr>
        <p:spPr>
          <a:xfrm>
            <a:off x="566928" y="1572768"/>
            <a:ext cx="3745840" cy="4151376"/>
          </a:xfrm>
          <a:prstGeom prst="roundRect">
            <a:avLst>
              <a:gd name="adj" fmla="val 2197"/>
            </a:avLst>
          </a:prstGeom>
          <a:solidFill>
            <a:srgbClr val="FFFFFF"/>
          </a:solidFill>
          <a:ln w="12700">
            <a:solidFill>
              <a:srgbClr val="DCE6E8"/>
            </a:solidFill>
            <a:prstDash val="solid"/>
          </a:ln>
        </p:spPr>
      </p:sp>
      <p:sp>
        <p:nvSpPr>
          <p:cNvPr id="12" name="Text 8"/>
          <p:cNvSpPr/>
          <p:nvPr/>
        </p:nvSpPr>
        <p:spPr>
          <a:xfrm>
            <a:off x="804672" y="1719072"/>
            <a:ext cx="3270352" cy="292608"/>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Findings</a:t>
            </a:r>
            <a:endParaRPr lang="en-US" sz="1450" dirty="0"/>
          </a:p>
        </p:txBody>
      </p:sp>
      <p:sp>
        <p:nvSpPr>
          <p:cNvPr id="13" name="Text 9"/>
          <p:cNvSpPr/>
          <p:nvPr/>
        </p:nvSpPr>
        <p:spPr>
          <a:xfrm>
            <a:off x="804672" y="2103120"/>
            <a:ext cx="3270352" cy="3456432"/>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Elevation rarely reduces the limb</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Early Stage II</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pitting is manifest and pronounced</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Late Stage II</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pitting may be absent as fibrosis replaces fluid</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Tissue feels firm; Stemmer's sign becomes positive</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Increasing frequency of cellulitis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Skin thickening becomes apparent</a:t>
            </a:r>
            <a:endParaRPr lang="en-US" sz="1300" dirty="0"/>
          </a:p>
        </p:txBody>
      </p:sp>
      <p:sp>
        <p:nvSpPr>
          <p:cNvPr id="14" name="Shape 10"/>
          <p:cNvSpPr/>
          <p:nvPr/>
        </p:nvSpPr>
        <p:spPr>
          <a:xfrm>
            <a:off x="4541368" y="1572768"/>
            <a:ext cx="3745840" cy="4151376"/>
          </a:xfrm>
          <a:prstGeom prst="roundRect">
            <a:avLst>
              <a:gd name="adj" fmla="val 2197"/>
            </a:avLst>
          </a:prstGeom>
          <a:solidFill>
            <a:srgbClr val="FFFFFF"/>
          </a:solidFill>
          <a:ln w="12700">
            <a:solidFill>
              <a:srgbClr val="DCE6E8"/>
            </a:solidFill>
            <a:prstDash val="solid"/>
          </a:ln>
        </p:spPr>
      </p:sp>
      <p:sp>
        <p:nvSpPr>
          <p:cNvPr id="15" name="Text 11"/>
          <p:cNvSpPr/>
          <p:nvPr/>
        </p:nvSpPr>
        <p:spPr>
          <a:xfrm>
            <a:off x="4779112" y="1719072"/>
            <a:ext cx="3270352" cy="292608"/>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PT implications</a:t>
            </a:r>
            <a:endParaRPr lang="en-US" sz="1450" dirty="0"/>
          </a:p>
        </p:txBody>
      </p:sp>
      <p:sp>
        <p:nvSpPr>
          <p:cNvPr id="16" name="Text 12"/>
          <p:cNvSpPr/>
          <p:nvPr/>
        </p:nvSpPr>
        <p:spPr>
          <a:xfrm>
            <a:off x="4779112" y="2103120"/>
            <a:ext cx="3270352" cy="3456432"/>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Full intensive-phase CDT is indicated</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Fibrosis requires manual work plus foam/chip padding under bandaging</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Realistic goal is volume reduction and stabilization, not cure</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Aggressive infection-prevention education</a:t>
            </a:r>
            <a:endParaRPr lang="en-US" sz="1300" dirty="0"/>
          </a:p>
        </p:txBody>
      </p:sp>
      <p:sp>
        <p:nvSpPr>
          <p:cNvPr id="17" name="Text 13"/>
          <p:cNvSpPr/>
          <p:nvPr/>
        </p:nvSpPr>
        <p:spPr>
          <a:xfrm>
            <a:off x="566928" y="5852160"/>
            <a:ext cx="11057839" cy="45720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The presence or absence of pitting is what separates early from late Stage II — not the size of the limb.</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17</a:t>
            </a:r>
            <a:endParaRPr lang="en-US" sz="1000" dirty="0"/>
          </a:p>
        </p:txBody>
      </p:sp>
      <p:sp>
        <p:nvSpPr>
          <p:cNvPr id="3" name="Shape 1"/>
          <p:cNvSpPr/>
          <p:nvPr/>
        </p:nvSpPr>
        <p:spPr>
          <a:xfrm>
            <a:off x="566928" y="310896"/>
            <a:ext cx="1371600" cy="384048"/>
          </a:xfrm>
          <a:prstGeom prst="roundRect">
            <a:avLst>
              <a:gd name="adj" fmla="val 47619"/>
            </a:avLst>
          </a:prstGeom>
          <a:solidFill>
            <a:srgbClr val="025462"/>
          </a:solidFill>
          <a:ln w="12700">
            <a:solidFill>
              <a:srgbClr val="025462"/>
            </a:solidFill>
            <a:prstDash val="solid"/>
          </a:ln>
        </p:spPr>
      </p:sp>
      <p:sp>
        <p:nvSpPr>
          <p:cNvPr id="4" name="Text 2"/>
          <p:cNvSpPr/>
          <p:nvPr/>
        </p:nvSpPr>
        <p:spPr>
          <a:xfrm>
            <a:off x="566928" y="310896"/>
            <a:ext cx="13716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STAGE III</a:t>
            </a:r>
            <a:endParaRPr lang="en-US" sz="1200" dirty="0"/>
          </a:p>
        </p:txBody>
      </p:sp>
      <p:sp>
        <p:nvSpPr>
          <p:cNvPr id="5" name="Text 3"/>
          <p:cNvSpPr/>
          <p:nvPr/>
        </p:nvSpPr>
        <p:spPr>
          <a:xfrm>
            <a:off x="2121408" y="274320"/>
            <a:ext cx="9503359" cy="457200"/>
          </a:xfrm>
          <a:prstGeom prst="rect">
            <a:avLst/>
          </a:prstGeom>
          <a:noFill/>
          <a:ln/>
        </p:spPr>
        <p:txBody>
          <a:bodyPr wrap="square" lIns="0" tIns="0" rIns="0" bIns="0" rtlCol="0" anchor="ctr"/>
          <a:lstStyle/>
          <a:p>
            <a:pPr indent="0" marL="0">
              <a:buNone/>
            </a:pPr>
            <a:r>
              <a:rPr lang="en-US" sz="3000" b="1" dirty="0">
                <a:solidFill>
                  <a:srgbClr val="025462"/>
                </a:solidFill>
                <a:latin typeface="Cambria" pitchFamily="34" charset="0"/>
                <a:ea typeface="Cambria" pitchFamily="34" charset="-122"/>
                <a:cs typeface="Cambria" pitchFamily="34" charset="-120"/>
              </a:rPr>
              <a:t>Lymphostatic Elephantiasis</a:t>
            </a:r>
            <a:endParaRPr lang="en-US" sz="3000" dirty="0"/>
          </a:p>
        </p:txBody>
      </p:sp>
      <p:sp>
        <p:nvSpPr>
          <p:cNvPr id="6" name="Text 4"/>
          <p:cNvSpPr/>
          <p:nvPr/>
        </p:nvSpPr>
        <p:spPr>
          <a:xfrm>
            <a:off x="566928" y="914400"/>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Extreme volume increase with characteristic trophic skin changes. Pitting is typically absent.</a:t>
            </a:r>
            <a:endParaRPr lang="en-US" sz="1500" dirty="0"/>
          </a:p>
        </p:txBody>
      </p:sp>
      <p:pic>
        <p:nvPicPr>
          <p:cNvPr id="7" name="Image 0" descr="/home/claude/build/assets/photos/stage3_photo.jpg">    </p:cNvPr>
          <p:cNvPicPr>
            <a:picLocks noChangeAspect="1"/>
          </p:cNvPicPr>
          <p:nvPr/>
        </p:nvPicPr>
        <p:blipFill>
          <a:blip r:embed="rId1"/>
          <a:srcRect l="0" r="0" t="0" b="0"/>
          <a:stretch/>
        </p:blipFill>
        <p:spPr>
          <a:xfrm>
            <a:off x="8561527" y="1572768"/>
            <a:ext cx="3063240" cy="1700784"/>
          </a:xfrm>
          <a:prstGeom prst="rect">
            <a:avLst/>
          </a:prstGeom>
        </p:spPr>
      </p:pic>
      <p:sp>
        <p:nvSpPr>
          <p:cNvPr id="8" name="Text 5"/>
          <p:cNvSpPr/>
          <p:nvPr/>
        </p:nvSpPr>
        <p:spPr>
          <a:xfrm>
            <a:off x="8561527" y="3291840"/>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Stage III — lymphostatic elephantiasis</a:t>
            </a:r>
            <a:endParaRPr lang="en-US" sz="850" dirty="0"/>
          </a:p>
        </p:txBody>
      </p:sp>
      <p:pic>
        <p:nvPicPr>
          <p:cNvPr id="9" name="Image 1" descr="/home/claude/build/assets/photos/stage3_skin.jpg">    </p:cNvPr>
          <p:cNvPicPr>
            <a:picLocks noChangeAspect="1"/>
          </p:cNvPicPr>
          <p:nvPr/>
        </p:nvPicPr>
        <p:blipFill>
          <a:blip r:embed="rId2"/>
          <a:srcRect l="0" r="0" t="0" b="0"/>
          <a:stretch/>
        </p:blipFill>
        <p:spPr>
          <a:xfrm>
            <a:off x="8561527" y="3712464"/>
            <a:ext cx="3063240" cy="1700784"/>
          </a:xfrm>
          <a:prstGeom prst="rect">
            <a:avLst/>
          </a:prstGeom>
        </p:spPr>
      </p:pic>
      <p:sp>
        <p:nvSpPr>
          <p:cNvPr id="10" name="Text 6"/>
          <p:cNvSpPr/>
          <p:nvPr/>
        </p:nvSpPr>
        <p:spPr>
          <a:xfrm>
            <a:off x="8561527" y="5431536"/>
            <a:ext cx="3063240" cy="274320"/>
          </a:xfrm>
          <a:prstGeom prst="rect">
            <a:avLst/>
          </a:prstGeom>
          <a:noFill/>
          <a:ln/>
        </p:spPr>
        <p:txBody>
          <a:bodyPr wrap="square" lIns="0" tIns="0" rIns="0" bIns="0" rtlCol="0" anchor="t"/>
          <a:lstStyle/>
          <a:p>
            <a:pPr algn="ctr" indent="0" marL="0">
              <a:buNone/>
            </a:pPr>
            <a:r>
              <a:rPr lang="en-US" sz="850" i="1" dirty="0">
                <a:solidFill>
                  <a:srgbClr val="36454F"/>
                </a:solidFill>
                <a:latin typeface="Calibri" pitchFamily="34" charset="0"/>
                <a:ea typeface="Calibri" pitchFamily="34" charset="-122"/>
                <a:cs typeface="Calibri" pitchFamily="34" charset="-120"/>
              </a:rPr>
              <a:t>Stage III skin changes with lymphorrhea</a:t>
            </a:r>
            <a:endParaRPr lang="en-US" sz="850" dirty="0"/>
          </a:p>
        </p:txBody>
      </p:sp>
      <p:sp>
        <p:nvSpPr>
          <p:cNvPr id="11" name="Shape 7"/>
          <p:cNvSpPr/>
          <p:nvPr/>
        </p:nvSpPr>
        <p:spPr>
          <a:xfrm>
            <a:off x="566928" y="1572768"/>
            <a:ext cx="3745840" cy="4151376"/>
          </a:xfrm>
          <a:prstGeom prst="roundRect">
            <a:avLst>
              <a:gd name="adj" fmla="val 2197"/>
            </a:avLst>
          </a:prstGeom>
          <a:solidFill>
            <a:srgbClr val="FFFFFF"/>
          </a:solidFill>
          <a:ln w="12700">
            <a:solidFill>
              <a:srgbClr val="DCE6E8"/>
            </a:solidFill>
            <a:prstDash val="solid"/>
          </a:ln>
        </p:spPr>
      </p:sp>
      <p:sp>
        <p:nvSpPr>
          <p:cNvPr id="12" name="Text 8"/>
          <p:cNvSpPr/>
          <p:nvPr/>
        </p:nvSpPr>
        <p:spPr>
          <a:xfrm>
            <a:off x="804672" y="1719072"/>
            <a:ext cx="3270352" cy="292608"/>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Findings</a:t>
            </a:r>
            <a:endParaRPr lang="en-US" sz="1450" dirty="0"/>
          </a:p>
        </p:txBody>
      </p:sp>
      <p:sp>
        <p:nvSpPr>
          <p:cNvPr id="13" name="Text 9"/>
          <p:cNvSpPr/>
          <p:nvPr/>
        </p:nvSpPr>
        <p:spPr>
          <a:xfrm>
            <a:off x="804672" y="2103120"/>
            <a:ext cx="3270352" cy="3456432"/>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Marked volume increase and limb distortion</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Pitting absent</a:t>
            </a:r>
            <a:pPr indent="0" marL="0">
              <a:spcAft>
                <a:spcPts val="600"/>
              </a:spcAft>
              <a:buNone/>
            </a:pP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Trophic skin changes — acanthosis, hyperkeratosis</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Papillomas</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and warty overgrowth</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Deep skin folds</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fat deposition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Lymphorrhea — weeping of lymph fluid through the skin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Strongly positive Stemmer's sign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Frequent, sometimes life-threatening infection</a:t>
            </a:r>
            <a:endParaRPr lang="en-US" sz="1300" dirty="0"/>
          </a:p>
        </p:txBody>
      </p:sp>
      <p:sp>
        <p:nvSpPr>
          <p:cNvPr id="14" name="Shape 10"/>
          <p:cNvSpPr/>
          <p:nvPr/>
        </p:nvSpPr>
        <p:spPr>
          <a:xfrm>
            <a:off x="4541368" y="1572768"/>
            <a:ext cx="3745840" cy="4151376"/>
          </a:xfrm>
          <a:prstGeom prst="roundRect">
            <a:avLst>
              <a:gd name="adj" fmla="val 2197"/>
            </a:avLst>
          </a:prstGeom>
          <a:solidFill>
            <a:srgbClr val="FFFFFF"/>
          </a:solidFill>
          <a:ln w="12700">
            <a:solidFill>
              <a:srgbClr val="DCE6E8"/>
            </a:solidFill>
            <a:prstDash val="solid"/>
          </a:ln>
        </p:spPr>
      </p:sp>
      <p:sp>
        <p:nvSpPr>
          <p:cNvPr id="15" name="Text 11"/>
          <p:cNvSpPr/>
          <p:nvPr/>
        </p:nvSpPr>
        <p:spPr>
          <a:xfrm>
            <a:off x="4779112" y="1719072"/>
            <a:ext cx="3270352" cy="292608"/>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PT implications</a:t>
            </a:r>
            <a:endParaRPr lang="en-US" sz="1450" dirty="0"/>
          </a:p>
        </p:txBody>
      </p:sp>
      <p:sp>
        <p:nvSpPr>
          <p:cNvPr id="16" name="Text 12"/>
          <p:cNvSpPr/>
          <p:nvPr/>
        </p:nvSpPr>
        <p:spPr>
          <a:xfrm>
            <a:off x="4779112" y="2103120"/>
            <a:ext cx="3270352" cy="3456432"/>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Extended intensive phase; often requires wound care alongside CDT</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Meaningful volume reduction is still achievable — do not write these patients off</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Multilayer bandaging with substantial padding</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Coordinate with physician; surgical options may be considered after conservative management</a:t>
            </a:r>
            <a:endParaRPr lang="en-US" sz="1300" dirty="0"/>
          </a:p>
        </p:txBody>
      </p:sp>
      <p:sp>
        <p:nvSpPr>
          <p:cNvPr id="17" name="Text 13"/>
          <p:cNvSpPr/>
          <p:nvPr/>
        </p:nvSpPr>
        <p:spPr>
          <a:xfrm>
            <a:off x="566928" y="5852160"/>
            <a:ext cx="11057839" cy="45720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Stage III is not a treatment failure to be managed passively. Significant reduction is well documented with sustained CDT.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18</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STAGING</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Stage III — Clinical Appearance</a:t>
            </a:r>
            <a:endParaRPr lang="en-US" sz="3400" dirty="0"/>
          </a:p>
        </p:txBody>
      </p:sp>
      <p:pic>
        <p:nvPicPr>
          <p:cNvPr id="5" name="Image 0" descr="/home/claude/build/assets/photos/stage3_photo.jpg">    </p:cNvPr>
          <p:cNvPicPr>
            <a:picLocks noChangeAspect="1"/>
          </p:cNvPicPr>
          <p:nvPr/>
        </p:nvPicPr>
        <p:blipFill>
          <a:blip r:embed="rId1"/>
          <a:srcRect l="0" r="0" t="0" b="0"/>
          <a:stretch/>
        </p:blipFill>
        <p:spPr>
          <a:xfrm>
            <a:off x="566928" y="1600200"/>
            <a:ext cx="3576218" cy="4233672"/>
          </a:xfrm>
          <a:prstGeom prst="rect">
            <a:avLst/>
          </a:prstGeom>
        </p:spPr>
      </p:pic>
      <p:sp>
        <p:nvSpPr>
          <p:cNvPr id="6" name="Text 3"/>
          <p:cNvSpPr/>
          <p:nvPr/>
        </p:nvSpPr>
        <p:spPr>
          <a:xfrm>
            <a:off x="566928"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Stage III — lymphostatic elephantiasis</a:t>
            </a:r>
            <a:endParaRPr lang="en-US" sz="900" dirty="0"/>
          </a:p>
        </p:txBody>
      </p:sp>
      <p:pic>
        <p:nvPicPr>
          <p:cNvPr id="7" name="Image 1" descr="/home/claude/build/assets/photos/stage3_skin.jpg">    </p:cNvPr>
          <p:cNvPicPr>
            <a:picLocks noChangeAspect="1"/>
          </p:cNvPicPr>
          <p:nvPr/>
        </p:nvPicPr>
        <p:blipFill>
          <a:blip r:embed="rId2"/>
          <a:srcRect l="0" r="0" t="0" b="0"/>
          <a:stretch/>
        </p:blipFill>
        <p:spPr>
          <a:xfrm>
            <a:off x="4307738" y="1600200"/>
            <a:ext cx="3576218" cy="4233672"/>
          </a:xfrm>
          <a:prstGeom prst="rect">
            <a:avLst/>
          </a:prstGeom>
        </p:spPr>
      </p:pic>
      <p:sp>
        <p:nvSpPr>
          <p:cNvPr id="8" name="Text 4"/>
          <p:cNvSpPr/>
          <p:nvPr/>
        </p:nvSpPr>
        <p:spPr>
          <a:xfrm>
            <a:off x="4307738"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Stage III skin changes with lymphorrhea</a:t>
            </a:r>
            <a:endParaRPr lang="en-US" sz="900" dirty="0"/>
          </a:p>
        </p:txBody>
      </p:sp>
      <p:pic>
        <p:nvPicPr>
          <p:cNvPr id="9" name="Image 2" descr="/home/claude/build/assets/photos/tbtw_severe_foot.jpg">    </p:cNvPr>
          <p:cNvPicPr>
            <a:picLocks noChangeAspect="1"/>
          </p:cNvPicPr>
          <p:nvPr/>
        </p:nvPicPr>
        <p:blipFill>
          <a:blip r:embed="rId3"/>
          <a:srcRect l="0" r="0" t="0" b="0"/>
          <a:stretch/>
        </p:blipFill>
        <p:spPr>
          <a:xfrm>
            <a:off x="8048549" y="1600200"/>
            <a:ext cx="3576218" cy="4233672"/>
          </a:xfrm>
          <a:prstGeom prst="rect">
            <a:avLst/>
          </a:prstGeom>
        </p:spPr>
      </p:pic>
      <p:sp>
        <p:nvSpPr>
          <p:cNvPr id="10" name="Text 5"/>
          <p:cNvSpPr/>
          <p:nvPr/>
        </p:nvSpPr>
        <p:spPr>
          <a:xfrm>
            <a:off x="8048549"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Severe foot and ankle involvement</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19</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Complete Decongestive Therapy</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CDT is the internationally accepted standard of care. It has four components, delivered in two phases.</a:t>
            </a:r>
            <a:endParaRPr lang="en-US" sz="1500" dirty="0"/>
          </a:p>
        </p:txBody>
      </p:sp>
      <p:pic>
        <p:nvPicPr>
          <p:cNvPr id="6" name="Image 0" descr="/home/claude/build/assets/cdt_pillars.png">    </p:cNvPr>
          <p:cNvPicPr>
            <a:picLocks noChangeAspect="1"/>
          </p:cNvPicPr>
          <p:nvPr/>
        </p:nvPicPr>
        <p:blipFill>
          <a:blip r:embed="rId1"/>
          <a:srcRect l="0" r="0" t="0" b="0"/>
          <a:stretch/>
        </p:blipFill>
        <p:spPr>
          <a:xfrm>
            <a:off x="566928" y="2231136"/>
            <a:ext cx="11057839" cy="3712464"/>
          </a:xfrm>
          <a:prstGeom prst="rect">
            <a:avLst/>
          </a:prstGeom>
        </p:spPr>
      </p:pic>
      <p:sp>
        <p:nvSpPr>
          <p:cNvPr id="7" name="Text 4"/>
          <p:cNvSpPr/>
          <p:nvPr/>
        </p:nvSpPr>
        <p:spPr>
          <a:xfrm>
            <a:off x="566928" y="6016752"/>
            <a:ext cx="11057839" cy="50292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Phase II is where outcomes are actually won or lost. Adherence, not technique, is the usual determinant of long-term result.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20</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CDT — Two Phases</a:t>
            </a:r>
            <a:endParaRPr lang="en-US" sz="3400" dirty="0"/>
          </a:p>
        </p:txBody>
      </p:sp>
      <p:sp>
        <p:nvSpPr>
          <p:cNvPr id="5" name="Shape 3"/>
          <p:cNvSpPr/>
          <p:nvPr/>
        </p:nvSpPr>
        <p:spPr>
          <a:xfrm>
            <a:off x="566928" y="1572768"/>
            <a:ext cx="5391760" cy="3291840"/>
          </a:xfrm>
          <a:prstGeom prst="roundRect">
            <a:avLst>
              <a:gd name="adj" fmla="val 2500"/>
            </a:avLst>
          </a:prstGeom>
          <a:solidFill>
            <a:srgbClr val="FFFFFF"/>
          </a:solidFill>
          <a:ln w="12700">
            <a:solidFill>
              <a:srgbClr val="DCE6E8"/>
            </a:solidFill>
            <a:prstDash val="solid"/>
          </a:ln>
        </p:spPr>
      </p:sp>
      <p:sp>
        <p:nvSpPr>
          <p:cNvPr id="6" name="Text 4"/>
          <p:cNvSpPr/>
          <p:nvPr/>
        </p:nvSpPr>
        <p:spPr>
          <a:xfrm>
            <a:off x="841248" y="1773936"/>
            <a:ext cx="4843120" cy="365760"/>
          </a:xfrm>
          <a:prstGeom prst="rect">
            <a:avLst/>
          </a:prstGeom>
          <a:noFill/>
          <a:ln/>
        </p:spPr>
        <p:txBody>
          <a:bodyPr wrap="square" lIns="0" tIns="0" rIns="0" bIns="0" rtlCol="0" anchor="ctr"/>
          <a:lstStyle/>
          <a:p>
            <a:pPr indent="0" marL="0">
              <a:buNone/>
            </a:pPr>
            <a:r>
              <a:rPr lang="en-US" sz="1600" b="1" dirty="0">
                <a:solidFill>
                  <a:srgbClr val="025462"/>
                </a:solidFill>
                <a:latin typeface="Calibri" pitchFamily="34" charset="0"/>
                <a:ea typeface="Calibri" pitchFamily="34" charset="-122"/>
                <a:cs typeface="Calibri" pitchFamily="34" charset="-120"/>
              </a:rPr>
              <a:t>Phase I — Intensive / Reductive</a:t>
            </a:r>
            <a:endParaRPr lang="en-US" sz="1600" dirty="0"/>
          </a:p>
        </p:txBody>
      </p:sp>
      <p:sp>
        <p:nvSpPr>
          <p:cNvPr id="7" name="Text 5"/>
          <p:cNvSpPr/>
          <p:nvPr/>
        </p:nvSpPr>
        <p:spPr>
          <a:xfrm>
            <a:off x="841248" y="2258568"/>
            <a:ext cx="4843120" cy="246888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Typically 3–6 weeks, treatment 4–5x/week, sessions 1–2 hours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MLD, multilayer short-stretch bandaging worn 23 hours/day, exercise, skin care</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Re-measure at every visit</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Ends when volume plateaus across consecutive sessions</a:t>
            </a:r>
            <a:endParaRPr lang="en-US" sz="1300" dirty="0"/>
          </a:p>
        </p:txBody>
      </p:sp>
      <p:sp>
        <p:nvSpPr>
          <p:cNvPr id="8" name="Shape 6"/>
          <p:cNvSpPr/>
          <p:nvPr/>
        </p:nvSpPr>
        <p:spPr>
          <a:xfrm>
            <a:off x="6233008" y="1572768"/>
            <a:ext cx="5391760" cy="3291840"/>
          </a:xfrm>
          <a:prstGeom prst="roundRect">
            <a:avLst>
              <a:gd name="adj" fmla="val 2500"/>
            </a:avLst>
          </a:prstGeom>
          <a:solidFill>
            <a:srgbClr val="FFFFFF"/>
          </a:solidFill>
          <a:ln w="12700">
            <a:solidFill>
              <a:srgbClr val="DCE6E8"/>
            </a:solidFill>
            <a:prstDash val="solid"/>
          </a:ln>
        </p:spPr>
      </p:sp>
      <p:sp>
        <p:nvSpPr>
          <p:cNvPr id="9" name="Text 7"/>
          <p:cNvSpPr/>
          <p:nvPr/>
        </p:nvSpPr>
        <p:spPr>
          <a:xfrm>
            <a:off x="6507328" y="1773936"/>
            <a:ext cx="4843120" cy="365760"/>
          </a:xfrm>
          <a:prstGeom prst="rect">
            <a:avLst/>
          </a:prstGeom>
          <a:noFill/>
          <a:ln/>
        </p:spPr>
        <p:txBody>
          <a:bodyPr wrap="square" lIns="0" tIns="0" rIns="0" bIns="0" rtlCol="0" anchor="ctr"/>
          <a:lstStyle/>
          <a:p>
            <a:pPr indent="0" marL="0">
              <a:buNone/>
            </a:pPr>
            <a:r>
              <a:rPr lang="en-US" sz="1600" b="1" dirty="0">
                <a:solidFill>
                  <a:srgbClr val="025462"/>
                </a:solidFill>
                <a:latin typeface="Calibri" pitchFamily="34" charset="0"/>
                <a:ea typeface="Calibri" pitchFamily="34" charset="-122"/>
                <a:cs typeface="Calibri" pitchFamily="34" charset="-120"/>
              </a:rPr>
              <a:t>Phase II — Maintenance / Self-Management</a:t>
            </a:r>
            <a:endParaRPr lang="en-US" sz="1600" dirty="0"/>
          </a:p>
        </p:txBody>
      </p:sp>
      <p:sp>
        <p:nvSpPr>
          <p:cNvPr id="10" name="Text 8"/>
          <p:cNvSpPr/>
          <p:nvPr/>
        </p:nvSpPr>
        <p:spPr>
          <a:xfrm>
            <a:off x="6507328" y="2258568"/>
            <a:ext cx="4843120" cy="246888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Fitted compression garment during the day; night garment or bandaging as needed</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Self-MLD and home exercise program</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Daily skin care and self-inspection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Ongoing surveillance; garments replaced every 4–6 months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Return for a short intensive phase if the limb regresses</a:t>
            </a:r>
            <a:endParaRPr lang="en-US" sz="1300" dirty="0"/>
          </a:p>
        </p:txBody>
      </p:sp>
      <p:sp>
        <p:nvSpPr>
          <p:cNvPr id="11" name="Text 9"/>
          <p:cNvSpPr/>
          <p:nvPr/>
        </p:nvSpPr>
        <p:spPr>
          <a:xfrm>
            <a:off x="566928" y="5047488"/>
            <a:ext cx="11057839" cy="457200"/>
          </a:xfrm>
          <a:prstGeom prst="rect">
            <a:avLst/>
          </a:prstGeom>
          <a:noFill/>
          <a:ln/>
        </p:spPr>
        <p:txBody>
          <a:bodyPr wrap="square" lIns="0" tIns="0" rIns="0" bIns="0" rtlCol="0" anchor="t"/>
          <a:lstStyle/>
          <a:p>
            <a:pPr indent="0" marL="0">
              <a:buNone/>
            </a:pPr>
            <a:r>
              <a:rPr lang="en-US" sz="1200" i="1" dirty="0">
                <a:solidFill>
                  <a:srgbClr val="36454F"/>
                </a:solidFill>
                <a:latin typeface="Calibri" pitchFamily="34" charset="0"/>
                <a:ea typeface="Calibri" pitchFamily="34" charset="-122"/>
                <a:cs typeface="Calibri" pitchFamily="34" charset="-120"/>
              </a:rPr>
              <a:t>Phase II is where outcomes are actually won or lost. Adherence, not technique, is the usual determinant of long-term result.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21</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1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Skin &amp; Nail Care</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A lymphedematous limb is immunocompromised tissue. The skin is the last barrier, and every infection causes further lymphatic damage.</a:t>
            </a:r>
            <a:endParaRPr lang="en-US" sz="1500" dirty="0"/>
          </a:p>
        </p:txBody>
      </p:sp>
      <p:pic>
        <p:nvPicPr>
          <p:cNvPr id="6" name="Image 0" descr="/home/claude/build/assets/photos/tbtw_skin_changes.jpg">    </p:cNvPr>
          <p:cNvPicPr>
            <a:picLocks noChangeAspect="1"/>
          </p:cNvPicPr>
          <p:nvPr/>
        </p:nvPicPr>
        <p:blipFill>
          <a:blip r:embed="rId1"/>
          <a:srcRect l="0" r="0" t="0" b="0"/>
          <a:stretch/>
        </p:blipFill>
        <p:spPr>
          <a:xfrm>
            <a:off x="6732727" y="2322576"/>
            <a:ext cx="4892040" cy="3291840"/>
          </a:xfrm>
          <a:prstGeom prst="rect">
            <a:avLst/>
          </a:prstGeom>
        </p:spPr>
      </p:pic>
      <p:sp>
        <p:nvSpPr>
          <p:cNvPr id="7" name="Shape 4"/>
          <p:cNvSpPr/>
          <p:nvPr/>
        </p:nvSpPr>
        <p:spPr>
          <a:xfrm>
            <a:off x="566928" y="2231136"/>
            <a:ext cx="5754319" cy="1550416"/>
          </a:xfrm>
          <a:prstGeom prst="roundRect">
            <a:avLst>
              <a:gd name="adj" fmla="val 5308"/>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Daily routine</a:t>
            </a:r>
            <a:endParaRPr lang="en-US" sz="950" dirty="0"/>
          </a:p>
        </p:txBody>
      </p:sp>
      <p:sp>
        <p:nvSpPr>
          <p:cNvPr id="9" name="Text 6"/>
          <p:cNvSpPr/>
          <p:nvPr/>
        </p:nvSpPr>
        <p:spPr>
          <a:xfrm>
            <a:off x="822960" y="2706624"/>
            <a:ext cx="5242255" cy="910336"/>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Wash with low-pH, fragrance-free cleanser — lymphedematous skin is alkaline-shifted</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Dry thoroughly, especially between the toes and in skin folds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Apply low-pH emollient to keep the barrier intact</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Inspect the entire limb daily, including between digits and the posterior surface</a:t>
            </a:r>
            <a:endParaRPr lang="en-US" sz="800" dirty="0"/>
          </a:p>
        </p:txBody>
      </p:sp>
      <p:sp>
        <p:nvSpPr>
          <p:cNvPr id="10" name="Shape 7"/>
          <p:cNvSpPr/>
          <p:nvPr/>
        </p:nvSpPr>
        <p:spPr>
          <a:xfrm>
            <a:off x="566928" y="3946144"/>
            <a:ext cx="5754319" cy="1741424"/>
          </a:xfrm>
          <a:prstGeom prst="roundRect">
            <a:avLst>
              <a:gd name="adj" fmla="val 4726"/>
            </a:avLst>
          </a:prstGeom>
          <a:solidFill>
            <a:srgbClr val="FFFFFF"/>
          </a:solidFill>
          <a:ln w="12700">
            <a:solidFill>
              <a:srgbClr val="DCE6E8"/>
            </a:solidFill>
            <a:prstDash val="solid"/>
          </a:ln>
        </p:spPr>
      </p:sp>
      <p:sp>
        <p:nvSpPr>
          <p:cNvPr id="11" name="Text 8"/>
          <p:cNvSpPr/>
          <p:nvPr/>
        </p:nvSpPr>
        <p:spPr>
          <a:xfrm>
            <a:off x="822960" y="4074160"/>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Prevention</a:t>
            </a:r>
            <a:endParaRPr lang="en-US" sz="950" dirty="0"/>
          </a:p>
        </p:txBody>
      </p:sp>
      <p:sp>
        <p:nvSpPr>
          <p:cNvPr id="12" name="Text 9"/>
          <p:cNvSpPr/>
          <p:nvPr/>
        </p:nvSpPr>
        <p:spPr>
          <a:xfrm>
            <a:off x="822960" y="4421632"/>
            <a:ext cx="5242255" cy="1101344"/>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Treat tinea pedis and onychomycosis aggressively — a common cellulitis entry point</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Nails cut straight across; avoid cutting cuticles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Avoid blood draws, IVs, and BP cuffs on the at-risk limb where an alternative exists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Protect during gardening, cooking, pet handling; gloves and insect repellent</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Prompt antiseptic care for any break in the skin</a:t>
            </a:r>
            <a:endParaRPr lang="en-US" sz="800" dirty="0"/>
          </a:p>
        </p:txBody>
      </p:sp>
      <p:sp>
        <p:nvSpPr>
          <p:cNvPr id="13" name="Shape 10"/>
          <p:cNvSpPr/>
          <p:nvPr/>
        </p:nvSpPr>
        <p:spPr>
          <a:xfrm>
            <a:off x="566928" y="5852160"/>
            <a:ext cx="5754319" cy="1550416"/>
          </a:xfrm>
          <a:prstGeom prst="roundRect">
            <a:avLst>
              <a:gd name="adj" fmla="val 5308"/>
            </a:avLst>
          </a:prstGeom>
          <a:solidFill>
            <a:srgbClr val="FFFFFF"/>
          </a:solidFill>
          <a:ln w="12700">
            <a:solidFill>
              <a:srgbClr val="DCE6E8"/>
            </a:solidFill>
            <a:prstDash val="solid"/>
          </a:ln>
        </p:spPr>
      </p:sp>
      <p:sp>
        <p:nvSpPr>
          <p:cNvPr id="14" name="Text 11"/>
          <p:cNvSpPr/>
          <p:nvPr/>
        </p:nvSpPr>
        <p:spPr>
          <a:xfrm>
            <a:off x="822960" y="5980176"/>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Teach the patient to recognize cellulitis</a:t>
            </a:r>
            <a:endParaRPr lang="en-US" sz="950" dirty="0"/>
          </a:p>
        </p:txBody>
      </p:sp>
      <p:sp>
        <p:nvSpPr>
          <p:cNvPr id="15" name="Text 12"/>
          <p:cNvSpPr/>
          <p:nvPr/>
        </p:nvSpPr>
        <p:spPr>
          <a:xfrm>
            <a:off x="822960" y="6327648"/>
            <a:ext cx="5242255" cy="910336"/>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Spreading redness, heat, tenderness, sudden limb enlargement</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Fever, chills, malaise, flu-like onset</a:t>
            </a:r>
            <a:endParaRPr lang="en-US" sz="800" dirty="0"/>
          </a:p>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Seek care same-day. Stop MLD and compression until treated.</a:t>
            </a:r>
            <a:pPr indent="0" marL="0">
              <a:spcAft>
                <a:spcPts val="600"/>
              </a:spcAft>
              <a:buNone/>
            </a:pP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Recurrent cellulitis may warrant prophylactic antibiotics — physician decision</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1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Skin Breakdown — What to Watch For</a:t>
            </a:r>
            <a:endParaRPr lang="en-US" sz="3400" dirty="0"/>
          </a:p>
        </p:txBody>
      </p:sp>
      <p:pic>
        <p:nvPicPr>
          <p:cNvPr id="5" name="Image 0" descr="/home/claude/build/assets/photos/tbtw_skin_changes.jpg">    </p:cNvPr>
          <p:cNvPicPr>
            <a:picLocks noChangeAspect="1"/>
          </p:cNvPicPr>
          <p:nvPr/>
        </p:nvPicPr>
        <p:blipFill>
          <a:blip r:embed="rId1"/>
          <a:srcRect l="0" r="0" t="0" b="0"/>
          <a:stretch/>
        </p:blipFill>
        <p:spPr>
          <a:xfrm>
            <a:off x="566928" y="1600200"/>
            <a:ext cx="5446624" cy="4233672"/>
          </a:xfrm>
          <a:prstGeom prst="rect">
            <a:avLst/>
          </a:prstGeom>
        </p:spPr>
      </p:pic>
      <p:sp>
        <p:nvSpPr>
          <p:cNvPr id="6" name="Text 3"/>
          <p:cNvSpPr/>
          <p:nvPr/>
        </p:nvSpPr>
        <p:spPr>
          <a:xfrm>
            <a:off x="566928" y="5870448"/>
            <a:ext cx="5446624"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Crusting and weeping at the ankle</a:t>
            </a:r>
            <a:endParaRPr lang="en-US" sz="900" dirty="0"/>
          </a:p>
        </p:txBody>
      </p:sp>
      <p:pic>
        <p:nvPicPr>
          <p:cNvPr id="7" name="Image 1" descr="/home/claude/build/assets/photos/tbtw_lymphorrhea.jpg">    </p:cNvPr>
          <p:cNvPicPr>
            <a:picLocks noChangeAspect="1"/>
          </p:cNvPicPr>
          <p:nvPr/>
        </p:nvPicPr>
        <p:blipFill>
          <a:blip r:embed="rId2"/>
          <a:srcRect l="0" r="0" t="0" b="0"/>
          <a:stretch/>
        </p:blipFill>
        <p:spPr>
          <a:xfrm>
            <a:off x="6178144" y="1600200"/>
            <a:ext cx="5446624" cy="4233672"/>
          </a:xfrm>
          <a:prstGeom prst="rect">
            <a:avLst/>
          </a:prstGeom>
        </p:spPr>
      </p:pic>
      <p:sp>
        <p:nvSpPr>
          <p:cNvPr id="8" name="Text 4"/>
          <p:cNvSpPr/>
          <p:nvPr/>
        </p:nvSpPr>
        <p:spPr>
          <a:xfrm>
            <a:off x="6178144" y="5870448"/>
            <a:ext cx="5446624"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Lymphorrhea and crusting, lower leg</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23</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2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Manual Lymphatic Drainage — Technique</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A specific, very light manual technique that stimulates lymphangion contraction and redirects lymph across watersheds into functioning territories.</a:t>
            </a:r>
            <a:endParaRPr lang="en-US" sz="1500" dirty="0"/>
          </a:p>
        </p:txBody>
      </p:sp>
      <p:sp>
        <p:nvSpPr>
          <p:cNvPr id="6" name="Shape 4"/>
          <p:cNvSpPr/>
          <p:nvPr/>
        </p:nvSpPr>
        <p:spPr>
          <a:xfrm>
            <a:off x="566928" y="2231136"/>
            <a:ext cx="5428336" cy="4059936"/>
          </a:xfrm>
          <a:prstGeom prst="roundRect">
            <a:avLst>
              <a:gd name="adj" fmla="val 2027"/>
            </a:avLst>
          </a:prstGeom>
          <a:solidFill>
            <a:srgbClr val="FFFFFF"/>
          </a:solidFill>
          <a:ln w="12700">
            <a:solidFill>
              <a:srgbClr val="DCE6E8"/>
            </a:solidFill>
            <a:prstDash val="solid"/>
          </a:ln>
        </p:spPr>
      </p:sp>
      <p:sp>
        <p:nvSpPr>
          <p:cNvPr id="7" name="Text 5"/>
          <p:cNvSpPr/>
          <p:nvPr/>
        </p:nvSpPr>
        <p:spPr>
          <a:xfrm>
            <a:off x="786384" y="2359152"/>
            <a:ext cx="4989424"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Technique principles</a:t>
            </a:r>
            <a:endParaRPr lang="en-US" sz="1500" dirty="0"/>
          </a:p>
        </p:txBody>
      </p:sp>
      <p:sp>
        <p:nvSpPr>
          <p:cNvPr id="8" name="Text 6"/>
          <p:cNvSpPr/>
          <p:nvPr/>
        </p:nvSpPr>
        <p:spPr>
          <a:xfrm>
            <a:off x="786384" y="2724912"/>
            <a:ext cx="4989424" cy="3401568"/>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Very light pressure</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stretches skin only. Heavy pressure collapses initial lymphatics and is counterproductive.</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Slow, rhythmic — roughly one stroke per second, matching lymphangion contraction rate</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Clear proximal before distal.</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Empty the receiving area first or there is nowhere for fluid to go.</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Begin with the neck/terminus, then trunk quadrants, then the affected limb</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Work root-to-tip to clear, then tip-to-root to drain</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Skin must move with the hand — no gliding, no lubricant</a:t>
            </a:r>
            <a:endParaRPr lang="en-US" sz="1350" dirty="0"/>
          </a:p>
        </p:txBody>
      </p:sp>
      <p:sp>
        <p:nvSpPr>
          <p:cNvPr id="9" name="Shape 7"/>
          <p:cNvSpPr/>
          <p:nvPr/>
        </p:nvSpPr>
        <p:spPr>
          <a:xfrm>
            <a:off x="6196432" y="2231136"/>
            <a:ext cx="5428336" cy="4059936"/>
          </a:xfrm>
          <a:prstGeom prst="roundRect">
            <a:avLst>
              <a:gd name="adj" fmla="val 2027"/>
            </a:avLst>
          </a:prstGeom>
          <a:solidFill>
            <a:srgbClr val="FFFFFF"/>
          </a:solidFill>
          <a:ln w="12700">
            <a:solidFill>
              <a:srgbClr val="DCE6E8"/>
            </a:solidFill>
            <a:prstDash val="solid"/>
          </a:ln>
        </p:spPr>
      </p:sp>
      <p:sp>
        <p:nvSpPr>
          <p:cNvPr id="10" name="Text 8"/>
          <p:cNvSpPr/>
          <p:nvPr/>
        </p:nvSpPr>
        <p:spPr>
          <a:xfrm>
            <a:off x="6415888" y="2359152"/>
            <a:ext cx="4989424"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Sequence for an affected limb</a:t>
            </a:r>
            <a:endParaRPr lang="en-US" sz="1500" dirty="0"/>
          </a:p>
        </p:txBody>
      </p:sp>
      <p:sp>
        <p:nvSpPr>
          <p:cNvPr id="11" name="Text 9"/>
          <p:cNvSpPr/>
          <p:nvPr/>
        </p:nvSpPr>
        <p:spPr>
          <a:xfrm>
            <a:off x="6415888" y="2724912"/>
            <a:ext cx="4989424" cy="3401568"/>
          </a:xfrm>
          <a:prstGeom prst="rect">
            <a:avLst/>
          </a:prstGeom>
          <a:noFill/>
          <a:ln/>
        </p:spPr>
        <p:txBody>
          <a:bodyPr wrap="square" lIns="0" tIns="0" rIns="0" bIns="0" rtlCol="0" anchor="t"/>
          <a:lstStyle/>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Diaphragmatic breathing — drives thoracic duct flow</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Terminus (supraclavicular) clearing</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Contralateral, then ipsilateral trunk quadrants</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Anastomoses — axillo-axillary, axillo-inguinal, inguino-inguinal</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Proximal limb, then progressively distal</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Finish with a distal-to-proximal drainage sequence</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24</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2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MLD — Sequence &amp; Contraindications</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A specific, very light manual technique that stimulates lymphangion contraction and redirects lymph across watersheds into functioning territories.</a:t>
            </a:r>
            <a:endParaRPr lang="en-US" sz="1500" dirty="0"/>
          </a:p>
        </p:txBody>
      </p:sp>
      <p:pic>
        <p:nvPicPr>
          <p:cNvPr id="6" name="Image 0" descr="/home/claude/build/assets/mld_flow.png">    </p:cNvPr>
          <p:cNvPicPr>
            <a:picLocks noChangeAspect="1"/>
          </p:cNvPicPr>
          <p:nvPr/>
        </p:nvPicPr>
        <p:blipFill>
          <a:blip r:embed="rId1"/>
          <a:srcRect l="0" r="0" t="0" b="0"/>
          <a:stretch/>
        </p:blipFill>
        <p:spPr>
          <a:xfrm>
            <a:off x="566928" y="2231136"/>
            <a:ext cx="11057839" cy="3712464"/>
          </a:xfrm>
          <a:prstGeom prst="rect">
            <a:avLst/>
          </a:prstGeom>
        </p:spPr>
      </p:pic>
      <p:sp>
        <p:nvSpPr>
          <p:cNvPr id="7" name="Text 4"/>
          <p:cNvSpPr/>
          <p:nvPr/>
        </p:nvSpPr>
        <p:spPr>
          <a:xfrm>
            <a:off x="566928" y="6016752"/>
            <a:ext cx="11057839" cy="502920"/>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MLD alone produces modest results. Its value is greatest when combined with compression — the evidence supports CDT as a package, not MLD in isolation.</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25</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3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Compression Therapy</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The single most important component for maintaining reduction. Without compression, gains from MLD reverse within hours.</a:t>
            </a:r>
            <a:endParaRPr lang="en-US" sz="1500" dirty="0"/>
          </a:p>
        </p:txBody>
      </p:sp>
      <p:pic>
        <p:nvPicPr>
          <p:cNvPr id="6" name="Image 0" descr="/home/claude/build/assets/photos/tbtw_bandaged_leg.jpg">    </p:cNvPr>
          <p:cNvPicPr>
            <a:picLocks noChangeAspect="1"/>
          </p:cNvPicPr>
          <p:nvPr/>
        </p:nvPicPr>
        <p:blipFill>
          <a:blip r:embed="rId1"/>
          <a:srcRect l="0" r="0" t="0" b="0"/>
          <a:stretch/>
        </p:blipFill>
        <p:spPr>
          <a:xfrm>
            <a:off x="6732727" y="2322576"/>
            <a:ext cx="4892040" cy="3291840"/>
          </a:xfrm>
          <a:prstGeom prst="rect">
            <a:avLst/>
          </a:prstGeom>
        </p:spPr>
      </p:pic>
      <p:sp>
        <p:nvSpPr>
          <p:cNvPr id="7" name="Shape 4"/>
          <p:cNvSpPr/>
          <p:nvPr/>
        </p:nvSpPr>
        <p:spPr>
          <a:xfrm>
            <a:off x="566928" y="2231136"/>
            <a:ext cx="5754319" cy="1932432"/>
          </a:xfrm>
          <a:prstGeom prst="roundRect">
            <a:avLst>
              <a:gd name="adj" fmla="val 4259"/>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Phase I — short-stretch bandaging</a:t>
            </a:r>
            <a:endParaRPr lang="en-US" sz="950" dirty="0"/>
          </a:p>
        </p:txBody>
      </p:sp>
      <p:sp>
        <p:nvSpPr>
          <p:cNvPr id="9" name="Text 6"/>
          <p:cNvSpPr/>
          <p:nvPr/>
        </p:nvSpPr>
        <p:spPr>
          <a:xfrm>
            <a:off x="822960" y="2706624"/>
            <a:ext cx="5242255" cy="1292352"/>
          </a:xfrm>
          <a:prstGeom prst="rect">
            <a:avLst/>
          </a:prstGeom>
          <a:noFill/>
          <a:ln/>
        </p:spPr>
        <p:txBody>
          <a:bodyPr wrap="square" lIns="0" tIns="0" rIns="0" bIns="0" rtlCol="0" anchor="t"/>
          <a:lstStyle/>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Short-stretch</a:t>
            </a:r>
            <a:pPr indent="0" marL="0">
              <a:spcAft>
                <a:spcPts val="600"/>
              </a:spcAft>
              <a:buNone/>
            </a:pPr>
            <a:r>
              <a:rPr lang="en-US" sz="800" dirty="0">
                <a:solidFill>
                  <a:srgbClr val="1B2A30"/>
                </a:solidFill>
                <a:latin typeface="Calibri" pitchFamily="34" charset="0"/>
                <a:ea typeface="Calibri" pitchFamily="34" charset="-122"/>
                <a:cs typeface="Calibri" pitchFamily="34" charset="-120"/>
              </a:rPr>
              <a:t> bandages: low resting pressure, high working pressure</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Never use long-stretch/ACE — high resting pressure risks a tourniquet effect</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Layered: stockinette, digit wrap, padding, then short-stretch</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Foam or chip padding over fibrotic areas to soften tissue</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Gradient must be higher distally than proximally</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Worn 23 hours/day, reapplied at each visit</a:t>
            </a:r>
            <a:endParaRPr lang="en-US" sz="800" dirty="0"/>
          </a:p>
        </p:txBody>
      </p:sp>
      <p:sp>
        <p:nvSpPr>
          <p:cNvPr id="10" name="Shape 7"/>
          <p:cNvSpPr/>
          <p:nvPr/>
        </p:nvSpPr>
        <p:spPr>
          <a:xfrm>
            <a:off x="566928" y="4328160"/>
            <a:ext cx="5754319" cy="1932432"/>
          </a:xfrm>
          <a:prstGeom prst="roundRect">
            <a:avLst>
              <a:gd name="adj" fmla="val 4259"/>
            </a:avLst>
          </a:prstGeom>
          <a:solidFill>
            <a:srgbClr val="FFFFFF"/>
          </a:solidFill>
          <a:ln w="12700">
            <a:solidFill>
              <a:srgbClr val="DCE6E8"/>
            </a:solidFill>
            <a:prstDash val="solid"/>
          </a:ln>
        </p:spPr>
      </p:sp>
      <p:sp>
        <p:nvSpPr>
          <p:cNvPr id="11" name="Text 8"/>
          <p:cNvSpPr/>
          <p:nvPr/>
        </p:nvSpPr>
        <p:spPr>
          <a:xfrm>
            <a:off x="822960" y="4456176"/>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Phase II — garments</a:t>
            </a:r>
            <a:endParaRPr lang="en-US" sz="950" dirty="0"/>
          </a:p>
        </p:txBody>
      </p:sp>
      <p:sp>
        <p:nvSpPr>
          <p:cNvPr id="12" name="Text 9"/>
          <p:cNvSpPr/>
          <p:nvPr/>
        </p:nvSpPr>
        <p:spPr>
          <a:xfrm>
            <a:off x="822960" y="4803648"/>
            <a:ext cx="5242255" cy="1292352"/>
          </a:xfrm>
          <a:prstGeom prst="rect">
            <a:avLst/>
          </a:prstGeom>
          <a:noFill/>
          <a:ln/>
        </p:spPr>
        <p:txBody>
          <a:bodyPr wrap="square" lIns="0" tIns="0" rIns="0" bIns="0" rtlCol="0" anchor="t"/>
          <a:lstStyle/>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Class 1: 20–30 mmHg</a:t>
            </a:r>
            <a:pPr indent="0" marL="0">
              <a:spcAft>
                <a:spcPts val="600"/>
              </a:spcAft>
              <a:buNone/>
            </a:pPr>
            <a:r>
              <a:rPr lang="en-US" sz="800" dirty="0">
                <a:solidFill>
                  <a:srgbClr val="1B2A30"/>
                </a:solidFill>
                <a:latin typeface="Calibri" pitchFamily="34" charset="0"/>
                <a:ea typeface="Calibri" pitchFamily="34" charset="-122"/>
                <a:cs typeface="Calibri" pitchFamily="34" charset="-120"/>
              </a:rPr>
              <a:t> — mild/early, upper limb, prophylaxis</a:t>
            </a:r>
            <a:endParaRPr lang="en-US" sz="800" dirty="0"/>
          </a:p>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Class 2: 30–40 mmHg</a:t>
            </a:r>
            <a:pPr indent="0" marL="0">
              <a:spcAft>
                <a:spcPts val="600"/>
              </a:spcAft>
              <a:buNone/>
            </a:pPr>
            <a:r>
              <a:rPr lang="en-US" sz="800" dirty="0">
                <a:solidFill>
                  <a:srgbClr val="1B2A30"/>
                </a:solidFill>
                <a:latin typeface="Calibri" pitchFamily="34" charset="0"/>
                <a:ea typeface="Calibri" pitchFamily="34" charset="-122"/>
                <a:cs typeface="Calibri" pitchFamily="34" charset="-120"/>
              </a:rPr>
              <a:t> — most lower limb lymphedema</a:t>
            </a:r>
            <a:endParaRPr lang="en-US" sz="800" dirty="0"/>
          </a:p>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Class 3: 40–50 mmHg</a:t>
            </a:r>
            <a:pPr indent="0" marL="0">
              <a:spcAft>
                <a:spcPts val="600"/>
              </a:spcAft>
              <a:buNone/>
            </a:pPr>
            <a:r>
              <a:rPr lang="en-US" sz="800" dirty="0">
                <a:solidFill>
                  <a:srgbClr val="1B2A30"/>
                </a:solidFill>
                <a:latin typeface="Calibri" pitchFamily="34" charset="0"/>
                <a:ea typeface="Calibri" pitchFamily="34" charset="-122"/>
                <a:cs typeface="Calibri" pitchFamily="34" charset="-120"/>
              </a:rPr>
              <a:t> — severe lower limb</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Flat-knit generally preferred over circular-knit for lymphedema — better containment, no tourniquet at folds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Custom fit for irregular limb shape</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Replace every 4–6 months; two garments so one is always clean</a:t>
            </a:r>
            <a:endParaRPr lang="en-US" sz="800" dirty="0"/>
          </a:p>
        </p:txBody>
      </p:sp>
      <p:sp>
        <p:nvSpPr>
          <p:cNvPr id="13" name="Shape 10"/>
          <p:cNvSpPr/>
          <p:nvPr/>
        </p:nvSpPr>
        <p:spPr>
          <a:xfrm>
            <a:off x="566928" y="6425184"/>
            <a:ext cx="5754319" cy="1550416"/>
          </a:xfrm>
          <a:prstGeom prst="roundRect">
            <a:avLst>
              <a:gd name="adj" fmla="val 5308"/>
            </a:avLst>
          </a:prstGeom>
          <a:solidFill>
            <a:srgbClr val="FFFFFF"/>
          </a:solidFill>
          <a:ln w="12700">
            <a:solidFill>
              <a:srgbClr val="DCE6E8"/>
            </a:solidFill>
            <a:prstDash val="solid"/>
          </a:ln>
        </p:spPr>
      </p:sp>
      <p:sp>
        <p:nvSpPr>
          <p:cNvPr id="14" name="Text 11"/>
          <p:cNvSpPr/>
          <p:nvPr/>
        </p:nvSpPr>
        <p:spPr>
          <a:xfrm>
            <a:off x="822960" y="6553200"/>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Precautions</a:t>
            </a:r>
            <a:endParaRPr lang="en-US" sz="950" dirty="0"/>
          </a:p>
        </p:txBody>
      </p:sp>
      <p:sp>
        <p:nvSpPr>
          <p:cNvPr id="15" name="Text 12"/>
          <p:cNvSpPr/>
          <p:nvPr/>
        </p:nvSpPr>
        <p:spPr>
          <a:xfrm>
            <a:off x="822960" y="6900672"/>
            <a:ext cx="5242255" cy="910336"/>
          </a:xfrm>
          <a:prstGeom prst="rect">
            <a:avLst/>
          </a:prstGeom>
          <a:noFill/>
          <a:ln/>
        </p:spPr>
        <p:txBody>
          <a:bodyPr wrap="square" lIns="0" tIns="0" rIns="0" bIns="0" rtlCol="0" anchor="t"/>
          <a:lstStyle/>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Check arterial status.</a:t>
            </a:r>
            <a:pPr indent="0" marL="0">
              <a:spcAft>
                <a:spcPts val="600"/>
              </a:spcAft>
              <a:buNone/>
            </a:pPr>
            <a:r>
              <a:rPr lang="en-US" sz="800" dirty="0">
                <a:solidFill>
                  <a:srgbClr val="1B2A30"/>
                </a:solidFill>
                <a:latin typeface="Calibri" pitchFamily="34" charset="0"/>
                <a:ea typeface="Calibri" pitchFamily="34" charset="-122"/>
                <a:cs typeface="Calibri" pitchFamily="34" charset="-120"/>
              </a:rPr>
              <a:t> ABI &lt; 0.8 requires caution; &lt; 0.5 is a contraindication to standard compression.</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Decompensated heart failure — sudden fluid return can precipitate overload</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Acute DVT, acute infection, severe peripheral neuropathy</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Recheck skin integrity at every application</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26</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CDT 4 OF 4</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Remedial Exercise</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The skeletal muscle pump is a primary driver of lymph transport. Exercise performed under compression is decongestive therapy.</a:t>
            </a:r>
            <a:endParaRPr lang="en-US" sz="1500" dirty="0"/>
          </a:p>
        </p:txBody>
      </p:sp>
      <p:sp>
        <p:nvSpPr>
          <p:cNvPr id="6" name="Shape 4"/>
          <p:cNvSpPr/>
          <p:nvPr/>
        </p:nvSpPr>
        <p:spPr>
          <a:xfrm>
            <a:off x="566928" y="2231136"/>
            <a:ext cx="3551834" cy="4059936"/>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359152"/>
            <a:ext cx="3112922"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Principles</a:t>
            </a:r>
            <a:endParaRPr lang="en-US" sz="1500" dirty="0"/>
          </a:p>
        </p:txBody>
      </p:sp>
      <p:sp>
        <p:nvSpPr>
          <p:cNvPr id="8" name="Text 6"/>
          <p:cNvSpPr/>
          <p:nvPr/>
        </p:nvSpPr>
        <p:spPr>
          <a:xfrm>
            <a:off x="786384" y="2724912"/>
            <a:ext cx="3112922" cy="3401568"/>
          </a:xfrm>
          <a:prstGeom prst="rect">
            <a:avLst/>
          </a:prstGeom>
          <a:noFill/>
          <a:ln/>
        </p:spPr>
        <p:txBody>
          <a:bodyPr wrap="square" lIns="0" tIns="0" rIns="0" bIns="0" rtlCol="0" anchor="t"/>
          <a:lstStyle/>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Always perform with compression in place</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bandages or garment</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Begin with diaphragmatic breathing to open the thoracic duct</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Proximal to distal</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clear the trunk and proximal limb first</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Slow, rhythmic, controlled; no breath-holding or Valsalva</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Low resistance, higher repetition</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End with elevation and further breathing</a:t>
            </a:r>
            <a:endParaRPr lang="en-US" sz="1350" dirty="0"/>
          </a:p>
        </p:txBody>
      </p:sp>
      <p:sp>
        <p:nvSpPr>
          <p:cNvPr id="9" name="Shape 7"/>
          <p:cNvSpPr/>
          <p:nvPr/>
        </p:nvSpPr>
        <p:spPr>
          <a:xfrm>
            <a:off x="4319930" y="2231136"/>
            <a:ext cx="3551834" cy="4059936"/>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359152"/>
            <a:ext cx="3112922"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Programme components</a:t>
            </a:r>
            <a:endParaRPr lang="en-US" sz="1500" dirty="0"/>
          </a:p>
        </p:txBody>
      </p:sp>
      <p:sp>
        <p:nvSpPr>
          <p:cNvPr id="11" name="Text 9"/>
          <p:cNvSpPr/>
          <p:nvPr/>
        </p:nvSpPr>
        <p:spPr>
          <a:xfrm>
            <a:off x="4539386" y="2724912"/>
            <a:ext cx="3112922" cy="3401568"/>
          </a:xfrm>
          <a:prstGeom prst="rect">
            <a:avLst/>
          </a:prstGeom>
          <a:noFill/>
          <a:ln/>
        </p:spPr>
        <p:txBody>
          <a:bodyPr wrap="square" lIns="0" tIns="0" rIns="0" bIns="0" rtlCol="0" anchor="t"/>
          <a:lstStyle/>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Diaphragmatic breathing — 5–10 repetitions to start and finish</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Cervical and shoulder girdle mobility (upper limb cases)</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Trunk and core activation</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Active ROM progressing proximal to distal through the limb</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Ankle pumps and calf work for lower limb cases</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Aerobic conditioning — walking, cycling, aquatic therapy</a:t>
            </a:r>
            <a:endParaRPr lang="en-US" sz="1350" dirty="0"/>
          </a:p>
        </p:txBody>
      </p:sp>
      <p:sp>
        <p:nvSpPr>
          <p:cNvPr id="12" name="Shape 10"/>
          <p:cNvSpPr/>
          <p:nvPr/>
        </p:nvSpPr>
        <p:spPr>
          <a:xfrm>
            <a:off x="8072933" y="2231136"/>
            <a:ext cx="3551834" cy="4059936"/>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359152"/>
            <a:ext cx="3112922"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The resistance training question — settled</a:t>
            </a:r>
            <a:endParaRPr lang="en-US" sz="1500" dirty="0"/>
          </a:p>
        </p:txBody>
      </p:sp>
      <p:sp>
        <p:nvSpPr>
          <p:cNvPr id="14" name="Text 12"/>
          <p:cNvSpPr/>
          <p:nvPr/>
        </p:nvSpPr>
        <p:spPr>
          <a:xfrm>
            <a:off x="8292389" y="2724912"/>
            <a:ext cx="3112922" cy="3401568"/>
          </a:xfrm>
          <a:prstGeom prst="rect">
            <a:avLst/>
          </a:prstGeom>
          <a:noFill/>
          <a:ln/>
        </p:spPr>
        <p:txBody>
          <a:bodyPr wrap="square" lIns="0" tIns="0" rIns="0" bIns="0" rtlCol="0" anchor="t"/>
          <a:lstStyle/>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Slowly progressive resistance training does not cause or worsen lymphedema</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The PAL trial demonstrated safety in breast cancer survivors</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It may reduce flare incidence and improve limb symptoms</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Progress gradually, wear compression, monitor and stop for symptom change</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Do not tell patients to avoid using the limb.</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That advice is outdated and causes deconditioning.</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27</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LONG-TERM</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Long-Term Compression Garments</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Phase II is where the result is held. The garment has to fit the limb, the diagnosis, and the patient's hands — a garment that cannot be donned will not be worn.</a:t>
            </a:r>
            <a:endParaRPr lang="en-US" sz="1500" dirty="0"/>
          </a:p>
        </p:txBody>
      </p:sp>
      <p:sp>
        <p:nvSpPr>
          <p:cNvPr id="6" name="Shape 4"/>
          <p:cNvSpPr/>
          <p:nvPr/>
        </p:nvSpPr>
        <p:spPr>
          <a:xfrm>
            <a:off x="566928" y="2231136"/>
            <a:ext cx="3551834" cy="3968496"/>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359152"/>
            <a:ext cx="3112922" cy="310896"/>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Lower limb options</a:t>
            </a:r>
            <a:endParaRPr lang="en-US" sz="1400" dirty="0"/>
          </a:p>
        </p:txBody>
      </p:sp>
      <p:sp>
        <p:nvSpPr>
          <p:cNvPr id="8" name="Text 6"/>
          <p:cNvSpPr/>
          <p:nvPr/>
        </p:nvSpPr>
        <p:spPr>
          <a:xfrm>
            <a:off x="786384"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250" b="1" dirty="0">
                <a:solidFill>
                  <a:srgbClr val="1B2A30"/>
                </a:solidFill>
                <a:latin typeface="Calibri" pitchFamily="34" charset="0"/>
                <a:ea typeface="Calibri" pitchFamily="34" charset="-122"/>
                <a:cs typeface="Calibri" pitchFamily="34" charset="-120"/>
              </a:rPr>
              <a:t>Knee-high stockings</a:t>
            </a:r>
            <a:pPr indent="0" marL="0">
              <a:spcAft>
                <a:spcPts val="600"/>
              </a:spcAft>
              <a:buNone/>
            </a:pPr>
            <a:r>
              <a:rPr lang="en-US" sz="1250" dirty="0">
                <a:solidFill>
                  <a:srgbClr val="1B2A30"/>
                </a:solidFill>
                <a:latin typeface="Calibri" pitchFamily="34" charset="0"/>
                <a:ea typeface="Calibri" pitchFamily="34" charset="-122"/>
                <a:cs typeface="Calibri" pitchFamily="34" charset="-120"/>
              </a:rPr>
              <a:t> — most common for calf/ankle-predominant edema. Easiest to don, best adherence.</a:t>
            </a:r>
            <a:endParaRPr lang="en-US" sz="1250" dirty="0"/>
          </a:p>
          <a:p>
            <a:pPr marL="190500" indent="-190500">
              <a:spcAft>
                <a:spcPts val="600"/>
              </a:spcAft>
              <a:buSzPct val="100000"/>
              <a:buChar char="•"/>
            </a:pPr>
            <a:r>
              <a:rPr lang="en-US" sz="1250" b="1" dirty="0">
                <a:solidFill>
                  <a:srgbClr val="1B2A30"/>
                </a:solidFill>
                <a:latin typeface="Calibri" pitchFamily="34" charset="0"/>
                <a:ea typeface="Calibri" pitchFamily="34" charset="-122"/>
                <a:cs typeface="Calibri" pitchFamily="34" charset="-120"/>
              </a:rPr>
              <a:t>Thigh-high stockings</a:t>
            </a:r>
            <a:pPr indent="0" marL="0">
              <a:spcAft>
                <a:spcPts val="600"/>
              </a:spcAft>
              <a:buNone/>
            </a:pPr>
            <a:r>
              <a:rPr lang="en-US" sz="1250" dirty="0">
                <a:solidFill>
                  <a:srgbClr val="1B2A30"/>
                </a:solidFill>
                <a:latin typeface="Calibri" pitchFamily="34" charset="0"/>
                <a:ea typeface="Calibri" pitchFamily="34" charset="-122"/>
                <a:cs typeface="Calibri" pitchFamily="34" charset="-120"/>
              </a:rPr>
              <a:t> — when swelling extends above the knee. Needs silicone band or waist attachment to stop roll-down.</a:t>
            </a:r>
            <a:endParaRPr lang="en-US" sz="1250" dirty="0"/>
          </a:p>
          <a:p>
            <a:pPr marL="190500" indent="-190500">
              <a:spcAft>
                <a:spcPts val="600"/>
              </a:spcAft>
              <a:buSzPct val="100000"/>
              <a:buChar char="•"/>
            </a:pPr>
            <a:r>
              <a:rPr lang="en-US" sz="1250" b="1" dirty="0">
                <a:solidFill>
                  <a:srgbClr val="1B2A30"/>
                </a:solidFill>
                <a:latin typeface="Calibri" pitchFamily="34" charset="0"/>
                <a:ea typeface="Calibri" pitchFamily="34" charset="-122"/>
                <a:cs typeface="Calibri" pitchFamily="34" charset="-120"/>
              </a:rPr>
              <a:t>Pantyhose / waist-high</a:t>
            </a:r>
            <a:pPr indent="0" marL="0">
              <a:spcAft>
                <a:spcPts val="600"/>
              </a:spcAft>
              <a:buNone/>
            </a:pPr>
            <a:r>
              <a:rPr lang="en-US" sz="1250" dirty="0">
                <a:solidFill>
                  <a:srgbClr val="1B2A30"/>
                </a:solidFill>
                <a:latin typeface="Calibri" pitchFamily="34" charset="0"/>
                <a:ea typeface="Calibri" pitchFamily="34" charset="-122"/>
                <a:cs typeface="Calibri" pitchFamily="34" charset="-120"/>
              </a:rPr>
              <a:t> — bilateral disease, or genital and lower-trunk involvement.</a:t>
            </a:r>
            <a:endParaRPr lang="en-US" sz="1250" dirty="0"/>
          </a:p>
          <a:p>
            <a:pPr marL="190500" indent="-190500">
              <a:spcAft>
                <a:spcPts val="600"/>
              </a:spcAft>
              <a:buSzPct val="100000"/>
              <a:buChar char="•"/>
            </a:pPr>
            <a:r>
              <a:rPr lang="en-US" sz="1250" b="1" dirty="0">
                <a:solidFill>
                  <a:srgbClr val="1B2A30"/>
                </a:solidFill>
                <a:latin typeface="Calibri" pitchFamily="34" charset="0"/>
                <a:ea typeface="Calibri" pitchFamily="34" charset="-122"/>
                <a:cs typeface="Calibri" pitchFamily="34" charset="-120"/>
              </a:rPr>
              <a:t>Capri / knee-length</a:t>
            </a:r>
            <a:pPr indent="0" marL="0">
              <a:spcAft>
                <a:spcPts val="600"/>
              </a:spcAft>
              <a:buNone/>
            </a:pPr>
            <a:r>
              <a:rPr lang="en-US" sz="1250" dirty="0">
                <a:solidFill>
                  <a:srgbClr val="1B2A30"/>
                </a:solidFill>
                <a:latin typeface="Calibri" pitchFamily="34" charset="0"/>
                <a:ea typeface="Calibri" pitchFamily="34" charset="-122"/>
                <a:cs typeface="Calibri" pitchFamily="34" charset="-120"/>
              </a:rPr>
              <a:t> — thigh and knee involvement with a spared calf, common in lipedema.</a:t>
            </a:r>
            <a:endParaRPr lang="en-US" sz="1250" dirty="0"/>
          </a:p>
        </p:txBody>
      </p:sp>
      <p:sp>
        <p:nvSpPr>
          <p:cNvPr id="9" name="Shape 7"/>
          <p:cNvSpPr/>
          <p:nvPr/>
        </p:nvSpPr>
        <p:spPr>
          <a:xfrm>
            <a:off x="4319930" y="2231136"/>
            <a:ext cx="3551834" cy="3968496"/>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359152"/>
            <a:ext cx="3112922" cy="310896"/>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Velcro adjustable wraps</a:t>
            </a:r>
            <a:endParaRPr lang="en-US" sz="1400" dirty="0"/>
          </a:p>
        </p:txBody>
      </p:sp>
      <p:sp>
        <p:nvSpPr>
          <p:cNvPr id="11" name="Text 9"/>
          <p:cNvSpPr/>
          <p:nvPr/>
        </p:nvSpPr>
        <p:spPr>
          <a:xfrm>
            <a:off x="4539386"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Inelastic wrap systems with overlapping Velcro straps</a:t>
            </a:r>
            <a:endParaRPr lang="en-US" sz="1250" dirty="0"/>
          </a:p>
          <a:p>
            <a:pPr marL="190500" indent="-190500">
              <a:spcAft>
                <a:spcPts val="600"/>
              </a:spcAft>
              <a:buSzPct val="100000"/>
              <a:buChar char="•"/>
            </a:pPr>
            <a:r>
              <a:rPr lang="en-US" sz="1250" b="1" dirty="0">
                <a:solidFill>
                  <a:srgbClr val="1B2A30"/>
                </a:solidFill>
                <a:latin typeface="Calibri" pitchFamily="34" charset="0"/>
                <a:ea typeface="Calibri" pitchFamily="34" charset="-122"/>
                <a:cs typeface="Calibri" pitchFamily="34" charset="-120"/>
              </a:rPr>
              <a:t>Patient-adjustable</a:t>
            </a:r>
            <a:pPr indent="0" marL="0">
              <a:spcAft>
                <a:spcPts val="600"/>
              </a:spcAft>
              <a:buNone/>
            </a:pPr>
            <a:r>
              <a:rPr lang="en-US" sz="1250" dirty="0">
                <a:solidFill>
                  <a:srgbClr val="1B2A30"/>
                </a:solidFill>
                <a:latin typeface="Calibri" pitchFamily="34" charset="0"/>
                <a:ea typeface="Calibri" pitchFamily="34" charset="-122"/>
                <a:cs typeface="Calibri" pitchFamily="34" charset="-120"/>
              </a:rPr>
              <a:t> — re-tension as the limb changes through the day</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Far easier to apply with arthritis, weak grip, obesity, or limited reach</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Excellent bridge between Phase I bandaging and a fitted garment</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Useful at night and for patients who cannot tolerate donning a stocking</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Juzo Compression Wrap, Jobst FarrowWrap, Circaid</a:t>
            </a:r>
            <a:endParaRPr lang="en-US" sz="1250" dirty="0"/>
          </a:p>
        </p:txBody>
      </p:sp>
      <p:sp>
        <p:nvSpPr>
          <p:cNvPr id="12" name="Shape 10"/>
          <p:cNvSpPr/>
          <p:nvPr/>
        </p:nvSpPr>
        <p:spPr>
          <a:xfrm>
            <a:off x="8072933" y="2231136"/>
            <a:ext cx="3551834" cy="3968496"/>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359152"/>
            <a:ext cx="3112922" cy="310896"/>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Flat-knit vs. circular-knit</a:t>
            </a:r>
            <a:endParaRPr lang="en-US" sz="1400" dirty="0"/>
          </a:p>
        </p:txBody>
      </p:sp>
      <p:sp>
        <p:nvSpPr>
          <p:cNvPr id="14" name="Text 12"/>
          <p:cNvSpPr/>
          <p:nvPr/>
        </p:nvSpPr>
        <p:spPr>
          <a:xfrm>
            <a:off x="8292389"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250" b="1" dirty="0">
                <a:solidFill>
                  <a:srgbClr val="1B2A30"/>
                </a:solidFill>
                <a:latin typeface="Calibri" pitchFamily="34" charset="0"/>
                <a:ea typeface="Calibri" pitchFamily="34" charset="-122"/>
                <a:cs typeface="Calibri" pitchFamily="34" charset="-120"/>
              </a:rPr>
              <a:t>Flat-knit</a:t>
            </a:r>
            <a:pPr indent="0" marL="0">
              <a:spcAft>
                <a:spcPts val="600"/>
              </a:spcAft>
              <a:buNone/>
            </a:pPr>
            <a:r>
              <a:rPr lang="en-US" sz="1250" dirty="0">
                <a:solidFill>
                  <a:srgbClr val="1B2A30"/>
                </a:solidFill>
                <a:latin typeface="Calibri" pitchFamily="34" charset="0"/>
                <a:ea typeface="Calibri" pitchFamily="34" charset="-122"/>
                <a:cs typeface="Calibri" pitchFamily="34" charset="-120"/>
              </a:rPr>
              <a:t> — seamed, made to measure, stiffer. Preferred for lymphedema: it contains irregular limb shape and does not cut in at folds.</a:t>
            </a:r>
            <a:endParaRPr lang="en-US" sz="1250" dirty="0"/>
          </a:p>
          <a:p>
            <a:pPr marL="190500" indent="-190500">
              <a:spcAft>
                <a:spcPts val="600"/>
              </a:spcAft>
              <a:buSzPct val="100000"/>
              <a:buChar char="•"/>
            </a:pPr>
            <a:r>
              <a:rPr lang="en-US" sz="1250" b="1" dirty="0">
                <a:solidFill>
                  <a:srgbClr val="1B2A30"/>
                </a:solidFill>
                <a:latin typeface="Calibri" pitchFamily="34" charset="0"/>
                <a:ea typeface="Calibri" pitchFamily="34" charset="-122"/>
                <a:cs typeface="Calibri" pitchFamily="34" charset="-120"/>
              </a:rPr>
              <a:t>Circular-knit</a:t>
            </a:r>
            <a:pPr indent="0" marL="0">
              <a:spcAft>
                <a:spcPts val="600"/>
              </a:spcAft>
              <a:buNone/>
            </a:pPr>
            <a:r>
              <a:rPr lang="en-US" sz="1250" dirty="0">
                <a:solidFill>
                  <a:srgbClr val="1B2A30"/>
                </a:solidFill>
                <a:latin typeface="Calibri" pitchFamily="34" charset="0"/>
                <a:ea typeface="Calibri" pitchFamily="34" charset="-122"/>
                <a:cs typeface="Calibri" pitchFamily="34" charset="-120"/>
              </a:rPr>
              <a:t> — seamless, thinner, more cosmetic, but tends to tourniquet at skin folds and is better suited to venous disease.</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For any limb with distortion, fibrosis, or deep folds, choose flat-knit.</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28</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TREATMENT · LONG-TERM</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Custom Garments &amp; Prescribing</a:t>
            </a:r>
            <a:endParaRPr lang="en-US" sz="3400" dirty="0"/>
          </a:p>
        </p:txBody>
      </p:sp>
      <p:sp>
        <p:nvSpPr>
          <p:cNvPr id="5" name="Shape 3"/>
          <p:cNvSpPr/>
          <p:nvPr/>
        </p:nvSpPr>
        <p:spPr>
          <a:xfrm>
            <a:off x="566928" y="1627632"/>
            <a:ext cx="5400904" cy="4178808"/>
          </a:xfrm>
          <a:prstGeom prst="roundRect">
            <a:avLst>
              <a:gd name="adj" fmla="val 1969"/>
            </a:avLst>
          </a:prstGeom>
          <a:solidFill>
            <a:srgbClr val="FFFFFF"/>
          </a:solidFill>
          <a:ln w="12700">
            <a:solidFill>
              <a:srgbClr val="DCE6E8"/>
            </a:solidFill>
            <a:prstDash val="solid"/>
          </a:ln>
        </p:spPr>
      </p:sp>
      <p:sp>
        <p:nvSpPr>
          <p:cNvPr id="6" name="Text 4"/>
          <p:cNvSpPr/>
          <p:nvPr/>
        </p:nvSpPr>
        <p:spPr>
          <a:xfrm>
            <a:off x="804672" y="1773936"/>
            <a:ext cx="4925416" cy="310896"/>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Custom garments — when off-the-shelf will not do</a:t>
            </a:r>
            <a:endParaRPr lang="en-US" sz="1450" dirty="0"/>
          </a:p>
        </p:txBody>
      </p:sp>
      <p:sp>
        <p:nvSpPr>
          <p:cNvPr id="7" name="Text 5"/>
          <p:cNvSpPr/>
          <p:nvPr/>
        </p:nvSpPr>
        <p:spPr>
          <a:xfrm>
            <a:off x="804672" y="2176272"/>
            <a:ext cx="4925416" cy="3465576"/>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Limb measurements falling outside standard sizing charts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Marked shape distortion, deep folds, or lobules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Toe caps, gauntlets, gloves, and upper-limb sleeves with shoulder attachment</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Genital, breast, head and neck, or trunk garments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Measured by a certified fitter; expect 2–3 weeks for fabrication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Jobst and Juzo both produce made-to-measure flat-knit lines</a:t>
            </a:r>
            <a:endParaRPr lang="en-US" sz="1300" dirty="0"/>
          </a:p>
        </p:txBody>
      </p:sp>
      <p:sp>
        <p:nvSpPr>
          <p:cNvPr id="8" name="Shape 6"/>
          <p:cNvSpPr/>
          <p:nvPr/>
        </p:nvSpPr>
        <p:spPr>
          <a:xfrm>
            <a:off x="6223864" y="1627632"/>
            <a:ext cx="5400904" cy="4178808"/>
          </a:xfrm>
          <a:prstGeom prst="roundRect">
            <a:avLst>
              <a:gd name="adj" fmla="val 1969"/>
            </a:avLst>
          </a:prstGeom>
          <a:solidFill>
            <a:srgbClr val="FFFFFF"/>
          </a:solidFill>
          <a:ln w="12700">
            <a:solidFill>
              <a:srgbClr val="DCE6E8"/>
            </a:solidFill>
            <a:prstDash val="solid"/>
          </a:ln>
        </p:spPr>
      </p:sp>
      <p:sp>
        <p:nvSpPr>
          <p:cNvPr id="9" name="Text 7"/>
          <p:cNvSpPr/>
          <p:nvPr/>
        </p:nvSpPr>
        <p:spPr>
          <a:xfrm>
            <a:off x="6461608" y="1773936"/>
            <a:ext cx="4925416" cy="310896"/>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Practical prescribing</a:t>
            </a:r>
            <a:endParaRPr lang="en-US" sz="1450" dirty="0"/>
          </a:p>
        </p:txBody>
      </p:sp>
      <p:sp>
        <p:nvSpPr>
          <p:cNvPr id="10" name="Text 8"/>
          <p:cNvSpPr/>
          <p:nvPr/>
        </p:nvSpPr>
        <p:spPr>
          <a:xfrm>
            <a:off x="6461608" y="2176272"/>
            <a:ext cx="4925416" cy="3465576"/>
          </a:xfrm>
          <a:prstGeom prst="rect">
            <a:avLst/>
          </a:prstGeom>
          <a:noFill/>
          <a:ln/>
        </p:spPr>
        <p:txBody>
          <a:bodyPr wrap="square" lIns="0" tIns="0" rIns="0" bIns="0" rtlCol="0" anchor="t"/>
          <a:lstStyle/>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Class 1 (20–30 mmHg)</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upper limb, mild disease, prophylaxis</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Class 2 (30–40 mmHg)</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most lower limb lymphedema</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Class 3 (40–50 mmHg)</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severe lower limb</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Prescribe two garments so one is always clean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Replace every 4–6 months — elastic fatigues before it looks worn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Check arterial status first; ABI &lt; 0.8 requires caution</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Donning aids: rubber gloves, stocking donner, silk slip-sock</a:t>
            </a:r>
            <a:endParaRPr lang="en-US" sz="1300" dirty="0"/>
          </a:p>
        </p:txBody>
      </p:sp>
      <p:sp>
        <p:nvSpPr>
          <p:cNvPr id="11" name="Text 9"/>
          <p:cNvSpPr/>
          <p:nvPr/>
        </p:nvSpPr>
        <p:spPr>
          <a:xfrm>
            <a:off x="566928" y="5934456"/>
            <a:ext cx="11057839" cy="566928"/>
          </a:xfrm>
          <a:prstGeom prst="rect">
            <a:avLst/>
          </a:prstGeom>
          <a:noFill/>
          <a:ln/>
        </p:spPr>
        <p:txBody>
          <a:bodyPr wrap="square" lIns="0" tIns="0" rIns="0" bIns="0" rtlCol="0" anchor="t"/>
          <a:lstStyle/>
          <a:p>
            <a:pPr indent="0" marL="0">
              <a:buNone/>
            </a:pPr>
            <a:r>
              <a:rPr lang="en-US" sz="1100" i="1" dirty="0">
                <a:solidFill>
                  <a:srgbClr val="36454F"/>
                </a:solidFill>
                <a:latin typeface="Calibri" pitchFamily="34" charset="0"/>
                <a:ea typeface="Calibri" pitchFamily="34" charset="-122"/>
                <a:cs typeface="Calibri" pitchFamily="34" charset="-120"/>
              </a:rPr>
              <a:t>The most common cause of Phase II failure is not the wrong pressure class — it is a garment the patient cannot physically get on. Assess grip, reach, and vision before prescribing, and reach for an adjustable wrap when donning is the limiting factor.</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29</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 A Different Disease</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A chronic disorder of adipose tissue, almost exclusively affecting women, routinely misdiagnosed as obesity or lymphedema for years before recognition.</a:t>
            </a:r>
            <a:endParaRPr lang="en-US" sz="1500" dirty="0"/>
          </a:p>
        </p:txBody>
      </p:sp>
      <p:pic>
        <p:nvPicPr>
          <p:cNvPr id="6" name="Image 0" descr="/home/claude/build/assets/lipedema_cuff.png">    </p:cNvPr>
          <p:cNvPicPr>
            <a:picLocks noChangeAspect="1"/>
          </p:cNvPicPr>
          <p:nvPr/>
        </p:nvPicPr>
        <p:blipFill>
          <a:blip r:embed="rId1"/>
          <a:srcRect l="0" r="0" t="0" b="0"/>
          <a:stretch/>
        </p:blipFill>
        <p:spPr>
          <a:xfrm>
            <a:off x="6732727" y="2322576"/>
            <a:ext cx="4892040" cy="3291840"/>
          </a:xfrm>
          <a:prstGeom prst="rect">
            <a:avLst/>
          </a:prstGeom>
        </p:spPr>
      </p:pic>
      <p:sp>
        <p:nvSpPr>
          <p:cNvPr id="7" name="Shape 4"/>
          <p:cNvSpPr/>
          <p:nvPr/>
        </p:nvSpPr>
        <p:spPr>
          <a:xfrm>
            <a:off x="566928" y="2231136"/>
            <a:ext cx="5754319" cy="3161538"/>
          </a:xfrm>
          <a:prstGeom prst="roundRect">
            <a:avLst>
              <a:gd name="adj" fmla="val 2603"/>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1450" b="1" dirty="0">
                <a:solidFill>
                  <a:srgbClr val="025462"/>
                </a:solidFill>
                <a:latin typeface="Calibri" pitchFamily="34" charset="0"/>
                <a:ea typeface="Calibri" pitchFamily="34" charset="-122"/>
                <a:cs typeface="Calibri" pitchFamily="34" charset="-120"/>
              </a:rPr>
              <a:t>Defining features</a:t>
            </a:r>
            <a:endParaRPr lang="en-US" sz="1450" dirty="0"/>
          </a:p>
        </p:txBody>
      </p:sp>
      <p:sp>
        <p:nvSpPr>
          <p:cNvPr id="9" name="Text 6"/>
          <p:cNvSpPr/>
          <p:nvPr/>
        </p:nvSpPr>
        <p:spPr>
          <a:xfrm>
            <a:off x="822960" y="2706624"/>
            <a:ext cx="5242255" cy="2521458"/>
          </a:xfrm>
          <a:prstGeom prst="rect">
            <a:avLst/>
          </a:prstGeom>
          <a:noFill/>
          <a:ln/>
        </p:spPr>
        <p:txBody>
          <a:bodyPr wrap="square" lIns="0" tIns="0" rIns="0" bIns="0" rtlCol="0" anchor="t"/>
          <a:lstStyle/>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Bilateral and symmetrical</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fat deposition — legs, hips, buttocks, sometimes arms</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Painful</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tenderness, aching, pressure sensitivity. This is diagnostic, not incidental.</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Bruises easily</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capillary fragility</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Spares the feet</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a sharp cuff or 'bracelet' at the ankle</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Disproportionate</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lower body markedly larger than trunk</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Diet-resistant</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 the affected fat does not respond to caloric restriction or exercise</a:t>
            </a:r>
            <a:endParaRPr lang="en-US" sz="1300" dirty="0"/>
          </a:p>
          <a:p>
            <a:pPr marL="190500" indent="-190500">
              <a:spcAft>
                <a:spcPts val="600"/>
              </a:spcAft>
              <a:buSzPct val="100000"/>
              <a:buChar char="•"/>
            </a:pPr>
            <a:r>
              <a:rPr lang="en-US" sz="1300" b="1" dirty="0">
                <a:solidFill>
                  <a:srgbClr val="1B2A30"/>
                </a:solidFill>
                <a:latin typeface="Calibri" pitchFamily="34" charset="0"/>
                <a:ea typeface="Calibri" pitchFamily="34" charset="-122"/>
                <a:cs typeface="Calibri" pitchFamily="34" charset="-120"/>
              </a:rPr>
              <a:t>Negative Stemmer's sign</a:t>
            </a:r>
            <a:pPr indent="0" marL="0">
              <a:spcAft>
                <a:spcPts val="600"/>
              </a:spcAft>
              <a:buNone/>
            </a:pPr>
            <a:r>
              <a:rPr lang="en-US" sz="1300" dirty="0">
                <a:solidFill>
                  <a:srgbClr val="1B2A30"/>
                </a:solidFill>
                <a:latin typeface="Calibri" pitchFamily="34" charset="0"/>
                <a:ea typeface="Calibri" pitchFamily="34" charset="-122"/>
                <a:cs typeface="Calibri" pitchFamily="34" charset="-120"/>
              </a:rPr>
              <a:t> (until lymphatic involvement develops)</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30</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 Clinical Appearance</a:t>
            </a:r>
            <a:endParaRPr lang="en-US" sz="3400" dirty="0"/>
          </a:p>
        </p:txBody>
      </p:sp>
      <p:pic>
        <p:nvPicPr>
          <p:cNvPr id="5" name="Image 0" descr="/home/claude/build/assets/photos/lip_clinical_legs.jpg">    </p:cNvPr>
          <p:cNvPicPr>
            <a:picLocks noChangeAspect="1"/>
          </p:cNvPicPr>
          <p:nvPr/>
        </p:nvPicPr>
        <p:blipFill>
          <a:blip r:embed="rId1"/>
          <a:srcRect l="0" r="0" t="0" b="0"/>
          <a:stretch/>
        </p:blipFill>
        <p:spPr>
          <a:xfrm>
            <a:off x="566928" y="1600200"/>
            <a:ext cx="3576218" cy="4233672"/>
          </a:xfrm>
          <a:prstGeom prst="rect">
            <a:avLst/>
          </a:prstGeom>
        </p:spPr>
      </p:pic>
      <p:sp>
        <p:nvSpPr>
          <p:cNvPr id="6" name="Text 3"/>
          <p:cNvSpPr/>
          <p:nvPr/>
        </p:nvSpPr>
        <p:spPr>
          <a:xfrm>
            <a:off x="566928"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Lipedema — note the ankle cuff and spared feet</a:t>
            </a:r>
            <a:endParaRPr lang="en-US" sz="900" dirty="0"/>
          </a:p>
        </p:txBody>
      </p:sp>
      <p:pic>
        <p:nvPicPr>
          <p:cNvPr id="7" name="Image 1" descr="/home/claude/build/assets/photos/lip_body_2.jpg">    </p:cNvPr>
          <p:cNvPicPr>
            <a:picLocks noChangeAspect="1"/>
          </p:cNvPicPr>
          <p:nvPr/>
        </p:nvPicPr>
        <p:blipFill>
          <a:blip r:embed="rId2"/>
          <a:srcRect l="0" r="0" t="0" b="0"/>
          <a:stretch/>
        </p:blipFill>
        <p:spPr>
          <a:xfrm>
            <a:off x="4307738" y="1600200"/>
            <a:ext cx="3576218" cy="4233672"/>
          </a:xfrm>
          <a:prstGeom prst="rect">
            <a:avLst/>
          </a:prstGeom>
        </p:spPr>
      </p:pic>
      <p:sp>
        <p:nvSpPr>
          <p:cNvPr id="8" name="Text 4"/>
          <p:cNvSpPr/>
          <p:nvPr/>
        </p:nvSpPr>
        <p:spPr>
          <a:xfrm>
            <a:off x="4307738"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Disproportionate lower-body distribution</a:t>
            </a:r>
            <a:endParaRPr lang="en-US" sz="900" dirty="0"/>
          </a:p>
        </p:txBody>
      </p:sp>
      <p:pic>
        <p:nvPicPr>
          <p:cNvPr id="9" name="Image 2" descr="/home/claude/build/assets/photos/lip_before_front.jpg">    </p:cNvPr>
          <p:cNvPicPr>
            <a:picLocks noChangeAspect="1"/>
          </p:cNvPicPr>
          <p:nvPr/>
        </p:nvPicPr>
        <p:blipFill>
          <a:blip r:embed="rId3"/>
          <a:srcRect l="0" r="0" t="0" b="0"/>
          <a:stretch/>
        </p:blipFill>
        <p:spPr>
          <a:xfrm>
            <a:off x="8048549" y="1600200"/>
            <a:ext cx="3576218" cy="4233672"/>
          </a:xfrm>
          <a:prstGeom prst="rect">
            <a:avLst/>
          </a:prstGeom>
        </p:spPr>
      </p:pic>
      <p:sp>
        <p:nvSpPr>
          <p:cNvPr id="10" name="Text 5"/>
          <p:cNvSpPr/>
          <p:nvPr/>
        </p:nvSpPr>
        <p:spPr>
          <a:xfrm>
            <a:off x="8048549"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Before diagnosis — anterior</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31</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 Etiology &amp; Misdiagnosis</a:t>
            </a:r>
            <a:endParaRPr lang="en-US" sz="3400" dirty="0"/>
          </a:p>
        </p:txBody>
      </p:sp>
      <p:sp>
        <p:nvSpPr>
          <p:cNvPr id="5" name="Shape 3"/>
          <p:cNvSpPr/>
          <p:nvPr/>
        </p:nvSpPr>
        <p:spPr>
          <a:xfrm>
            <a:off x="566928" y="1572768"/>
            <a:ext cx="5428336" cy="4718304"/>
          </a:xfrm>
          <a:prstGeom prst="roundRect">
            <a:avLst>
              <a:gd name="adj" fmla="val 1744"/>
            </a:avLst>
          </a:prstGeom>
          <a:solidFill>
            <a:srgbClr val="FFFFFF"/>
          </a:solidFill>
          <a:ln w="12700">
            <a:solidFill>
              <a:srgbClr val="DCE6E8"/>
            </a:solidFill>
            <a:prstDash val="solid"/>
          </a:ln>
        </p:spPr>
      </p:sp>
      <p:sp>
        <p:nvSpPr>
          <p:cNvPr id="6" name="Text 4"/>
          <p:cNvSpPr/>
          <p:nvPr/>
        </p:nvSpPr>
        <p:spPr>
          <a:xfrm>
            <a:off x="786384" y="1700784"/>
            <a:ext cx="4989424"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Etiology</a:t>
            </a:r>
            <a:endParaRPr lang="en-US" sz="1500" dirty="0"/>
          </a:p>
        </p:txBody>
      </p:sp>
      <p:sp>
        <p:nvSpPr>
          <p:cNvPr id="7" name="Text 5"/>
          <p:cNvSpPr/>
          <p:nvPr/>
        </p:nvSpPr>
        <p:spPr>
          <a:xfrm>
            <a:off x="786384" y="2066544"/>
            <a:ext cx="4989424" cy="4059936"/>
          </a:xfrm>
          <a:prstGeom prst="rect">
            <a:avLst/>
          </a:prstGeom>
          <a:noFill/>
          <a:ln/>
        </p:spPr>
        <p:txBody>
          <a:bodyPr wrap="square" lIns="0" tIns="0" rIns="0" bIns="0" rtlCol="0" anchor="t"/>
          <a:lstStyle/>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Cause is unknown; strong familial pattern suggests genetic contribution</a:t>
            </a:r>
            <a:endParaRPr lang="en-US" sz="1350" dirty="0"/>
          </a:p>
          <a:p>
            <a:pPr marL="190500" indent="-190500">
              <a:spcAft>
                <a:spcPts val="600"/>
              </a:spcAft>
              <a:buSzPct val="100000"/>
              <a:buChar char="•"/>
            </a:pPr>
            <a:r>
              <a:rPr lang="en-US" sz="1350" b="1" dirty="0">
                <a:solidFill>
                  <a:srgbClr val="1B2A30"/>
                </a:solidFill>
                <a:latin typeface="Calibri" pitchFamily="34" charset="0"/>
                <a:ea typeface="Calibri" pitchFamily="34" charset="-122"/>
                <a:cs typeface="Calibri" pitchFamily="34" charset="-120"/>
              </a:rPr>
              <a:t>Hormonally triggered</a:t>
            </a:r>
            <a:pPr indent="0" marL="0">
              <a:spcAft>
                <a:spcPts val="600"/>
              </a:spcAft>
              <a:buNone/>
            </a:pPr>
            <a:r>
              <a:rPr lang="en-US" sz="1350" dirty="0">
                <a:solidFill>
                  <a:srgbClr val="1B2A30"/>
                </a:solidFill>
                <a:latin typeface="Calibri" pitchFamily="34" charset="0"/>
                <a:ea typeface="Calibri" pitchFamily="34" charset="-122"/>
                <a:cs typeface="Calibri" pitchFamily="34" charset="-120"/>
              </a:rPr>
              <a:t> — onset and acceleration cluster at puberty, pregnancy, and menopause</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Evidence points toward a connective tissue disorder component</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Reported in up to ~11% of women</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Men are affected rarely, usually with hormonal alteration</a:t>
            </a:r>
            <a:endParaRPr lang="en-US" sz="1350" dirty="0"/>
          </a:p>
        </p:txBody>
      </p:sp>
      <p:sp>
        <p:nvSpPr>
          <p:cNvPr id="8" name="Shape 6"/>
          <p:cNvSpPr/>
          <p:nvPr/>
        </p:nvSpPr>
        <p:spPr>
          <a:xfrm>
            <a:off x="6196432" y="1572768"/>
            <a:ext cx="5428336" cy="4718304"/>
          </a:xfrm>
          <a:prstGeom prst="roundRect">
            <a:avLst>
              <a:gd name="adj" fmla="val 1744"/>
            </a:avLst>
          </a:prstGeom>
          <a:solidFill>
            <a:srgbClr val="FFFFFF"/>
          </a:solidFill>
          <a:ln w="12700">
            <a:solidFill>
              <a:srgbClr val="DCE6E8"/>
            </a:solidFill>
            <a:prstDash val="solid"/>
          </a:ln>
        </p:spPr>
      </p:sp>
      <p:sp>
        <p:nvSpPr>
          <p:cNvPr id="9" name="Text 7"/>
          <p:cNvSpPr/>
          <p:nvPr/>
        </p:nvSpPr>
        <p:spPr>
          <a:xfrm>
            <a:off x="6415888" y="1700784"/>
            <a:ext cx="4989424" cy="292608"/>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Why the misdiagnosis matters</a:t>
            </a:r>
            <a:endParaRPr lang="en-US" sz="1500" dirty="0"/>
          </a:p>
        </p:txBody>
      </p:sp>
      <p:sp>
        <p:nvSpPr>
          <p:cNvPr id="10" name="Text 8"/>
          <p:cNvSpPr/>
          <p:nvPr/>
        </p:nvSpPr>
        <p:spPr>
          <a:xfrm>
            <a:off x="6415888" y="2066544"/>
            <a:ext cx="4989424" cy="4059936"/>
          </a:xfrm>
          <a:prstGeom prst="rect">
            <a:avLst/>
          </a:prstGeom>
          <a:noFill/>
          <a:ln/>
        </p:spPr>
        <p:txBody>
          <a:bodyPr wrap="square" lIns="0" tIns="0" rIns="0" bIns="0" rtlCol="0" anchor="t"/>
          <a:lstStyle/>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Patients are frequently told to lose weight — which does not resolve the affected fat</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Years of unnecessary shame and ineffective treatment</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Delayed diagnosis allows progression toward lymphatic involvement</a:t>
            </a:r>
            <a:endParaRPr lang="en-US" sz="1350" dirty="0"/>
          </a:p>
          <a:p>
            <a:pPr marL="190500" indent="-190500">
              <a:spcAft>
                <a:spcPts val="600"/>
              </a:spcAft>
              <a:buSzPct val="100000"/>
              <a:buChar char="•"/>
            </a:pPr>
            <a:r>
              <a:rPr lang="en-US" sz="1350" dirty="0">
                <a:solidFill>
                  <a:srgbClr val="1B2A30"/>
                </a:solidFill>
                <a:latin typeface="Calibri" pitchFamily="34" charset="0"/>
                <a:ea typeface="Calibri" pitchFamily="34" charset="-122"/>
                <a:cs typeface="Calibri" pitchFamily="34" charset="-120"/>
              </a:rPr>
              <a:t>A correct diagnosis is itself therapeutic — it reframes the patient's understanding</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Staging — Stages 1 &amp; 2</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Classically staged 1 through 3 by skin and tissue architecture. A fourth stage — lipo-lymphedema — is widely used clinically but is contested.</a:t>
            </a:r>
            <a:endParaRPr lang="en-US" sz="1500" dirty="0"/>
          </a:p>
        </p:txBody>
      </p:sp>
      <p:sp>
        <p:nvSpPr>
          <p:cNvPr id="6" name="Shape 4"/>
          <p:cNvSpPr/>
          <p:nvPr/>
        </p:nvSpPr>
        <p:spPr>
          <a:xfrm>
            <a:off x="566928" y="2231136"/>
            <a:ext cx="5391760" cy="3246120"/>
          </a:xfrm>
          <a:prstGeom prst="roundRect">
            <a:avLst>
              <a:gd name="adj" fmla="val 2535"/>
            </a:avLst>
          </a:prstGeom>
          <a:solidFill>
            <a:srgbClr val="FFFFFF"/>
          </a:solidFill>
          <a:ln w="12700">
            <a:solidFill>
              <a:srgbClr val="DCE6E8"/>
            </a:solidFill>
            <a:prstDash val="solid"/>
          </a:ln>
        </p:spPr>
      </p:sp>
      <p:sp>
        <p:nvSpPr>
          <p:cNvPr id="7" name="Shape 5"/>
          <p:cNvSpPr/>
          <p:nvPr/>
        </p:nvSpPr>
        <p:spPr>
          <a:xfrm>
            <a:off x="822960" y="2414016"/>
            <a:ext cx="1051560" cy="329184"/>
          </a:xfrm>
          <a:prstGeom prst="roundRect">
            <a:avLst>
              <a:gd name="adj" fmla="val 50000"/>
            </a:avLst>
          </a:prstGeom>
          <a:solidFill>
            <a:srgbClr val="028090"/>
          </a:solidFill>
          <a:ln w="12700">
            <a:solidFill>
              <a:srgbClr val="028090"/>
            </a:solidFill>
            <a:prstDash val="solid"/>
          </a:ln>
        </p:spPr>
      </p:sp>
      <p:sp>
        <p:nvSpPr>
          <p:cNvPr id="8" name="Text 6"/>
          <p:cNvSpPr/>
          <p:nvPr/>
        </p:nvSpPr>
        <p:spPr>
          <a:xfrm>
            <a:off x="822960" y="2414016"/>
            <a:ext cx="10515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1</a:t>
            </a:r>
            <a:endParaRPr lang="en-US" sz="1100" dirty="0"/>
          </a:p>
        </p:txBody>
      </p:sp>
      <p:sp>
        <p:nvSpPr>
          <p:cNvPr id="9" name="Text 7"/>
          <p:cNvSpPr/>
          <p:nvPr/>
        </p:nvSpPr>
        <p:spPr>
          <a:xfrm>
            <a:off x="1984248" y="2414016"/>
            <a:ext cx="3700120" cy="329184"/>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Smooth skin surface</a:t>
            </a:r>
            <a:endParaRPr lang="en-US" sz="1400" dirty="0"/>
          </a:p>
        </p:txBody>
      </p:sp>
      <p:sp>
        <p:nvSpPr>
          <p:cNvPr id="10" name="Text 8"/>
          <p:cNvSpPr/>
          <p:nvPr/>
        </p:nvSpPr>
        <p:spPr>
          <a:xfrm>
            <a:off x="822960" y="2889504"/>
            <a:ext cx="4879696" cy="2423160"/>
          </a:xfrm>
          <a:prstGeom prst="rect">
            <a:avLst/>
          </a:prstGeom>
          <a:noFill/>
          <a:ln/>
        </p:spPr>
        <p:txBody>
          <a:bodyPr wrap="square" lIns="0" tIns="0" rIns="0" bIns="0" rtlCol="0" anchor="t"/>
          <a:lstStyle/>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Skin surface normal and smooth</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Enlarged hypodermis; homogeneous thickening of subcutaneous tissue</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Fat is often soft; small nodules may be palpable — described as rice-like or pearl-sized</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Fat accumulation around pelvis, buttocks, and hips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Limbs tender and prone to bruising</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Swelling may improve with rest and elevation</a:t>
            </a:r>
            <a:endParaRPr lang="en-US" sz="1150" dirty="0"/>
          </a:p>
        </p:txBody>
      </p:sp>
      <p:sp>
        <p:nvSpPr>
          <p:cNvPr id="11" name="Shape 9"/>
          <p:cNvSpPr/>
          <p:nvPr/>
        </p:nvSpPr>
        <p:spPr>
          <a:xfrm>
            <a:off x="6233008" y="2231136"/>
            <a:ext cx="5391760" cy="3246120"/>
          </a:xfrm>
          <a:prstGeom prst="roundRect">
            <a:avLst>
              <a:gd name="adj" fmla="val 2535"/>
            </a:avLst>
          </a:prstGeom>
          <a:solidFill>
            <a:srgbClr val="FFFFFF"/>
          </a:solidFill>
          <a:ln w="12700">
            <a:solidFill>
              <a:srgbClr val="DCE6E8"/>
            </a:solidFill>
            <a:prstDash val="solid"/>
          </a:ln>
        </p:spPr>
      </p:sp>
      <p:sp>
        <p:nvSpPr>
          <p:cNvPr id="12" name="Shape 10"/>
          <p:cNvSpPr/>
          <p:nvPr/>
        </p:nvSpPr>
        <p:spPr>
          <a:xfrm>
            <a:off x="6489040" y="2414016"/>
            <a:ext cx="1051560" cy="329184"/>
          </a:xfrm>
          <a:prstGeom prst="roundRect">
            <a:avLst>
              <a:gd name="adj" fmla="val 50000"/>
            </a:avLst>
          </a:prstGeom>
          <a:solidFill>
            <a:srgbClr val="028090"/>
          </a:solidFill>
          <a:ln w="12700">
            <a:solidFill>
              <a:srgbClr val="028090"/>
            </a:solidFill>
            <a:prstDash val="solid"/>
          </a:ln>
        </p:spPr>
      </p:sp>
      <p:sp>
        <p:nvSpPr>
          <p:cNvPr id="13" name="Text 11"/>
          <p:cNvSpPr/>
          <p:nvPr/>
        </p:nvSpPr>
        <p:spPr>
          <a:xfrm>
            <a:off x="6489040" y="2414016"/>
            <a:ext cx="10515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2</a:t>
            </a:r>
            <a:endParaRPr lang="en-US" sz="1100" dirty="0"/>
          </a:p>
        </p:txBody>
      </p:sp>
      <p:sp>
        <p:nvSpPr>
          <p:cNvPr id="14" name="Text 12"/>
          <p:cNvSpPr/>
          <p:nvPr/>
        </p:nvSpPr>
        <p:spPr>
          <a:xfrm>
            <a:off x="7650328" y="2414016"/>
            <a:ext cx="3700120" cy="329184"/>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Uneven, dimpled skin</a:t>
            </a:r>
            <a:endParaRPr lang="en-US" sz="1400" dirty="0"/>
          </a:p>
        </p:txBody>
      </p:sp>
      <p:sp>
        <p:nvSpPr>
          <p:cNvPr id="15" name="Text 13"/>
          <p:cNvSpPr/>
          <p:nvPr/>
        </p:nvSpPr>
        <p:spPr>
          <a:xfrm>
            <a:off x="6489040" y="2889504"/>
            <a:ext cx="4879696" cy="2423160"/>
          </a:xfrm>
          <a:prstGeom prst="rect">
            <a:avLst/>
          </a:prstGeom>
          <a:noFill/>
          <a:ln/>
        </p:spPr>
        <p:txBody>
          <a:bodyPr wrap="square" lIns="0" tIns="0" rIns="0" bIns="0" rtlCol="0" anchor="t"/>
          <a:lstStyle/>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Skin surface becomes bumpy and wave-like with indentations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Nodular structures in the thickened subcutis — lipomas, angiolipomas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Subcutaneous tissue feels tougher and more nodular</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Fat build-up extends down the legs toward the ankles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Swelling less responsive to rest and elevation than Stage 1</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Symptoms range from mild to severe</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33</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Staging — Stage 3 &amp; Lipo-lymphedema</a:t>
            </a:r>
            <a:endParaRPr lang="en-US" sz="3400" dirty="0"/>
          </a:p>
        </p:txBody>
      </p:sp>
      <p:sp>
        <p:nvSpPr>
          <p:cNvPr id="5" name="Shape 3"/>
          <p:cNvSpPr/>
          <p:nvPr/>
        </p:nvSpPr>
        <p:spPr>
          <a:xfrm>
            <a:off x="566928" y="1691640"/>
            <a:ext cx="5391760" cy="3200400"/>
          </a:xfrm>
          <a:prstGeom prst="roundRect">
            <a:avLst>
              <a:gd name="adj" fmla="val 2571"/>
            </a:avLst>
          </a:prstGeom>
          <a:solidFill>
            <a:srgbClr val="FFFFFF"/>
          </a:solidFill>
          <a:ln w="12700">
            <a:solidFill>
              <a:srgbClr val="DCE6E8"/>
            </a:solidFill>
            <a:prstDash val="solid"/>
          </a:ln>
        </p:spPr>
      </p:sp>
      <p:sp>
        <p:nvSpPr>
          <p:cNvPr id="6" name="Shape 4"/>
          <p:cNvSpPr/>
          <p:nvPr/>
        </p:nvSpPr>
        <p:spPr>
          <a:xfrm>
            <a:off x="822960" y="1874520"/>
            <a:ext cx="1051560" cy="329184"/>
          </a:xfrm>
          <a:prstGeom prst="roundRect">
            <a:avLst>
              <a:gd name="adj" fmla="val 50000"/>
            </a:avLst>
          </a:prstGeom>
          <a:solidFill>
            <a:srgbClr val="028090"/>
          </a:solidFill>
          <a:ln w="12700">
            <a:solidFill>
              <a:srgbClr val="028090"/>
            </a:solidFill>
            <a:prstDash val="solid"/>
          </a:ln>
        </p:spPr>
      </p:sp>
      <p:sp>
        <p:nvSpPr>
          <p:cNvPr id="7" name="Text 5"/>
          <p:cNvSpPr/>
          <p:nvPr/>
        </p:nvSpPr>
        <p:spPr>
          <a:xfrm>
            <a:off x="822960" y="1874520"/>
            <a:ext cx="10515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3</a:t>
            </a:r>
            <a:endParaRPr lang="en-US" sz="1100" dirty="0"/>
          </a:p>
        </p:txBody>
      </p:sp>
      <p:sp>
        <p:nvSpPr>
          <p:cNvPr id="8" name="Text 6"/>
          <p:cNvSpPr/>
          <p:nvPr/>
        </p:nvSpPr>
        <p:spPr>
          <a:xfrm>
            <a:off x="1984248" y="1874520"/>
            <a:ext cx="3700120" cy="329184"/>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Large deformations</a:t>
            </a:r>
            <a:endParaRPr lang="en-US" sz="1400" dirty="0"/>
          </a:p>
        </p:txBody>
      </p:sp>
      <p:sp>
        <p:nvSpPr>
          <p:cNvPr id="9" name="Text 7"/>
          <p:cNvSpPr/>
          <p:nvPr/>
        </p:nvSpPr>
        <p:spPr>
          <a:xfrm>
            <a:off x="822960" y="2350008"/>
            <a:ext cx="4879696" cy="2377440"/>
          </a:xfrm>
          <a:prstGeom prst="rect">
            <a:avLst/>
          </a:prstGeom>
          <a:noFill/>
          <a:ln/>
        </p:spPr>
        <p:txBody>
          <a:bodyPr wrap="square" lIns="0" tIns="0" rIns="0" bIns="0" rtlCol="0" anchor="t"/>
          <a:lstStyle/>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Further hardening of connective tissue</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Bulky, overhanging extrusions of skin and fat</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Marked deformation of thighs and around the knees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Persistent swelling not resolving with rest or elevation</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Mobility significantly impaired; highest rate of orthopedic complication</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May be associated with secondary lymphedema</a:t>
            </a:r>
            <a:endParaRPr lang="en-US" sz="1150" dirty="0"/>
          </a:p>
        </p:txBody>
      </p:sp>
      <p:sp>
        <p:nvSpPr>
          <p:cNvPr id="10" name="Shape 8"/>
          <p:cNvSpPr/>
          <p:nvPr/>
        </p:nvSpPr>
        <p:spPr>
          <a:xfrm>
            <a:off x="6233008" y="1691640"/>
            <a:ext cx="5391760" cy="3200400"/>
          </a:xfrm>
          <a:prstGeom prst="roundRect">
            <a:avLst>
              <a:gd name="adj" fmla="val 2571"/>
            </a:avLst>
          </a:prstGeom>
          <a:solidFill>
            <a:srgbClr val="FFFFFF"/>
          </a:solidFill>
          <a:ln w="12700">
            <a:solidFill>
              <a:srgbClr val="DCE6E8"/>
            </a:solidFill>
            <a:prstDash val="solid"/>
          </a:ln>
        </p:spPr>
      </p:sp>
      <p:sp>
        <p:nvSpPr>
          <p:cNvPr id="11" name="Shape 9"/>
          <p:cNvSpPr/>
          <p:nvPr/>
        </p:nvSpPr>
        <p:spPr>
          <a:xfrm>
            <a:off x="6489040" y="1874520"/>
            <a:ext cx="1051560" cy="329184"/>
          </a:xfrm>
          <a:prstGeom prst="roundRect">
            <a:avLst>
              <a:gd name="adj" fmla="val 50000"/>
            </a:avLst>
          </a:prstGeom>
          <a:solidFill>
            <a:srgbClr val="028090"/>
          </a:solidFill>
          <a:ln w="12700">
            <a:solidFill>
              <a:srgbClr val="028090"/>
            </a:solidFill>
            <a:prstDash val="solid"/>
          </a:ln>
        </p:spPr>
      </p:sp>
      <p:sp>
        <p:nvSpPr>
          <p:cNvPr id="12" name="Text 10"/>
          <p:cNvSpPr/>
          <p:nvPr/>
        </p:nvSpPr>
        <p:spPr>
          <a:xfrm>
            <a:off x="6489040" y="1874520"/>
            <a:ext cx="10515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4</a:t>
            </a:r>
            <a:endParaRPr lang="en-US" sz="1100" dirty="0"/>
          </a:p>
        </p:txBody>
      </p:sp>
      <p:sp>
        <p:nvSpPr>
          <p:cNvPr id="13" name="Text 11"/>
          <p:cNvSpPr/>
          <p:nvPr/>
        </p:nvSpPr>
        <p:spPr>
          <a:xfrm>
            <a:off x="7650328" y="1874520"/>
            <a:ext cx="3700120" cy="329184"/>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Lipo-lymphedema</a:t>
            </a:r>
            <a:endParaRPr lang="en-US" sz="1400" dirty="0"/>
          </a:p>
        </p:txBody>
      </p:sp>
      <p:sp>
        <p:nvSpPr>
          <p:cNvPr id="14" name="Text 12"/>
          <p:cNvSpPr/>
          <p:nvPr/>
        </p:nvSpPr>
        <p:spPr>
          <a:xfrm>
            <a:off x="6489040" y="2350008"/>
            <a:ext cx="4879696" cy="2377440"/>
          </a:xfrm>
          <a:prstGeom prst="rect">
            <a:avLst/>
          </a:prstGeom>
          <a:noFill/>
          <a:ln/>
        </p:spPr>
        <p:txBody>
          <a:bodyPr wrap="square" lIns="0" tIns="0" rIns="0" bIns="0" rtlCol="0" anchor="t"/>
          <a:lstStyle/>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Lipedema plus secondary lymphedema in the same limbs</a:t>
            </a:r>
            <a:endParaRPr lang="en-US" sz="1150" dirty="0"/>
          </a:p>
          <a:p>
            <a:pPr marL="190500" indent="-190500">
              <a:spcAft>
                <a:spcPts val="600"/>
              </a:spcAft>
              <a:buSzPct val="100000"/>
              <a:buChar char="•"/>
            </a:pPr>
            <a:r>
              <a:rPr lang="en-US" sz="1150" b="1" dirty="0">
                <a:solidFill>
                  <a:srgbClr val="1B2A30"/>
                </a:solidFill>
                <a:latin typeface="Calibri" pitchFamily="34" charset="0"/>
                <a:ea typeface="Calibri" pitchFamily="34" charset="-122"/>
                <a:cs typeface="Calibri" pitchFamily="34" charset="-120"/>
              </a:rPr>
              <a:t>The feet begin to swell</a:t>
            </a:r>
            <a:pPr indent="0" marL="0">
              <a:spcAft>
                <a:spcPts val="600"/>
              </a:spcAft>
              <a:buNone/>
            </a:pPr>
            <a:r>
              <a:rPr lang="en-US" sz="1150" dirty="0">
                <a:solidFill>
                  <a:srgbClr val="1B2A30"/>
                </a:solidFill>
                <a:latin typeface="Calibri" pitchFamily="34" charset="0"/>
                <a:ea typeface="Calibri" pitchFamily="34" charset="-122"/>
                <a:cs typeface="Calibri" pitchFamily="34" charset="-120"/>
              </a:rPr>
              <a:t> — the defining change</a:t>
            </a:r>
            <a:endParaRPr lang="en-US" sz="1150" dirty="0"/>
          </a:p>
          <a:p>
            <a:pPr marL="190500" indent="-190500">
              <a:spcAft>
                <a:spcPts val="600"/>
              </a:spcAft>
              <a:buSzPct val="100000"/>
              <a:buChar char="•"/>
            </a:pPr>
            <a:r>
              <a:rPr lang="en-US" sz="1150" b="1" dirty="0">
                <a:solidFill>
                  <a:srgbClr val="1B2A30"/>
                </a:solidFill>
                <a:latin typeface="Calibri" pitchFamily="34" charset="0"/>
                <a:ea typeface="Calibri" pitchFamily="34" charset="-122"/>
                <a:cs typeface="Calibri" pitchFamily="34" charset="-120"/>
              </a:rPr>
              <a:t>Stemmer's sign becomes positive</a:t>
            </a:r>
            <a:pPr indent="0" marL="0">
              <a:spcAft>
                <a:spcPts val="600"/>
              </a:spcAft>
              <a:buNone/>
            </a:pP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Skin over the toes thickens; pitting appears</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Diagnosis moves from lipedema to lipo-lymphedema</a:t>
            </a:r>
            <a:endParaRPr lang="en-US" sz="1150" dirty="0"/>
          </a:p>
          <a:p>
            <a:pPr marL="190500" indent="-1905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Lymphoscintigraphy can document the degree of drainage impairment</a:t>
            </a:r>
            <a:endParaRPr lang="en-US" sz="1150" dirty="0"/>
          </a:p>
        </p:txBody>
      </p:sp>
      <p:sp>
        <p:nvSpPr>
          <p:cNvPr id="15" name="Text 13"/>
          <p:cNvSpPr/>
          <p:nvPr/>
        </p:nvSpPr>
        <p:spPr>
          <a:xfrm>
            <a:off x="566928" y="5038344"/>
            <a:ext cx="11057839" cy="548640"/>
          </a:xfrm>
          <a:prstGeom prst="rect">
            <a:avLst/>
          </a:prstGeom>
          <a:noFill/>
          <a:ln/>
        </p:spPr>
        <p:txBody>
          <a:bodyPr wrap="square" lIns="0" tIns="0" rIns="0" bIns="0" rtlCol="0" anchor="t"/>
          <a:lstStyle/>
          <a:p>
            <a:pPr indent="0" marL="0">
              <a:buNone/>
            </a:pPr>
            <a:r>
              <a:rPr lang="en-US" sz="1050" i="1" dirty="0">
                <a:solidFill>
                  <a:srgbClr val="9E3A5A"/>
                </a:solidFill>
                <a:latin typeface="Calibri" pitchFamily="34" charset="0"/>
                <a:ea typeface="Calibri" pitchFamily="34" charset="-122"/>
                <a:cs typeface="Calibri" pitchFamily="34" charset="-120"/>
              </a:rPr>
              <a:t>IMPORTANT CAVEAT: The Lipedema Foundation no longer uses a 'Stage 4' designation, on the grounds that the lymphatic system can be compromised at any stage — lymphatic impairment is documented in Stages 2 and 3. Present Stage 4 as lipo-lymphedema, and note the debate. This is the intellectually honest framing and it will be the question a sharp student asks.</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34</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vs. Lymphedema</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The differential that matters most in practice — and the one most often gotten wrong.</a:t>
            </a:r>
            <a:endParaRPr lang="en-US" sz="15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2231136"/>
          <a:ext cx="11057839" cy="914400"/>
        </p:xfrm>
        <a:graphic>
          <a:graphicData uri="http://schemas.openxmlformats.org/drawingml/2006/table">
            <a:tbl>
              <a:tblPr/>
              <a:tblGrid>
                <a:gridCol w="2377440"/>
                <a:gridCol w="4343400"/>
                <a:gridCol w="4352544"/>
              </a:tblGrid>
              <a:tr h="30175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Feature</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Lipedema</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Lymphedema</a:t>
                      </a:r>
                      <a:endParaRPr lang="en-US" sz="12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025462"/>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Sex</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Almost exclusively women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Either sex</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Symmetry</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Bilateral, symmetrical</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Often unilateral; symmetry not required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Feet</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SPARED — sharp ankle cuff</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INVOLVED — swelling includes feet/toes</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Stemmer's sign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Negative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Pain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Painful, tender to pressure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Painless early; tension pain when advanced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Bruising</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Bruises easily</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Not characteristic</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Pitting</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Typically non-pitting</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Pitting early; non-pitting when fibrotic</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Distribution</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Proximal-dominant, disproportionate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Distal parts always more affected</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Family history</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Commonly positive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Positive only in primary lymphedema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Response to diet</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Affected fat is diet-resistant</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Not primarily fat; weight loss reduces risk</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025462"/>
                          </a:solidFill>
                          <a:latin typeface="Calibri" pitchFamily="34" charset="0"/>
                          <a:ea typeface="Calibri" pitchFamily="34" charset="-122"/>
                          <a:cs typeface="Calibri" pitchFamily="34" charset="-120"/>
                        </a:rPr>
                        <a:t>Onset trigger</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Puberty, pregnancy, menopause</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Surgery, radiation, infection, trauma</a:t>
                      </a:r>
                      <a:endParaRPr lang="en-US" sz="1100" dirty="0">
                        <a:latin typeface="Calibri" charset="0"/>
                        <a:ea typeface="Calibri" charset="0"/>
                        <a:cs typeface="Calibri" charset="0"/>
                      </a:endParaRPr>
                    </a:p>
                  </a:txBody>
                  <a:tcPr marL="91440" marR="91440" marT="45720" marB="45720" anchor="ctr">
                    <a:lnL w="12700" cap="flat" cmpd="sng" algn="ctr">
                      <a:solidFill>
                        <a:srgbClr val="DCE6E8"/>
                      </a:solidFill>
                      <a:prstDash val="solid"/>
                      <a:round/>
                      <a:headEnd type="none" w="med" len="med"/>
                      <a:tailEnd type="none" w="med" len="med"/>
                    </a:lnL>
                    <a:lnR w="12700" cap="flat" cmpd="sng" algn="ctr">
                      <a:solidFill>
                        <a:srgbClr val="DCE6E8"/>
                      </a:solidFill>
                      <a:prstDash val="solid"/>
                      <a:round/>
                      <a:headEnd type="none" w="med" len="med"/>
                      <a:tailEnd type="none" w="med" len="med"/>
                    </a:lnR>
                    <a:lnT w="12700" cap="flat" cmpd="sng" algn="ctr">
                      <a:solidFill>
                        <a:srgbClr val="DCE6E8"/>
                      </a:solidFill>
                      <a:prstDash val="solid"/>
                      <a:round/>
                      <a:headEnd type="none" w="med" len="med"/>
                      <a:tailEnd type="none" w="med" len="med"/>
                    </a:lnT>
                    <a:lnB w="12700" cap="flat" cmpd="sng" algn="ctr">
                      <a:solidFill>
                        <a:srgbClr val="DCE6E8"/>
                      </a:solidFill>
                      <a:prstDash val="solid"/>
                      <a:round/>
                      <a:headEnd type="none" w="med" len="med"/>
                      <a:tailEnd type="none" w="med" len="med"/>
                    </a:lnB>
                    <a:solidFill>
                      <a:srgbClr val="F4F8F9"/>
                    </a:solidFill>
                  </a:tcPr>
                </a:tc>
              </a:tr>
            </a:tbl>
          </a:graphicData>
        </a:graphic>
      </p:graphicFrame>
      <p:sp>
        <p:nvSpPr>
          <p:cNvPr id="7" name="Text 4"/>
          <p:cNvSpPr/>
          <p:nvPr/>
        </p:nvSpPr>
        <p:spPr>
          <a:xfrm>
            <a:off x="566928" y="6080760"/>
            <a:ext cx="11057839" cy="457200"/>
          </a:xfrm>
          <a:prstGeom prst="rect">
            <a:avLst/>
          </a:prstGeom>
          <a:noFill/>
          <a:ln/>
        </p:spPr>
        <p:txBody>
          <a:bodyPr wrap="square" lIns="0" tIns="0" rIns="0" bIns="0" rtlCol="0" anchor="t"/>
          <a:lstStyle/>
          <a:p>
            <a:pPr indent="0" marL="0">
              <a:buNone/>
            </a:pPr>
            <a:r>
              <a:rPr lang="en-US" sz="1050" i="1" dirty="0">
                <a:solidFill>
                  <a:srgbClr val="36454F"/>
                </a:solidFill>
                <a:latin typeface="Calibri" pitchFamily="34" charset="0"/>
                <a:ea typeface="Calibri" pitchFamily="34" charset="-122"/>
                <a:cs typeface="Calibri" pitchFamily="34" charset="-120"/>
              </a:rPr>
              <a:t>They co-exist. Lipedema does not itself cause lymphedema — but central obesity, which frequently accompanies it, substantially raises lymphedema risk. Treat what you find.</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35</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PT Management of Lipedema</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Conservative management does not remove lipedema fat. It manages pain, controls fluid, preserves mobility, and slows progression.</a:t>
            </a:r>
            <a:endParaRPr lang="en-US" sz="1500" dirty="0"/>
          </a:p>
        </p:txBody>
      </p:sp>
      <p:pic>
        <p:nvPicPr>
          <p:cNvPr id="6" name="Image 0" descr="/home/claude/build/assets/photos/lip_comparison_2.jpg">    </p:cNvPr>
          <p:cNvPicPr>
            <a:picLocks noChangeAspect="1"/>
          </p:cNvPicPr>
          <p:nvPr/>
        </p:nvPicPr>
        <p:blipFill>
          <a:blip r:embed="rId1"/>
          <a:srcRect l="0" r="0" t="0" b="0"/>
          <a:stretch/>
        </p:blipFill>
        <p:spPr>
          <a:xfrm>
            <a:off x="6732727" y="2322576"/>
            <a:ext cx="4892040" cy="3291840"/>
          </a:xfrm>
          <a:prstGeom prst="rect">
            <a:avLst/>
          </a:prstGeom>
        </p:spPr>
      </p:pic>
      <p:sp>
        <p:nvSpPr>
          <p:cNvPr id="7" name="Shape 4"/>
          <p:cNvSpPr/>
          <p:nvPr/>
        </p:nvSpPr>
        <p:spPr>
          <a:xfrm>
            <a:off x="566928" y="2231136"/>
            <a:ext cx="5754319" cy="1741424"/>
          </a:xfrm>
          <a:prstGeom prst="roundRect">
            <a:avLst>
              <a:gd name="adj" fmla="val 4726"/>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What PT can achieve</a:t>
            </a:r>
            <a:endParaRPr lang="en-US" sz="950" dirty="0"/>
          </a:p>
        </p:txBody>
      </p:sp>
      <p:sp>
        <p:nvSpPr>
          <p:cNvPr id="9" name="Text 6"/>
          <p:cNvSpPr/>
          <p:nvPr/>
        </p:nvSpPr>
        <p:spPr>
          <a:xfrm>
            <a:off x="822960" y="2706624"/>
            <a:ext cx="5242255" cy="1101344"/>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Pain reduction — often the patient's highest priority</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Control of any fluid component through MLD and compression</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Preservation of joint mechanics and gait</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Prevention of progression to lipo-lymphedema</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Weight-bearing tolerance and conditioning</a:t>
            </a:r>
            <a:endParaRPr lang="en-US" sz="800" dirty="0"/>
          </a:p>
        </p:txBody>
      </p:sp>
      <p:sp>
        <p:nvSpPr>
          <p:cNvPr id="10" name="Shape 7"/>
          <p:cNvSpPr/>
          <p:nvPr/>
        </p:nvSpPr>
        <p:spPr>
          <a:xfrm>
            <a:off x="566928" y="4137152"/>
            <a:ext cx="5754319" cy="1932432"/>
          </a:xfrm>
          <a:prstGeom prst="roundRect">
            <a:avLst>
              <a:gd name="adj" fmla="val 4259"/>
            </a:avLst>
          </a:prstGeom>
          <a:solidFill>
            <a:srgbClr val="FFFFFF"/>
          </a:solidFill>
          <a:ln w="12700">
            <a:solidFill>
              <a:srgbClr val="DCE6E8"/>
            </a:solidFill>
            <a:prstDash val="solid"/>
          </a:ln>
        </p:spPr>
      </p:sp>
      <p:sp>
        <p:nvSpPr>
          <p:cNvPr id="11" name="Text 8"/>
          <p:cNvSpPr/>
          <p:nvPr/>
        </p:nvSpPr>
        <p:spPr>
          <a:xfrm>
            <a:off x="822960" y="4265168"/>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Interventions</a:t>
            </a:r>
            <a:endParaRPr lang="en-US" sz="950" dirty="0"/>
          </a:p>
        </p:txBody>
      </p:sp>
      <p:sp>
        <p:nvSpPr>
          <p:cNvPr id="12" name="Text 9"/>
          <p:cNvSpPr/>
          <p:nvPr/>
        </p:nvSpPr>
        <p:spPr>
          <a:xfrm>
            <a:off x="822960" y="4612640"/>
            <a:ext cx="5242255" cy="1292352"/>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Compression — flat-knit garments, generally better tolerated than in lymphedema</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MLD for the fluid component and for pain relief</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Aquatic exercise — highly effective; buoyancy plus hydrostatic compression</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Low-impact aerobic and resistance conditioning</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Manual therapy for associated joint dysfunction</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Nutritional referral — anti-inflammatory patterns, not caloric restriction alone</a:t>
            </a:r>
            <a:endParaRPr lang="en-US" sz="800" dirty="0"/>
          </a:p>
        </p:txBody>
      </p:sp>
      <p:sp>
        <p:nvSpPr>
          <p:cNvPr id="13" name="Shape 10"/>
          <p:cNvSpPr/>
          <p:nvPr/>
        </p:nvSpPr>
        <p:spPr>
          <a:xfrm>
            <a:off x="566928" y="6234176"/>
            <a:ext cx="5754319" cy="1550416"/>
          </a:xfrm>
          <a:prstGeom prst="roundRect">
            <a:avLst>
              <a:gd name="adj" fmla="val 5308"/>
            </a:avLst>
          </a:prstGeom>
          <a:solidFill>
            <a:srgbClr val="FFFFFF"/>
          </a:solidFill>
          <a:ln w="12700">
            <a:solidFill>
              <a:srgbClr val="DCE6E8"/>
            </a:solidFill>
            <a:prstDash val="solid"/>
          </a:ln>
        </p:spPr>
      </p:sp>
      <p:sp>
        <p:nvSpPr>
          <p:cNvPr id="14" name="Text 11"/>
          <p:cNvSpPr/>
          <p:nvPr/>
        </p:nvSpPr>
        <p:spPr>
          <a:xfrm>
            <a:off x="822960" y="6362192"/>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Set expectations honestly</a:t>
            </a:r>
            <a:endParaRPr lang="en-US" sz="950" dirty="0"/>
          </a:p>
        </p:txBody>
      </p:sp>
      <p:sp>
        <p:nvSpPr>
          <p:cNvPr id="15" name="Text 12"/>
          <p:cNvSpPr/>
          <p:nvPr/>
        </p:nvSpPr>
        <p:spPr>
          <a:xfrm>
            <a:off x="822960" y="6709664"/>
            <a:ext cx="5242255" cy="910336"/>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Conservative care does not eliminate the fat</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Liposuction (tumescent/water-assisted) is the only intervention that removes it</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PT before and after liposuction improves outcomes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Insurance coverage remains inconsistent — this is a real barrier</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36</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LIPEDEMA</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Lipedema — Surgical Outcomes</a:t>
            </a:r>
            <a:endParaRPr lang="en-US" sz="3400" dirty="0"/>
          </a:p>
        </p:txBody>
      </p:sp>
      <p:pic>
        <p:nvPicPr>
          <p:cNvPr id="5" name="Image 0" descr="/home/claude/build/assets/photos/lip_comparison_2.jpg">    </p:cNvPr>
          <p:cNvPicPr>
            <a:picLocks noChangeAspect="1"/>
          </p:cNvPicPr>
          <p:nvPr/>
        </p:nvPicPr>
        <p:blipFill>
          <a:blip r:embed="rId1"/>
          <a:srcRect l="0" r="0" t="0" b="0"/>
          <a:stretch/>
        </p:blipFill>
        <p:spPr>
          <a:xfrm>
            <a:off x="566928" y="1600200"/>
            <a:ext cx="3576218" cy="4233672"/>
          </a:xfrm>
          <a:prstGeom prst="rect">
            <a:avLst/>
          </a:prstGeom>
        </p:spPr>
      </p:pic>
      <p:sp>
        <p:nvSpPr>
          <p:cNvPr id="6" name="Text 3"/>
          <p:cNvSpPr/>
          <p:nvPr/>
        </p:nvSpPr>
        <p:spPr>
          <a:xfrm>
            <a:off x="566928"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Before and after — anterior</a:t>
            </a:r>
            <a:endParaRPr lang="en-US" sz="900" dirty="0"/>
          </a:p>
        </p:txBody>
      </p:sp>
      <p:pic>
        <p:nvPicPr>
          <p:cNvPr id="7" name="Image 1" descr="/home/claude/build/assets/photos/lip_comparison_3.jpg">    </p:cNvPr>
          <p:cNvPicPr>
            <a:picLocks noChangeAspect="1"/>
          </p:cNvPicPr>
          <p:nvPr/>
        </p:nvPicPr>
        <p:blipFill>
          <a:blip r:embed="rId2"/>
          <a:srcRect l="0" r="0" t="0" b="0"/>
          <a:stretch/>
        </p:blipFill>
        <p:spPr>
          <a:xfrm>
            <a:off x="4307738" y="1600200"/>
            <a:ext cx="3576218" cy="4233672"/>
          </a:xfrm>
          <a:prstGeom prst="rect">
            <a:avLst/>
          </a:prstGeom>
        </p:spPr>
      </p:pic>
      <p:sp>
        <p:nvSpPr>
          <p:cNvPr id="8" name="Text 4"/>
          <p:cNvSpPr/>
          <p:nvPr/>
        </p:nvSpPr>
        <p:spPr>
          <a:xfrm>
            <a:off x="4307738"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Before and after — posterior</a:t>
            </a:r>
            <a:endParaRPr lang="en-US" sz="900" dirty="0"/>
          </a:p>
        </p:txBody>
      </p:sp>
      <p:pic>
        <p:nvPicPr>
          <p:cNvPr id="9" name="Image 2" descr="/home/claude/build/assets/photos/lip_surgical_markup.jpg">    </p:cNvPr>
          <p:cNvPicPr>
            <a:picLocks noChangeAspect="1"/>
          </p:cNvPicPr>
          <p:nvPr/>
        </p:nvPicPr>
        <p:blipFill>
          <a:blip r:embed="rId3"/>
          <a:srcRect l="0" r="0" t="0" b="0"/>
          <a:stretch/>
        </p:blipFill>
        <p:spPr>
          <a:xfrm>
            <a:off x="8048549" y="1600200"/>
            <a:ext cx="3576218" cy="4233672"/>
          </a:xfrm>
          <a:prstGeom prst="rect">
            <a:avLst/>
          </a:prstGeom>
        </p:spPr>
      </p:pic>
      <p:sp>
        <p:nvSpPr>
          <p:cNvPr id="10" name="Text 5"/>
          <p:cNvSpPr/>
          <p:nvPr/>
        </p:nvSpPr>
        <p:spPr>
          <a:xfrm>
            <a:off x="8048549" y="5870448"/>
            <a:ext cx="3576218" cy="329184"/>
          </a:xfrm>
          <a:prstGeom prst="rect">
            <a:avLst/>
          </a:prstGeom>
          <a:noFill/>
          <a:ln/>
        </p:spPr>
        <p:txBody>
          <a:bodyPr wrap="square" lIns="0" tIns="0" rIns="0" bIns="0" rtlCol="0" anchor="t"/>
          <a:lstStyle/>
          <a:p>
            <a:pPr algn="ctr" indent="0" marL="0">
              <a:buNone/>
            </a:pPr>
            <a:r>
              <a:rPr lang="en-US" sz="900" i="1" dirty="0">
                <a:solidFill>
                  <a:srgbClr val="36454F"/>
                </a:solidFill>
                <a:latin typeface="Calibri" pitchFamily="34" charset="0"/>
                <a:ea typeface="Calibri" pitchFamily="34" charset="-122"/>
                <a:cs typeface="Calibri" pitchFamily="34" charset="-120"/>
              </a:rPr>
              <a:t>Pre-operative markings</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37</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BEYOND CDT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Other Considerations After Lymphatic PT</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Decongestion is not the end of the episode of care. Once volume is controlled, what remains is often what limits the patient most.</a:t>
            </a:r>
            <a:endParaRPr lang="en-US" sz="1500" dirty="0"/>
          </a:p>
        </p:txBody>
      </p:sp>
      <p:sp>
        <p:nvSpPr>
          <p:cNvPr id="6" name="Shape 4"/>
          <p:cNvSpPr/>
          <p:nvPr/>
        </p:nvSpPr>
        <p:spPr>
          <a:xfrm>
            <a:off x="566928" y="2231136"/>
            <a:ext cx="3551834" cy="3968496"/>
          </a:xfrm>
          <a:prstGeom prst="roundRect">
            <a:avLst>
              <a:gd name="adj" fmla="val 2317"/>
            </a:avLst>
          </a:prstGeom>
          <a:solidFill>
            <a:srgbClr val="FFFFFF"/>
          </a:solidFill>
          <a:ln w="12700">
            <a:solidFill>
              <a:srgbClr val="DCE6E8"/>
            </a:solidFill>
            <a:prstDash val="solid"/>
          </a:ln>
        </p:spPr>
      </p:sp>
      <p:sp>
        <p:nvSpPr>
          <p:cNvPr id="7" name="Text 5"/>
          <p:cNvSpPr/>
          <p:nvPr/>
        </p:nvSpPr>
        <p:spPr>
          <a:xfrm>
            <a:off x="786384" y="2359152"/>
            <a:ext cx="3112922" cy="310896"/>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Gait training</a:t>
            </a:r>
            <a:endParaRPr lang="en-US" sz="1400" dirty="0"/>
          </a:p>
        </p:txBody>
      </p:sp>
      <p:sp>
        <p:nvSpPr>
          <p:cNvPr id="8" name="Text 6"/>
          <p:cNvSpPr/>
          <p:nvPr/>
        </p:nvSpPr>
        <p:spPr>
          <a:xfrm>
            <a:off x="786384"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Limb volume changes the mechanics — gait adapted around a heavy limb persists after decongestion</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Reassess step length, cadence, stance time, and base of support once volume is stable</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Address the compensations: circumduction, hip hiking, reduced push-off</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Footwear reassessment — shoe size often changes substantially after Phase I</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Calf muscle pump function is both a gait goal and a lymphatic goal</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Assistive device review — what was needed at intake may not fit now</a:t>
            </a:r>
            <a:endParaRPr lang="en-US" sz="1250" dirty="0"/>
          </a:p>
        </p:txBody>
      </p:sp>
      <p:sp>
        <p:nvSpPr>
          <p:cNvPr id="9" name="Shape 7"/>
          <p:cNvSpPr/>
          <p:nvPr/>
        </p:nvSpPr>
        <p:spPr>
          <a:xfrm>
            <a:off x="4319930" y="2231136"/>
            <a:ext cx="3551834" cy="3968496"/>
          </a:xfrm>
          <a:prstGeom prst="roundRect">
            <a:avLst>
              <a:gd name="adj" fmla="val 2317"/>
            </a:avLst>
          </a:prstGeom>
          <a:solidFill>
            <a:srgbClr val="FFFFFF"/>
          </a:solidFill>
          <a:ln w="12700">
            <a:solidFill>
              <a:srgbClr val="DCE6E8"/>
            </a:solidFill>
            <a:prstDash val="solid"/>
          </a:ln>
        </p:spPr>
      </p:sp>
      <p:sp>
        <p:nvSpPr>
          <p:cNvPr id="10" name="Text 8"/>
          <p:cNvSpPr/>
          <p:nvPr/>
        </p:nvSpPr>
        <p:spPr>
          <a:xfrm>
            <a:off x="4539386" y="2359152"/>
            <a:ext cx="3112922" cy="310896"/>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Balance therapy</a:t>
            </a:r>
            <a:endParaRPr lang="en-US" sz="1400" dirty="0"/>
          </a:p>
        </p:txBody>
      </p:sp>
      <p:sp>
        <p:nvSpPr>
          <p:cNvPr id="11" name="Text 9"/>
          <p:cNvSpPr/>
          <p:nvPr/>
        </p:nvSpPr>
        <p:spPr>
          <a:xfrm>
            <a:off x="4539386"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Altered limb mass and distal sensation both degrade postural control</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Formal falls-risk screening — these patients are frequently at risk and rarely screened</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Static then dynamic progression; add head turns and dual-task once safe</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Proprioceptive retraining at ankle and hip</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Remember the compounding factors: chemotherapy-induced peripheral neuropathy, deconditioning, visual change</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A fall producing a skin break in a lymphedematous limb is a cellulitis risk, not just an injury</a:t>
            </a:r>
            <a:endParaRPr lang="en-US" sz="1250" dirty="0"/>
          </a:p>
        </p:txBody>
      </p:sp>
      <p:sp>
        <p:nvSpPr>
          <p:cNvPr id="12" name="Shape 10"/>
          <p:cNvSpPr/>
          <p:nvPr/>
        </p:nvSpPr>
        <p:spPr>
          <a:xfrm>
            <a:off x="8072933" y="2231136"/>
            <a:ext cx="3551834" cy="3968496"/>
          </a:xfrm>
          <a:prstGeom prst="roundRect">
            <a:avLst>
              <a:gd name="adj" fmla="val 2317"/>
            </a:avLst>
          </a:prstGeom>
          <a:solidFill>
            <a:srgbClr val="FFFFFF"/>
          </a:solidFill>
          <a:ln w="12700">
            <a:solidFill>
              <a:srgbClr val="DCE6E8"/>
            </a:solidFill>
            <a:prstDash val="solid"/>
          </a:ln>
        </p:spPr>
      </p:sp>
      <p:sp>
        <p:nvSpPr>
          <p:cNvPr id="13" name="Text 11"/>
          <p:cNvSpPr/>
          <p:nvPr/>
        </p:nvSpPr>
        <p:spPr>
          <a:xfrm>
            <a:off x="8292389" y="2359152"/>
            <a:ext cx="3112922" cy="310896"/>
          </a:xfrm>
          <a:prstGeom prst="rect">
            <a:avLst/>
          </a:prstGeom>
          <a:noFill/>
          <a:ln/>
        </p:spPr>
        <p:txBody>
          <a:bodyPr wrap="square" lIns="0" tIns="0" rIns="0" bIns="0" rtlCol="0" anchor="ctr"/>
          <a:lstStyle/>
          <a:p>
            <a:pPr indent="0" marL="0">
              <a:buNone/>
            </a:pPr>
            <a:r>
              <a:rPr lang="en-US" sz="1400" b="1" dirty="0">
                <a:solidFill>
                  <a:srgbClr val="025462"/>
                </a:solidFill>
                <a:latin typeface="Calibri" pitchFamily="34" charset="0"/>
                <a:ea typeface="Calibri" pitchFamily="34" charset="-122"/>
                <a:cs typeface="Calibri" pitchFamily="34" charset="-120"/>
              </a:rPr>
              <a:t>Orthopedic pain not relieved by CDT</a:t>
            </a:r>
            <a:endParaRPr lang="en-US" sz="1400" dirty="0"/>
          </a:p>
        </p:txBody>
      </p:sp>
      <p:sp>
        <p:nvSpPr>
          <p:cNvPr id="14" name="Text 12"/>
          <p:cNvSpPr/>
          <p:nvPr/>
        </p:nvSpPr>
        <p:spPr>
          <a:xfrm>
            <a:off x="8292389" y="2743200"/>
            <a:ext cx="3112922" cy="3291840"/>
          </a:xfrm>
          <a:prstGeom prst="rect">
            <a:avLst/>
          </a:prstGeom>
          <a:noFill/>
          <a:ln/>
        </p:spPr>
        <p:txBody>
          <a:bodyPr wrap="square" lIns="0" tIns="0" rIns="0" bIns="0" rtlCol="0" anchor="t"/>
          <a:lstStyle/>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If pain persists once volume is controlled, it is a separate problem — treat it as one</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Knee and hip OA, unmasked or aggravated by years of altered loading</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Low back pain from chronic gait asymmetry</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Shoulder dysfunction after axillary dissection — capsular restriction, scar, AXD cording</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Plantar fasciitis and foot pain from changed weight-bearing</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Consider lipedema if pain is disproportionate, bilateral, and tender to light pressure</a:t>
            </a:r>
            <a:endParaRPr lang="en-US" sz="1250" dirty="0"/>
          </a:p>
          <a:p>
            <a:pPr marL="190500" indent="-1905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Standard orthopedic PT applies — manual therapy, loading progression, strengthening</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38</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BEYOND CDT</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Ongoing Surveillance</a:t>
            </a:r>
            <a:endParaRPr lang="en-US" sz="3400" dirty="0"/>
          </a:p>
        </p:txBody>
      </p:sp>
      <p:sp>
        <p:nvSpPr>
          <p:cNvPr id="5" name="Shape 3"/>
          <p:cNvSpPr/>
          <p:nvPr/>
        </p:nvSpPr>
        <p:spPr>
          <a:xfrm>
            <a:off x="566928" y="1691640"/>
            <a:ext cx="11057839" cy="2468880"/>
          </a:xfrm>
          <a:prstGeom prst="roundRect">
            <a:avLst>
              <a:gd name="adj" fmla="val 3333"/>
            </a:avLst>
          </a:prstGeom>
          <a:solidFill>
            <a:srgbClr val="FFFFFF"/>
          </a:solidFill>
          <a:ln w="12700">
            <a:solidFill>
              <a:srgbClr val="DCE6E8"/>
            </a:solidFill>
            <a:prstDash val="solid"/>
          </a:ln>
        </p:spPr>
      </p:sp>
      <p:sp>
        <p:nvSpPr>
          <p:cNvPr id="6" name="Text 4"/>
          <p:cNvSpPr/>
          <p:nvPr/>
        </p:nvSpPr>
        <p:spPr>
          <a:xfrm>
            <a:off x="859536" y="1828800"/>
            <a:ext cx="10472623" cy="329184"/>
          </a:xfrm>
          <a:prstGeom prst="rect">
            <a:avLst/>
          </a:prstGeom>
          <a:noFill/>
          <a:ln/>
        </p:spPr>
        <p:txBody>
          <a:bodyPr wrap="square" lIns="0" tIns="0" rIns="0" bIns="0" rtlCol="0" anchor="ctr"/>
          <a:lstStyle/>
          <a:p>
            <a:pPr indent="0" marL="0">
              <a:buNone/>
            </a:pPr>
            <a:r>
              <a:rPr lang="en-US" sz="1500" b="1" dirty="0">
                <a:solidFill>
                  <a:srgbClr val="025462"/>
                </a:solidFill>
                <a:latin typeface="Calibri" pitchFamily="34" charset="0"/>
                <a:ea typeface="Calibri" pitchFamily="34" charset="-122"/>
                <a:cs typeface="Calibri" pitchFamily="34" charset="-120"/>
              </a:rPr>
              <a:t>Ongoing surveillance</a:t>
            </a:r>
            <a:endParaRPr lang="en-US" sz="1500" dirty="0"/>
          </a:p>
        </p:txBody>
      </p:sp>
      <p:sp>
        <p:nvSpPr>
          <p:cNvPr id="7" name="Text 5"/>
          <p:cNvSpPr/>
          <p:nvPr/>
        </p:nvSpPr>
        <p:spPr>
          <a:xfrm>
            <a:off x="859536" y="2267712"/>
            <a:ext cx="10472623" cy="1828800"/>
          </a:xfrm>
          <a:prstGeom prst="rect">
            <a:avLst/>
          </a:prstGeom>
          <a:noFill/>
          <a:ln/>
        </p:spPr>
        <p:txBody>
          <a:bodyPr wrap="square" lIns="0" tIns="0" rIns="0" bIns="0" rtlCol="0" anchor="t"/>
          <a:lstStyle/>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Re-measure at regular intervals; catch regression early</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Garment replacement every 4–6 months</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Short repeat intensive phase if the limb regresses — this is expected, not failure</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Annual skin and nail review</a:t>
            </a:r>
            <a:endParaRPr lang="en-US" sz="1300" dirty="0"/>
          </a:p>
          <a:p>
            <a:pPr marL="190500" indent="-190500">
              <a:spcAft>
                <a:spcPts val="600"/>
              </a:spcAft>
              <a:buSzPct val="100000"/>
              <a:buChar char="•"/>
            </a:pPr>
            <a:r>
              <a:rPr lang="en-US" sz="1300" dirty="0">
                <a:solidFill>
                  <a:srgbClr val="1B2A30"/>
                </a:solidFill>
                <a:latin typeface="Calibri" pitchFamily="34" charset="0"/>
                <a:ea typeface="Calibri" pitchFamily="34" charset="-122"/>
                <a:cs typeface="Calibri" pitchFamily="34" charset="-120"/>
              </a:rPr>
              <a:t>Re-screen falls risk and function, not just limb volume</a:t>
            </a:r>
            <a:endParaRPr lang="en-US" sz="1300" dirty="0"/>
          </a:p>
        </p:txBody>
      </p:sp>
      <p:sp>
        <p:nvSpPr>
          <p:cNvPr id="8" name="Text 6"/>
          <p:cNvSpPr/>
          <p:nvPr/>
        </p:nvSpPr>
        <p:spPr>
          <a:xfrm>
            <a:off x="566928" y="4389120"/>
            <a:ext cx="11057839" cy="731520"/>
          </a:xfrm>
          <a:prstGeom prst="rect">
            <a:avLst/>
          </a:prstGeom>
          <a:noFill/>
          <a:ln/>
        </p:spPr>
        <p:txBody>
          <a:bodyPr wrap="square" lIns="0" tIns="0" rIns="0" bIns="0" rtlCol="0" anchor="t"/>
          <a:lstStyle/>
          <a:p>
            <a:pPr indent="0" marL="0">
              <a:buNone/>
            </a:pPr>
            <a:r>
              <a:rPr lang="en-US" sz="1250" i="1" dirty="0">
                <a:solidFill>
                  <a:srgbClr val="36454F"/>
                </a:solidFill>
                <a:latin typeface="Calibri" pitchFamily="34" charset="0"/>
                <a:ea typeface="Calibri" pitchFamily="34" charset="-122"/>
                <a:cs typeface="Calibri" pitchFamily="34" charset="-120"/>
              </a:rPr>
              <a:t>Patients are frequently discharged the moment limb volume plateaus. The gait, balance, and orthopedic findings underneath are what determine whether they actually return to their life — and they are squarely within PT scope.</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39</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SAFETY</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Red Flags &amp; Referral</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Stop treatment and refer when you see these.</a:t>
            </a:r>
            <a:endParaRPr lang="en-US" sz="1500" dirty="0"/>
          </a:p>
        </p:txBody>
      </p:sp>
      <p:pic>
        <p:nvPicPr>
          <p:cNvPr id="6" name="Image 0" descr="/home/claude/build/assets/photos/tbtw_cellulitis.jpg">    </p:cNvPr>
          <p:cNvPicPr>
            <a:picLocks noChangeAspect="1"/>
          </p:cNvPicPr>
          <p:nvPr/>
        </p:nvPicPr>
        <p:blipFill>
          <a:blip r:embed="rId1"/>
          <a:srcRect l="0" r="0" t="0" b="0"/>
          <a:stretch/>
        </p:blipFill>
        <p:spPr>
          <a:xfrm>
            <a:off x="6732727" y="2322576"/>
            <a:ext cx="4892040" cy="3291840"/>
          </a:xfrm>
          <a:prstGeom prst="rect">
            <a:avLst/>
          </a:prstGeom>
        </p:spPr>
      </p:pic>
      <p:sp>
        <p:nvSpPr>
          <p:cNvPr id="7" name="Shape 4"/>
          <p:cNvSpPr/>
          <p:nvPr/>
        </p:nvSpPr>
        <p:spPr>
          <a:xfrm>
            <a:off x="566928" y="2231136"/>
            <a:ext cx="5754319" cy="1550416"/>
          </a:xfrm>
          <a:prstGeom prst="roundRect">
            <a:avLst>
              <a:gd name="adj" fmla="val 5308"/>
            </a:avLst>
          </a:prstGeom>
          <a:solidFill>
            <a:srgbClr val="FFFFFF"/>
          </a:solidFill>
          <a:ln w="12700">
            <a:solidFill>
              <a:srgbClr val="DCE6E8"/>
            </a:solidFill>
            <a:prstDash val="solid"/>
          </a:ln>
        </p:spPr>
      </p:sp>
      <p:sp>
        <p:nvSpPr>
          <p:cNvPr id="8" name="Text 5"/>
          <p:cNvSpPr/>
          <p:nvPr/>
        </p:nvSpPr>
        <p:spPr>
          <a:xfrm>
            <a:off x="822960" y="2359152"/>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Urgent — same day</a:t>
            </a:r>
            <a:endParaRPr lang="en-US" sz="950" dirty="0"/>
          </a:p>
        </p:txBody>
      </p:sp>
      <p:sp>
        <p:nvSpPr>
          <p:cNvPr id="9" name="Text 6"/>
          <p:cNvSpPr/>
          <p:nvPr/>
        </p:nvSpPr>
        <p:spPr>
          <a:xfrm>
            <a:off x="822960" y="2706624"/>
            <a:ext cx="5242255" cy="910336"/>
          </a:xfrm>
          <a:prstGeom prst="rect">
            <a:avLst/>
          </a:prstGeom>
          <a:noFill/>
          <a:ln/>
        </p:spPr>
        <p:txBody>
          <a:bodyPr wrap="square" lIns="0" tIns="0" rIns="0" bIns="0" rtlCol="0" anchor="t"/>
          <a:lstStyle/>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Cellulitis</a:t>
            </a:r>
            <a:pPr indent="0" marL="0">
              <a:spcAft>
                <a:spcPts val="600"/>
              </a:spcAft>
              <a:buNone/>
            </a:pPr>
            <a:r>
              <a:rPr lang="en-US" sz="800" dirty="0">
                <a:solidFill>
                  <a:srgbClr val="1B2A30"/>
                </a:solidFill>
                <a:latin typeface="Calibri" pitchFamily="34" charset="0"/>
                <a:ea typeface="Calibri" pitchFamily="34" charset="-122"/>
                <a:cs typeface="Calibri" pitchFamily="34" charset="-120"/>
              </a:rPr>
              <a:t> — spreading erythema, heat, fever, sudden limb enlargement</a:t>
            </a:r>
            <a:endParaRPr lang="en-US" sz="800" dirty="0"/>
          </a:p>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Suspected DVT</a:t>
            </a:r>
            <a:pPr indent="0" marL="0">
              <a:spcAft>
                <a:spcPts val="600"/>
              </a:spcAft>
              <a:buNone/>
            </a:pPr>
            <a:r>
              <a:rPr lang="en-US" sz="800" dirty="0">
                <a:solidFill>
                  <a:srgbClr val="1B2A30"/>
                </a:solidFill>
                <a:latin typeface="Calibri" pitchFamily="34" charset="0"/>
                <a:ea typeface="Calibri" pitchFamily="34" charset="-122"/>
                <a:cs typeface="Calibri" pitchFamily="34" charset="-120"/>
              </a:rPr>
              <a:t> — acute unilateral swelling, calf pain, warmth</a:t>
            </a:r>
            <a:endParaRPr lang="en-US" sz="800" dirty="0"/>
          </a:p>
          <a:p>
            <a:pPr marL="190500" indent="-190500">
              <a:spcAft>
                <a:spcPts val="600"/>
              </a:spcAft>
              <a:buSzPct val="100000"/>
              <a:buChar char="•"/>
            </a:pPr>
            <a:r>
              <a:rPr lang="en-US" sz="800" b="1" dirty="0">
                <a:solidFill>
                  <a:srgbClr val="1B2A30"/>
                </a:solidFill>
                <a:latin typeface="Calibri" pitchFamily="34" charset="0"/>
                <a:ea typeface="Calibri" pitchFamily="34" charset="-122"/>
                <a:cs typeface="Calibri" pitchFamily="34" charset="-120"/>
              </a:rPr>
              <a:t>Decompensated heart failure</a:t>
            </a:r>
            <a:pPr indent="0" marL="0">
              <a:spcAft>
                <a:spcPts val="600"/>
              </a:spcAft>
              <a:buNone/>
            </a:pPr>
            <a:r>
              <a:rPr lang="en-US" sz="800" dirty="0">
                <a:solidFill>
                  <a:srgbClr val="1B2A30"/>
                </a:solidFill>
                <a:latin typeface="Calibri" pitchFamily="34" charset="0"/>
                <a:ea typeface="Calibri" pitchFamily="34" charset="-122"/>
                <a:cs typeface="Calibri" pitchFamily="34" charset="-120"/>
              </a:rPr>
              <a:t> — dyspnea, orthopnea, rapid bilateral swelling</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Systemic illness — fever, rigors, malaise, hypotension</a:t>
            </a:r>
            <a:endParaRPr lang="en-US" sz="800" dirty="0"/>
          </a:p>
        </p:txBody>
      </p:sp>
      <p:sp>
        <p:nvSpPr>
          <p:cNvPr id="10" name="Shape 7"/>
          <p:cNvSpPr/>
          <p:nvPr/>
        </p:nvSpPr>
        <p:spPr>
          <a:xfrm>
            <a:off x="566928" y="3946144"/>
            <a:ext cx="5754319" cy="1741424"/>
          </a:xfrm>
          <a:prstGeom prst="roundRect">
            <a:avLst>
              <a:gd name="adj" fmla="val 4726"/>
            </a:avLst>
          </a:prstGeom>
          <a:solidFill>
            <a:srgbClr val="FFFFFF"/>
          </a:solidFill>
          <a:ln w="12700">
            <a:solidFill>
              <a:srgbClr val="DCE6E8"/>
            </a:solidFill>
            <a:prstDash val="solid"/>
          </a:ln>
        </p:spPr>
      </p:sp>
      <p:sp>
        <p:nvSpPr>
          <p:cNvPr id="11" name="Text 8"/>
          <p:cNvSpPr/>
          <p:nvPr/>
        </p:nvSpPr>
        <p:spPr>
          <a:xfrm>
            <a:off x="822960" y="4074160"/>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Refer for workup</a:t>
            </a:r>
            <a:endParaRPr lang="en-US" sz="950" dirty="0"/>
          </a:p>
        </p:txBody>
      </p:sp>
      <p:sp>
        <p:nvSpPr>
          <p:cNvPr id="12" name="Text 9"/>
          <p:cNvSpPr/>
          <p:nvPr/>
        </p:nvSpPr>
        <p:spPr>
          <a:xfrm>
            <a:off x="822960" y="4421632"/>
            <a:ext cx="5242255" cy="1101344"/>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Rapid-onset or proximal-first swelling — possible malignant lymphedema</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Any new neurological deficit in the limb</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Non-healing wound or ulceration</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Unexplained weight loss, night sweats, palpable mass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Failure to respond to appropriately delivered CDT</a:t>
            </a:r>
            <a:endParaRPr lang="en-US" sz="800" dirty="0"/>
          </a:p>
        </p:txBody>
      </p:sp>
      <p:sp>
        <p:nvSpPr>
          <p:cNvPr id="13" name="Shape 10"/>
          <p:cNvSpPr/>
          <p:nvPr/>
        </p:nvSpPr>
        <p:spPr>
          <a:xfrm>
            <a:off x="566928" y="5852160"/>
            <a:ext cx="5754319" cy="1550416"/>
          </a:xfrm>
          <a:prstGeom prst="roundRect">
            <a:avLst>
              <a:gd name="adj" fmla="val 5308"/>
            </a:avLst>
          </a:prstGeom>
          <a:solidFill>
            <a:srgbClr val="FFFFFF"/>
          </a:solidFill>
          <a:ln w="12700">
            <a:solidFill>
              <a:srgbClr val="DCE6E8"/>
            </a:solidFill>
            <a:prstDash val="solid"/>
          </a:ln>
        </p:spPr>
      </p:sp>
      <p:sp>
        <p:nvSpPr>
          <p:cNvPr id="14" name="Text 11"/>
          <p:cNvSpPr/>
          <p:nvPr/>
        </p:nvSpPr>
        <p:spPr>
          <a:xfrm>
            <a:off x="822960" y="5980176"/>
            <a:ext cx="5242255" cy="274320"/>
          </a:xfrm>
          <a:prstGeom prst="rect">
            <a:avLst/>
          </a:prstGeom>
          <a:noFill/>
          <a:ln/>
        </p:spPr>
        <p:txBody>
          <a:bodyPr wrap="square" lIns="0" tIns="0" rIns="0" bIns="0" rtlCol="0" anchor="ctr"/>
          <a:lstStyle/>
          <a:p>
            <a:pPr indent="0" marL="0">
              <a:buNone/>
            </a:pPr>
            <a:r>
              <a:rPr lang="en-US" sz="950" b="1" dirty="0">
                <a:solidFill>
                  <a:srgbClr val="025462"/>
                </a:solidFill>
                <a:latin typeface="Calibri" pitchFamily="34" charset="0"/>
                <a:ea typeface="Calibri" pitchFamily="34" charset="-122"/>
                <a:cs typeface="Calibri" pitchFamily="34" charset="-120"/>
              </a:rPr>
              <a:t>Screen before starting</a:t>
            </a:r>
            <a:endParaRPr lang="en-US" sz="950" dirty="0"/>
          </a:p>
        </p:txBody>
      </p:sp>
      <p:sp>
        <p:nvSpPr>
          <p:cNvPr id="15" name="Text 12"/>
          <p:cNvSpPr/>
          <p:nvPr/>
        </p:nvSpPr>
        <p:spPr>
          <a:xfrm>
            <a:off x="822960" y="6327648"/>
            <a:ext cx="5242255" cy="910336"/>
          </a:xfrm>
          <a:prstGeom prst="rect">
            <a:avLst/>
          </a:prstGeom>
          <a:noFill/>
          <a:ln/>
        </p:spPr>
        <p:txBody>
          <a:bodyPr wrap="square" lIns="0" tIns="0" rIns="0" bIns="0" rtlCol="0" anchor="t"/>
          <a:lstStyle/>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Arterial status — ABI before lower limb compression</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Cardiac and renal status</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Active malignancy — coordinate with oncology</a:t>
            </a:r>
            <a:endParaRPr lang="en-US" sz="800" dirty="0"/>
          </a:p>
          <a:p>
            <a:pPr marL="190500" indent="-190500">
              <a:spcAft>
                <a:spcPts val="600"/>
              </a:spcAft>
              <a:buSzPct val="100000"/>
              <a:buChar char="•"/>
            </a:pPr>
            <a:r>
              <a:rPr lang="en-US" sz="800" dirty="0">
                <a:solidFill>
                  <a:srgbClr val="1B2A30"/>
                </a:solidFill>
                <a:latin typeface="Calibri" pitchFamily="34" charset="0"/>
                <a:ea typeface="Calibri" pitchFamily="34" charset="-122"/>
                <a:cs typeface="Calibri" pitchFamily="34" charset="-120"/>
              </a:rPr>
              <a:t>Peripheral neuropathy and sensory testing</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40</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APPENDIX</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Source Decks &amp; Reference Material  (1 of 2)</a:t>
            </a:r>
            <a:endParaRPr lang="en-US" sz="3400" dirty="0"/>
          </a:p>
        </p:txBody>
      </p:sp>
      <p:sp>
        <p:nvSpPr>
          <p:cNvPr id="5" name="Text 3"/>
          <p:cNvSpPr/>
          <p:nvPr/>
        </p:nvSpPr>
        <p:spPr>
          <a:xfrm>
            <a:off x="566928" y="1572768"/>
            <a:ext cx="11057839" cy="566928"/>
          </a:xfrm>
          <a:prstGeom prst="rect">
            <a:avLst/>
          </a:prstGeom>
          <a:noFill/>
          <a:ln/>
        </p:spPr>
        <p:txBody>
          <a:bodyPr wrap="square" lIns="0" tIns="0" rIns="0" bIns="0" rtlCol="0" anchor="t"/>
          <a:lstStyle/>
          <a:p>
            <a:pPr indent="0" marL="0">
              <a:buNone/>
            </a:pPr>
            <a:r>
              <a:rPr lang="en-US" sz="1500" dirty="0">
                <a:solidFill>
                  <a:srgbClr val="36454F"/>
                </a:solidFill>
                <a:latin typeface="Calibri" pitchFamily="34" charset="0"/>
                <a:ea typeface="Calibri" pitchFamily="34" charset="-122"/>
                <a:cs typeface="Calibri" pitchFamily="34" charset="-120"/>
              </a:rPr>
              <a:t>The existing presentations and documents this deck was built from. Open any of them to review how others have structured the same material.</a:t>
            </a:r>
            <a:endParaRPr lang="en-US" sz="1500" dirty="0"/>
          </a:p>
        </p:txBody>
      </p:sp>
      <p:sp>
        <p:nvSpPr>
          <p:cNvPr id="6" name="Shape 4"/>
          <p:cNvSpPr/>
          <p:nvPr/>
        </p:nvSpPr>
        <p:spPr>
          <a:xfrm>
            <a:off x="566928" y="2231136"/>
            <a:ext cx="11057839" cy="786384"/>
          </a:xfrm>
          <a:prstGeom prst="roundRect">
            <a:avLst>
              <a:gd name="adj" fmla="val 10465"/>
            </a:avLst>
          </a:prstGeom>
          <a:solidFill>
            <a:srgbClr val="FFFFFF"/>
          </a:solidFill>
          <a:ln w="12700">
            <a:solidFill>
              <a:srgbClr val="DCE6E8"/>
            </a:solidFill>
            <a:prstDash val="solid"/>
          </a:ln>
        </p:spPr>
      </p:sp>
      <p:sp>
        <p:nvSpPr>
          <p:cNvPr id="7" name="Text 5"/>
          <p:cNvSpPr/>
          <p:nvPr/>
        </p:nvSpPr>
        <p:spPr>
          <a:xfrm>
            <a:off x="804672" y="2322576"/>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ISL 2023 Consensus Document</a:t>
            </a:r>
            <a:endParaRPr lang="en-US" sz="1300" dirty="0"/>
          </a:p>
        </p:txBody>
      </p:sp>
      <p:sp>
        <p:nvSpPr>
          <p:cNvPr id="8" name="Text 6"/>
          <p:cNvSpPr/>
          <p:nvPr/>
        </p:nvSpPr>
        <p:spPr>
          <a:xfrm>
            <a:off x="9521647" y="2322576"/>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PDF · primary source</a:t>
            </a:r>
            <a:endParaRPr lang="en-US" sz="950" dirty="0"/>
          </a:p>
        </p:txBody>
      </p:sp>
      <p:sp>
        <p:nvSpPr>
          <p:cNvPr id="9" name="Text 7"/>
          <p:cNvSpPr/>
          <p:nvPr/>
        </p:nvSpPr>
        <p:spPr>
          <a:xfrm>
            <a:off x="804672" y="2560320"/>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The staging authority. Stages 0–III, diagnosis, and treatment.</a:t>
            </a:r>
            <a:endParaRPr lang="en-US" sz="1050" dirty="0"/>
          </a:p>
        </p:txBody>
      </p:sp>
      <p:sp>
        <p:nvSpPr>
          <p:cNvPr id="10" name="Text 8"/>
          <p:cNvSpPr/>
          <p:nvPr/>
        </p:nvSpPr>
        <p:spPr>
          <a:xfrm>
            <a:off x="804672" y="2761488"/>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https://www.isl.arizona.edu/sites/default/files/2024-11/THE-DIAGNOSIS-AND-TREATMENT-OF-PERIPHERAL-LYMPHEDEMA-2023-CONSENSUS-DOCUMENT-OF-THE-INTERNATIONAL-SOCIETY-OF-LYMPHOLOGY.pdf</a:t>
            </a:r>
            <a:endParaRPr lang="en-US" sz="850" dirty="0"/>
          </a:p>
        </p:txBody>
      </p:sp>
      <p:sp>
        <p:nvSpPr>
          <p:cNvPr id="11" name="Shape 9"/>
          <p:cNvSpPr/>
          <p:nvPr/>
        </p:nvSpPr>
        <p:spPr>
          <a:xfrm>
            <a:off x="566928" y="3127248"/>
            <a:ext cx="11057839" cy="786384"/>
          </a:xfrm>
          <a:prstGeom prst="roundRect">
            <a:avLst>
              <a:gd name="adj" fmla="val 10465"/>
            </a:avLst>
          </a:prstGeom>
          <a:solidFill>
            <a:srgbClr val="FFFFFF"/>
          </a:solidFill>
          <a:ln w="12700">
            <a:solidFill>
              <a:srgbClr val="DCE6E8"/>
            </a:solidFill>
            <a:prstDash val="solid"/>
          </a:ln>
        </p:spPr>
      </p:sp>
      <p:sp>
        <p:nvSpPr>
          <p:cNvPr id="12" name="Text 10"/>
          <p:cNvSpPr/>
          <p:nvPr/>
        </p:nvSpPr>
        <p:spPr>
          <a:xfrm>
            <a:off x="804672" y="3218688"/>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Linda Koehler, PT, CLT-LANA — Univ. of Minnesota</a:t>
            </a:r>
            <a:endParaRPr lang="en-US" sz="1300" dirty="0"/>
          </a:p>
        </p:txBody>
      </p:sp>
      <p:sp>
        <p:nvSpPr>
          <p:cNvPr id="13" name="Text 11"/>
          <p:cNvSpPr/>
          <p:nvPr/>
        </p:nvSpPr>
        <p:spPr>
          <a:xfrm>
            <a:off x="9521647" y="3218688"/>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Slide deck</a:t>
            </a:r>
            <a:endParaRPr lang="en-US" sz="950" dirty="0"/>
          </a:p>
        </p:txBody>
      </p:sp>
      <p:sp>
        <p:nvSpPr>
          <p:cNvPr id="14" name="Text 12"/>
          <p:cNvSpPr/>
          <p:nvPr/>
        </p:nvSpPr>
        <p:spPr>
          <a:xfrm>
            <a:off x="804672" y="3456432"/>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Best PT-focused deck found. CDT components, wound care, pain management.</a:t>
            </a:r>
            <a:endParaRPr lang="en-US" sz="1050" dirty="0"/>
          </a:p>
        </p:txBody>
      </p:sp>
      <p:sp>
        <p:nvSpPr>
          <p:cNvPr id="15" name="Text 13"/>
          <p:cNvSpPr/>
          <p:nvPr/>
        </p:nvSpPr>
        <p:spPr>
          <a:xfrm>
            <a:off x="804672" y="3657600"/>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https://www.slideserve.com/collin/lymphedema-overview-and-treatment-considerations</a:t>
            </a:r>
            <a:endParaRPr lang="en-US" sz="850" dirty="0"/>
          </a:p>
        </p:txBody>
      </p:sp>
      <p:sp>
        <p:nvSpPr>
          <p:cNvPr id="16" name="Shape 14"/>
          <p:cNvSpPr/>
          <p:nvPr/>
        </p:nvSpPr>
        <p:spPr>
          <a:xfrm>
            <a:off x="566928" y="4023360"/>
            <a:ext cx="11057839" cy="786384"/>
          </a:xfrm>
          <a:prstGeom prst="roundRect">
            <a:avLst>
              <a:gd name="adj" fmla="val 10465"/>
            </a:avLst>
          </a:prstGeom>
          <a:solidFill>
            <a:srgbClr val="FFFFFF"/>
          </a:solidFill>
          <a:ln w="12700">
            <a:solidFill>
              <a:srgbClr val="DCE6E8"/>
            </a:solidFill>
            <a:prstDash val="solid"/>
          </a:ln>
        </p:spPr>
      </p:sp>
      <p:sp>
        <p:nvSpPr>
          <p:cNvPr id="17" name="Text 15"/>
          <p:cNvSpPr/>
          <p:nvPr/>
        </p:nvSpPr>
        <p:spPr>
          <a:xfrm>
            <a:off x="804672" y="4114800"/>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Christina Hankins, PT, CLT, CWS — Lymphedema</a:t>
            </a:r>
            <a:endParaRPr lang="en-US" sz="1300" dirty="0"/>
          </a:p>
        </p:txBody>
      </p:sp>
      <p:sp>
        <p:nvSpPr>
          <p:cNvPr id="18" name="Text 16"/>
          <p:cNvSpPr/>
          <p:nvPr/>
        </p:nvSpPr>
        <p:spPr>
          <a:xfrm>
            <a:off x="9521647" y="4114800"/>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Slide deck</a:t>
            </a:r>
            <a:endParaRPr lang="en-US" sz="950" dirty="0"/>
          </a:p>
        </p:txBody>
      </p:sp>
      <p:sp>
        <p:nvSpPr>
          <p:cNvPr id="19" name="Text 17"/>
          <p:cNvSpPr/>
          <p:nvPr/>
        </p:nvSpPr>
        <p:spPr>
          <a:xfrm>
            <a:off x="804672" y="4352544"/>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Good objectives and outline structure to model.</a:t>
            </a:r>
            <a:endParaRPr lang="en-US" sz="1050" dirty="0"/>
          </a:p>
        </p:txBody>
      </p:sp>
      <p:sp>
        <p:nvSpPr>
          <p:cNvPr id="20" name="Text 18"/>
          <p:cNvSpPr/>
          <p:nvPr/>
        </p:nvSpPr>
        <p:spPr>
          <a:xfrm>
            <a:off x="804672" y="4553712"/>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https://www.slideserve.com/lilly/lymphedema</a:t>
            </a:r>
            <a:endParaRPr lang="en-US" sz="850" dirty="0"/>
          </a:p>
        </p:txBody>
      </p:sp>
      <p:sp>
        <p:nvSpPr>
          <p:cNvPr id="21" name="Shape 19"/>
          <p:cNvSpPr/>
          <p:nvPr/>
        </p:nvSpPr>
        <p:spPr>
          <a:xfrm>
            <a:off x="566928" y="4919472"/>
            <a:ext cx="11057839" cy="786384"/>
          </a:xfrm>
          <a:prstGeom prst="roundRect">
            <a:avLst>
              <a:gd name="adj" fmla="val 10465"/>
            </a:avLst>
          </a:prstGeom>
          <a:solidFill>
            <a:srgbClr val="FFFFFF"/>
          </a:solidFill>
          <a:ln w="12700">
            <a:solidFill>
              <a:srgbClr val="DCE6E8"/>
            </a:solidFill>
            <a:prstDash val="solid"/>
          </a:ln>
        </p:spPr>
      </p:sp>
      <p:sp>
        <p:nvSpPr>
          <p:cNvPr id="22" name="Text 20"/>
          <p:cNvSpPr/>
          <p:nvPr/>
        </p:nvSpPr>
        <p:spPr>
          <a:xfrm>
            <a:off x="804672" y="5010912"/>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Lymphedema Therapy (compiled decks)</a:t>
            </a:r>
            <a:endParaRPr lang="en-US" sz="1300" dirty="0"/>
          </a:p>
        </p:txBody>
      </p:sp>
      <p:sp>
        <p:nvSpPr>
          <p:cNvPr id="23" name="Text 21"/>
          <p:cNvSpPr/>
          <p:nvPr/>
        </p:nvSpPr>
        <p:spPr>
          <a:xfrm>
            <a:off x="9521647" y="5010912"/>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Slide deck</a:t>
            </a:r>
            <a:endParaRPr lang="en-US" sz="950" dirty="0"/>
          </a:p>
        </p:txBody>
      </p:sp>
      <p:sp>
        <p:nvSpPr>
          <p:cNvPr id="24" name="Text 22"/>
          <p:cNvSpPr/>
          <p:nvPr/>
        </p:nvSpPr>
        <p:spPr>
          <a:xfrm>
            <a:off x="804672" y="5248656"/>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Several decks on one page, incl. stage descriptions and exercise evidence.</a:t>
            </a:r>
            <a:endParaRPr lang="en-US" sz="1050" dirty="0"/>
          </a:p>
        </p:txBody>
      </p:sp>
      <p:sp>
        <p:nvSpPr>
          <p:cNvPr id="25" name="Text 23"/>
          <p:cNvSpPr/>
          <p:nvPr/>
        </p:nvSpPr>
        <p:spPr>
          <a:xfrm>
            <a:off x="804672" y="5449824"/>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https://www.slideserve.com/lael/lymphedema-therapy</a:t>
            </a:r>
            <a:endParaRPr lang="en-US" sz="850" dirty="0"/>
          </a:p>
        </p:txBody>
      </p:sp>
      <p:sp>
        <p:nvSpPr>
          <p:cNvPr id="26" name="Shape 24"/>
          <p:cNvSpPr/>
          <p:nvPr/>
        </p:nvSpPr>
        <p:spPr>
          <a:xfrm>
            <a:off x="566928" y="5815584"/>
            <a:ext cx="11057839" cy="786384"/>
          </a:xfrm>
          <a:prstGeom prst="roundRect">
            <a:avLst>
              <a:gd name="adj" fmla="val 10465"/>
            </a:avLst>
          </a:prstGeom>
          <a:solidFill>
            <a:srgbClr val="FFFFFF"/>
          </a:solidFill>
          <a:ln w="12700">
            <a:solidFill>
              <a:srgbClr val="DCE6E8"/>
            </a:solidFill>
            <a:prstDash val="solid"/>
          </a:ln>
        </p:spPr>
      </p:sp>
      <p:sp>
        <p:nvSpPr>
          <p:cNvPr id="27" name="Text 25"/>
          <p:cNvSpPr/>
          <p:nvPr/>
        </p:nvSpPr>
        <p:spPr>
          <a:xfrm>
            <a:off x="804672" y="5907024"/>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Lymphedema — assorted author decks</a:t>
            </a:r>
            <a:endParaRPr lang="en-US" sz="1300" dirty="0"/>
          </a:p>
        </p:txBody>
      </p:sp>
      <p:sp>
        <p:nvSpPr>
          <p:cNvPr id="28" name="Text 26"/>
          <p:cNvSpPr/>
          <p:nvPr/>
        </p:nvSpPr>
        <p:spPr>
          <a:xfrm>
            <a:off x="9521647" y="5907024"/>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Slide deck</a:t>
            </a:r>
            <a:endParaRPr lang="en-US" sz="950" dirty="0"/>
          </a:p>
        </p:txBody>
      </p:sp>
      <p:sp>
        <p:nvSpPr>
          <p:cNvPr id="29" name="Text 27"/>
          <p:cNvSpPr/>
          <p:nvPr/>
        </p:nvSpPr>
        <p:spPr>
          <a:xfrm>
            <a:off x="804672" y="6144768"/>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Ernandez, Richter, Arslan, Johansson. Mixed quality; useful for framing.</a:t>
            </a:r>
            <a:endParaRPr lang="en-US" sz="1050" dirty="0"/>
          </a:p>
        </p:txBody>
      </p:sp>
      <p:sp>
        <p:nvSpPr>
          <p:cNvPr id="30" name="Text 28"/>
          <p:cNvSpPr/>
          <p:nvPr/>
        </p:nvSpPr>
        <p:spPr>
          <a:xfrm>
            <a:off x="804672" y="6345936"/>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https://www.slideserve.com/shoshana-reynolds/lymphedema-powerpoint-ppt-presentation</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41</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APPENDIX</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Source Decks &amp; Reference Material  (2 of 2)</a:t>
            </a:r>
            <a:endParaRPr lang="en-US" sz="3400" dirty="0"/>
          </a:p>
        </p:txBody>
      </p:sp>
      <p:sp>
        <p:nvSpPr>
          <p:cNvPr id="5" name="Shape 3"/>
          <p:cNvSpPr/>
          <p:nvPr/>
        </p:nvSpPr>
        <p:spPr>
          <a:xfrm>
            <a:off x="566928" y="1691640"/>
            <a:ext cx="11057839" cy="786384"/>
          </a:xfrm>
          <a:prstGeom prst="roundRect">
            <a:avLst>
              <a:gd name="adj" fmla="val 10465"/>
            </a:avLst>
          </a:prstGeom>
          <a:solidFill>
            <a:srgbClr val="FFFFFF"/>
          </a:solidFill>
          <a:ln w="12700">
            <a:solidFill>
              <a:srgbClr val="DCE6E8"/>
            </a:solidFill>
            <a:prstDash val="solid"/>
          </a:ln>
        </p:spPr>
      </p:sp>
      <p:sp>
        <p:nvSpPr>
          <p:cNvPr id="6" name="Text 4"/>
          <p:cNvSpPr/>
          <p:nvPr/>
        </p:nvSpPr>
        <p:spPr>
          <a:xfrm>
            <a:off x="804672" y="1783080"/>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Clinical Outcomes After PT for Secondary Lymphedema</a:t>
            </a:r>
            <a:endParaRPr lang="en-US" sz="1300" dirty="0"/>
          </a:p>
        </p:txBody>
      </p:sp>
      <p:sp>
        <p:nvSpPr>
          <p:cNvPr id="7" name="Text 5"/>
          <p:cNvSpPr/>
          <p:nvPr/>
        </p:nvSpPr>
        <p:spPr>
          <a:xfrm>
            <a:off x="9521647" y="1783080"/>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Case report</a:t>
            </a:r>
            <a:endParaRPr lang="en-US" sz="950" dirty="0"/>
          </a:p>
        </p:txBody>
      </p:sp>
      <p:sp>
        <p:nvSpPr>
          <p:cNvPr id="8" name="Text 6"/>
          <p:cNvSpPr/>
          <p:nvPr/>
        </p:nvSpPr>
        <p:spPr>
          <a:xfrm>
            <a:off x="804672" y="2020824"/>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Zuther &amp; Norton staging language in plain English.</a:t>
            </a:r>
            <a:endParaRPr lang="en-US" sz="1050" dirty="0"/>
          </a:p>
        </p:txBody>
      </p:sp>
      <p:sp>
        <p:nvSpPr>
          <p:cNvPr id="9" name="Text 7"/>
          <p:cNvSpPr/>
          <p:nvPr/>
        </p:nvSpPr>
        <p:spPr>
          <a:xfrm>
            <a:off x="804672" y="2221992"/>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https://www.ncbi.nlm.nih.gov/pmc/articles/PMC6666846/</a:t>
            </a:r>
            <a:endParaRPr lang="en-US" sz="850" dirty="0"/>
          </a:p>
        </p:txBody>
      </p:sp>
      <p:sp>
        <p:nvSpPr>
          <p:cNvPr id="10" name="Shape 8"/>
          <p:cNvSpPr/>
          <p:nvPr/>
        </p:nvSpPr>
        <p:spPr>
          <a:xfrm>
            <a:off x="566928" y="2587752"/>
            <a:ext cx="11057839" cy="786384"/>
          </a:xfrm>
          <a:prstGeom prst="roundRect">
            <a:avLst>
              <a:gd name="adj" fmla="val 10465"/>
            </a:avLst>
          </a:prstGeom>
          <a:solidFill>
            <a:srgbClr val="FFFFFF"/>
          </a:solidFill>
          <a:ln w="12700">
            <a:solidFill>
              <a:srgbClr val="DCE6E8"/>
            </a:solidFill>
            <a:prstDash val="solid"/>
          </a:ln>
        </p:spPr>
      </p:sp>
      <p:sp>
        <p:nvSpPr>
          <p:cNvPr id="11" name="Text 9"/>
          <p:cNvSpPr/>
          <p:nvPr/>
        </p:nvSpPr>
        <p:spPr>
          <a:xfrm>
            <a:off x="804672" y="2679192"/>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Lipedema Foundation — Staging</a:t>
            </a:r>
            <a:endParaRPr lang="en-US" sz="1300" dirty="0"/>
          </a:p>
        </p:txBody>
      </p:sp>
      <p:sp>
        <p:nvSpPr>
          <p:cNvPr id="12" name="Text 10"/>
          <p:cNvSpPr/>
          <p:nvPr/>
        </p:nvSpPr>
        <p:spPr>
          <a:xfrm>
            <a:off x="9521647" y="2679192"/>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Reference + photos</a:t>
            </a:r>
            <a:endParaRPr lang="en-US" sz="950" dirty="0"/>
          </a:p>
        </p:txBody>
      </p:sp>
      <p:sp>
        <p:nvSpPr>
          <p:cNvPr id="13" name="Text 11"/>
          <p:cNvSpPr/>
          <p:nvPr/>
        </p:nvSpPr>
        <p:spPr>
          <a:xfrm>
            <a:off x="804672" y="2916936"/>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Best lipedema staging photos. Note: they no longer use “Stage 4”.</a:t>
            </a:r>
            <a:endParaRPr lang="en-US" sz="1050" dirty="0"/>
          </a:p>
        </p:txBody>
      </p:sp>
      <p:sp>
        <p:nvSpPr>
          <p:cNvPr id="14" name="Text 12"/>
          <p:cNvSpPr/>
          <p:nvPr/>
        </p:nvSpPr>
        <p:spPr>
          <a:xfrm>
            <a:off x="804672" y="3118104"/>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https://www.lipedema.org/staging</a:t>
            </a:r>
            <a:endParaRPr lang="en-US" sz="850" dirty="0"/>
          </a:p>
        </p:txBody>
      </p:sp>
      <p:sp>
        <p:nvSpPr>
          <p:cNvPr id="15" name="Shape 13"/>
          <p:cNvSpPr/>
          <p:nvPr/>
        </p:nvSpPr>
        <p:spPr>
          <a:xfrm>
            <a:off x="566928" y="3483864"/>
            <a:ext cx="11057839" cy="786384"/>
          </a:xfrm>
          <a:prstGeom prst="roundRect">
            <a:avLst>
              <a:gd name="adj" fmla="val 10465"/>
            </a:avLst>
          </a:prstGeom>
          <a:solidFill>
            <a:srgbClr val="FFFFFF"/>
          </a:solidFill>
          <a:ln w="12700">
            <a:solidFill>
              <a:srgbClr val="DCE6E8"/>
            </a:solidFill>
            <a:prstDash val="solid"/>
          </a:ln>
        </p:spPr>
      </p:sp>
      <p:sp>
        <p:nvSpPr>
          <p:cNvPr id="16" name="Text 14"/>
          <p:cNvSpPr/>
          <p:nvPr/>
        </p:nvSpPr>
        <p:spPr>
          <a:xfrm>
            <a:off x="804672" y="3575304"/>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Understanding Stage 4 Lipedema: Lipo-Lymphedema</a:t>
            </a:r>
            <a:endParaRPr lang="en-US" sz="1300" dirty="0"/>
          </a:p>
        </p:txBody>
      </p:sp>
      <p:sp>
        <p:nvSpPr>
          <p:cNvPr id="17" name="Text 15"/>
          <p:cNvSpPr/>
          <p:nvPr/>
        </p:nvSpPr>
        <p:spPr>
          <a:xfrm>
            <a:off x="9521647" y="3575304"/>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Article</a:t>
            </a:r>
            <a:endParaRPr lang="en-US" sz="950" dirty="0"/>
          </a:p>
        </p:txBody>
      </p:sp>
      <p:sp>
        <p:nvSpPr>
          <p:cNvPr id="18" name="Text 16"/>
          <p:cNvSpPr/>
          <p:nvPr/>
        </p:nvSpPr>
        <p:spPr>
          <a:xfrm>
            <a:off x="804672" y="3813048"/>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The transition from lipedema to lipo-lymphedema.</a:t>
            </a:r>
            <a:endParaRPr lang="en-US" sz="1050" dirty="0"/>
          </a:p>
        </p:txBody>
      </p:sp>
      <p:sp>
        <p:nvSpPr>
          <p:cNvPr id="19" name="Text 17"/>
          <p:cNvSpPr/>
          <p:nvPr/>
        </p:nvSpPr>
        <p:spPr>
          <a:xfrm>
            <a:off x="804672" y="4014216"/>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https://www.totallipedemacare.com/understanding-stage-4-lipedema-lipo-lymphedema/</a:t>
            </a:r>
            <a:endParaRPr lang="en-US" sz="850" dirty="0"/>
          </a:p>
        </p:txBody>
      </p:sp>
      <p:sp>
        <p:nvSpPr>
          <p:cNvPr id="20" name="Shape 18"/>
          <p:cNvSpPr/>
          <p:nvPr/>
        </p:nvSpPr>
        <p:spPr>
          <a:xfrm>
            <a:off x="566928" y="4379976"/>
            <a:ext cx="11057839" cy="786384"/>
          </a:xfrm>
          <a:prstGeom prst="roundRect">
            <a:avLst>
              <a:gd name="adj" fmla="val 10465"/>
            </a:avLst>
          </a:prstGeom>
          <a:solidFill>
            <a:srgbClr val="FFFFFF"/>
          </a:solidFill>
          <a:ln w="12700">
            <a:solidFill>
              <a:srgbClr val="DCE6E8"/>
            </a:solidFill>
            <a:prstDash val="solid"/>
          </a:ln>
        </p:spPr>
      </p:sp>
      <p:sp>
        <p:nvSpPr>
          <p:cNvPr id="21" name="Text 19"/>
          <p:cNvSpPr/>
          <p:nvPr/>
        </p:nvSpPr>
        <p:spPr>
          <a:xfrm>
            <a:off x="804672" y="4471416"/>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Differential diagnostics of lipedema and lymphedema</a:t>
            </a:r>
            <a:endParaRPr lang="en-US" sz="1300" dirty="0"/>
          </a:p>
        </p:txBody>
      </p:sp>
      <p:sp>
        <p:nvSpPr>
          <p:cNvPr id="22" name="Text 20"/>
          <p:cNvSpPr/>
          <p:nvPr/>
        </p:nvSpPr>
        <p:spPr>
          <a:xfrm>
            <a:off x="9521647" y="4471416"/>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PubMed</a:t>
            </a:r>
            <a:endParaRPr lang="en-US" sz="950" dirty="0"/>
          </a:p>
        </p:txBody>
      </p:sp>
      <p:sp>
        <p:nvSpPr>
          <p:cNvPr id="23" name="Text 21"/>
          <p:cNvSpPr/>
          <p:nvPr/>
        </p:nvSpPr>
        <p:spPr>
          <a:xfrm>
            <a:off x="804672" y="4709160"/>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Practical guideline. Basis for the differential table.</a:t>
            </a:r>
            <a:endParaRPr lang="en-US" sz="1050" dirty="0"/>
          </a:p>
        </p:txBody>
      </p:sp>
      <p:sp>
        <p:nvSpPr>
          <p:cNvPr id="24" name="Text 22"/>
          <p:cNvSpPr/>
          <p:nvPr/>
        </p:nvSpPr>
        <p:spPr>
          <a:xfrm>
            <a:off x="804672" y="4910328"/>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https://pubmed.ncbi.nlm.nih.gov/30280233/</a:t>
            </a:r>
            <a:endParaRPr lang="en-US" sz="850" dirty="0"/>
          </a:p>
        </p:txBody>
      </p:sp>
      <p:sp>
        <p:nvSpPr>
          <p:cNvPr id="25" name="Shape 23"/>
          <p:cNvSpPr/>
          <p:nvPr/>
        </p:nvSpPr>
        <p:spPr>
          <a:xfrm>
            <a:off x="566928" y="5276088"/>
            <a:ext cx="11057839" cy="786384"/>
          </a:xfrm>
          <a:prstGeom prst="roundRect">
            <a:avLst>
              <a:gd name="adj" fmla="val 10465"/>
            </a:avLst>
          </a:prstGeom>
          <a:solidFill>
            <a:srgbClr val="FFFFFF"/>
          </a:solidFill>
          <a:ln w="12700">
            <a:solidFill>
              <a:srgbClr val="DCE6E8"/>
            </a:solidFill>
            <a:prstDash val="solid"/>
          </a:ln>
        </p:spPr>
      </p:sp>
      <p:sp>
        <p:nvSpPr>
          <p:cNvPr id="26" name="Text 24"/>
          <p:cNvSpPr/>
          <p:nvPr/>
        </p:nvSpPr>
        <p:spPr>
          <a:xfrm>
            <a:off x="804672" y="5367528"/>
            <a:ext cx="8680399" cy="256032"/>
          </a:xfrm>
          <a:prstGeom prst="rect">
            <a:avLst/>
          </a:prstGeom>
          <a:noFill/>
          <a:ln/>
        </p:spPr>
        <p:txBody>
          <a:bodyPr wrap="square" lIns="0" tIns="0" rIns="0" bIns="0" rtlCol="0" anchor="ctr"/>
          <a:lstStyle/>
          <a:p>
            <a:pPr indent="0" marL="0">
              <a:buNone/>
            </a:pPr>
            <a:r>
              <a:rPr lang="en-US" sz="1300" b="1" dirty="0">
                <a:solidFill>
                  <a:srgbClr val="025462"/>
                </a:solidFill>
                <a:latin typeface="Calibri" pitchFamily="34" charset="0"/>
                <a:ea typeface="Calibri" pitchFamily="34" charset="-122"/>
                <a:cs typeface="Calibri" pitchFamily="34" charset="-120"/>
              </a:rPr>
              <a:t>Lipedema vs lymphedema — Northwell Health</a:t>
            </a:r>
            <a:endParaRPr lang="en-US" sz="1300" dirty="0"/>
          </a:p>
        </p:txBody>
      </p:sp>
      <p:sp>
        <p:nvSpPr>
          <p:cNvPr id="27" name="Text 25"/>
          <p:cNvSpPr/>
          <p:nvPr/>
        </p:nvSpPr>
        <p:spPr>
          <a:xfrm>
            <a:off x="9521647" y="5367528"/>
            <a:ext cx="1828800" cy="256032"/>
          </a:xfrm>
          <a:prstGeom prst="rect">
            <a:avLst/>
          </a:prstGeom>
          <a:noFill/>
          <a:ln/>
        </p:spPr>
        <p:txBody>
          <a:bodyPr wrap="square" lIns="0" tIns="0" rIns="0" bIns="0" rtlCol="0" anchor="ctr"/>
          <a:lstStyle/>
          <a:p>
            <a:pPr algn="r" indent="0" marL="0">
              <a:buNone/>
            </a:pPr>
            <a:r>
              <a:rPr lang="en-US" sz="950" b="1" dirty="0">
                <a:solidFill>
                  <a:srgbClr val="028090"/>
                </a:solidFill>
                <a:latin typeface="Calibri" pitchFamily="34" charset="0"/>
                <a:ea typeface="Calibri" pitchFamily="34" charset="-122"/>
                <a:cs typeface="Calibri" pitchFamily="34" charset="-120"/>
              </a:rPr>
              <a:t>Article</a:t>
            </a:r>
            <a:endParaRPr lang="en-US" sz="950" dirty="0"/>
          </a:p>
        </p:txBody>
      </p:sp>
      <p:sp>
        <p:nvSpPr>
          <p:cNvPr id="28" name="Text 26"/>
          <p:cNvSpPr/>
          <p:nvPr/>
        </p:nvSpPr>
        <p:spPr>
          <a:xfrm>
            <a:off x="804672" y="5605272"/>
            <a:ext cx="10582351" cy="201168"/>
          </a:xfrm>
          <a:prstGeom prst="rect">
            <a:avLst/>
          </a:prstGeom>
          <a:noFill/>
          <a:ln/>
        </p:spPr>
        <p:txBody>
          <a:bodyPr wrap="square" lIns="0" tIns="0" rIns="0" bIns="0" rtlCol="0" anchor="ctr"/>
          <a:lstStyle/>
          <a:p>
            <a:pPr indent="0" marL="0">
              <a:buNone/>
            </a:pPr>
            <a:r>
              <a:rPr lang="en-US" sz="1050" dirty="0">
                <a:solidFill>
                  <a:srgbClr val="36454F"/>
                </a:solidFill>
                <a:latin typeface="Calibri" pitchFamily="34" charset="0"/>
                <a:ea typeface="Calibri" pitchFamily="34" charset="-122"/>
                <a:cs typeface="Calibri" pitchFamily="34" charset="-120"/>
              </a:rPr>
              <a:t>Plain-language framing useful for patient education.</a:t>
            </a:r>
            <a:endParaRPr lang="en-US" sz="1050" dirty="0"/>
          </a:p>
        </p:txBody>
      </p:sp>
      <p:sp>
        <p:nvSpPr>
          <p:cNvPr id="29" name="Text 27"/>
          <p:cNvSpPr/>
          <p:nvPr/>
        </p:nvSpPr>
        <p:spPr>
          <a:xfrm>
            <a:off x="804672" y="5806440"/>
            <a:ext cx="10582351" cy="201168"/>
          </a:xfrm>
          <a:prstGeom prst="rect">
            <a:avLst/>
          </a:prstGeom>
          <a:noFill/>
          <a:ln/>
        </p:spPr>
        <p:txBody>
          <a:bodyPr wrap="square" lIns="0" tIns="0" rIns="0" bIns="0" rtlCol="0" anchor="ctr"/>
          <a:lstStyle/>
          <a:p>
            <a:pPr indent="0" marL="0">
              <a:buNone/>
            </a:pPr>
            <a:r>
              <a:rPr lang="en-US" sz="8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https://www.northwell.edu/news/insights/lipedema-vs-lymphedema-what-to-know</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8F9"/>
        </a:solidFill>
      </p:bgPr>
    </p:bg>
    <p:spTree>
      <p:nvGrpSpPr>
        <p:cNvPr id="1" name=""/>
        <p:cNvGrpSpPr/>
        <p:nvPr/>
      </p:nvGrpSpPr>
      <p:grpSpPr>
        <a:xfrm>
          <a:off x="0" y="0"/>
          <a:ext cx="0" cy="0"/>
          <a:chOff x="0" y="0"/>
          <a:chExt cx="0" cy="0"/>
        </a:xfrm>
      </p:grpSpPr>
      <p:sp>
        <p:nvSpPr>
          <p:cNvPr id="2" name="Text 0"/>
          <p:cNvSpPr/>
          <p:nvPr/>
        </p:nvSpPr>
        <p:spPr>
          <a:xfrm>
            <a:off x="11414455" y="6382512"/>
            <a:ext cx="457200" cy="274320"/>
          </a:xfrm>
          <a:prstGeom prst="rect">
            <a:avLst/>
          </a:prstGeom>
          <a:noFill/>
          <a:ln/>
        </p:spPr>
        <p:txBody>
          <a:bodyPr wrap="square" lIns="0" tIns="0" rIns="0" bIns="0" rtlCol="0" anchor="ctr"/>
          <a:lstStyle/>
          <a:p>
            <a:pPr algn="r" indent="0" marL="0">
              <a:buNone/>
            </a:pPr>
            <a:r>
              <a:rPr lang="en-US" sz="1000" dirty="0">
                <a:solidFill>
                  <a:srgbClr val="9BB0B8"/>
                </a:solidFill>
                <a:latin typeface="Calibri" pitchFamily="34" charset="0"/>
                <a:ea typeface="Calibri" pitchFamily="34" charset="-122"/>
                <a:cs typeface="Calibri" pitchFamily="34" charset="-120"/>
              </a:rPr>
              <a:t>42</a:t>
            </a:r>
            <a:endParaRPr lang="en-US" sz="1000" dirty="0"/>
          </a:p>
        </p:txBody>
      </p:sp>
      <p:sp>
        <p:nvSpPr>
          <p:cNvPr id="3" name="Text 1"/>
          <p:cNvSpPr/>
          <p:nvPr/>
        </p:nvSpPr>
        <p:spPr>
          <a:xfrm>
            <a:off x="566928" y="310896"/>
            <a:ext cx="11057839"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CLOSE</a:t>
            </a:r>
            <a:endParaRPr lang="en-US" sz="1100" dirty="0"/>
          </a:p>
        </p:txBody>
      </p:sp>
      <p:sp>
        <p:nvSpPr>
          <p:cNvPr id="4" name="Text 2"/>
          <p:cNvSpPr/>
          <p:nvPr/>
        </p:nvSpPr>
        <p:spPr>
          <a:xfrm>
            <a:off x="566928" y="603504"/>
            <a:ext cx="11057839" cy="777240"/>
          </a:xfrm>
          <a:prstGeom prst="rect">
            <a:avLst/>
          </a:prstGeom>
          <a:noFill/>
          <a:ln/>
        </p:spPr>
        <p:txBody>
          <a:bodyPr wrap="square" lIns="0" tIns="0" rIns="0" bIns="0" rtlCol="0" anchor="t"/>
          <a:lstStyle/>
          <a:p>
            <a:pPr indent="0" marL="0">
              <a:buNone/>
            </a:pPr>
            <a:r>
              <a:rPr lang="en-US" sz="3400" b="1" dirty="0">
                <a:solidFill>
                  <a:srgbClr val="025462"/>
                </a:solidFill>
                <a:latin typeface="Cambria" pitchFamily="34" charset="0"/>
                <a:ea typeface="Cambria" pitchFamily="34" charset="-122"/>
                <a:cs typeface="Cambria" pitchFamily="34" charset="-120"/>
              </a:rPr>
              <a:t>Key Takeaways</a:t>
            </a:r>
            <a:endParaRPr lang="en-US" sz="3400" dirty="0"/>
          </a:p>
        </p:txBody>
      </p:sp>
      <p:sp>
        <p:nvSpPr>
          <p:cNvPr id="5" name="Text 3"/>
          <p:cNvSpPr/>
          <p:nvPr/>
        </p:nvSpPr>
        <p:spPr>
          <a:xfrm>
            <a:off x="566928" y="1554480"/>
            <a:ext cx="5391760" cy="4572000"/>
          </a:xfrm>
          <a:prstGeom prst="rect">
            <a:avLst/>
          </a:prstGeom>
          <a:noFill/>
          <a:ln/>
        </p:spPr>
        <p:txBody>
          <a:bodyPr wrap="square" lIns="0" tIns="0" rIns="0" bIns="0" rtlCol="0" anchor="t"/>
          <a:lstStyle/>
          <a:p>
            <a:pPr indent="0" marL="0">
              <a:buNone/>
            </a:pPr>
            <a:r>
              <a:rPr lang="en-US" sz="1300" b="1" dirty="0">
                <a:solidFill>
                  <a:srgbClr val="028090"/>
                </a:solidFill>
                <a:latin typeface="Calibri" pitchFamily="34" charset="0"/>
                <a:ea typeface="Calibri" pitchFamily="34" charset="-122"/>
                <a:cs typeface="Calibri" pitchFamily="34" charset="-120"/>
              </a:rPr>
              <a:t>1.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Lymphedema is mechanical insufficiency — high-protein, progressive, and self-reinforcing if untreated.</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2.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Symptoms precede visible swelling. Stage 0 is real and is the best time to intervene.</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3.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Stemmer's sign is fast, free, and diagnostic when positive.</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4.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Four ISL stages: 0 latent, I reversible, II irreversible/fibrotic, III elephantiasis.</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5.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CDT has four components. Compression is the one that holds the result.</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6.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Exercise under compression is treatment. Resistance training is safe.</a:t>
            </a:r>
            <a:endParaRPr lang="en-US" sz="1300" dirty="0"/>
          </a:p>
        </p:txBody>
      </p:sp>
      <p:sp>
        <p:nvSpPr>
          <p:cNvPr id="6" name="Text 4"/>
          <p:cNvSpPr/>
          <p:nvPr/>
        </p:nvSpPr>
        <p:spPr>
          <a:xfrm>
            <a:off x="6233008" y="1554480"/>
            <a:ext cx="5391760" cy="4572000"/>
          </a:xfrm>
          <a:prstGeom prst="rect">
            <a:avLst/>
          </a:prstGeom>
          <a:noFill/>
          <a:ln/>
        </p:spPr>
        <p:txBody>
          <a:bodyPr wrap="square" lIns="0" tIns="0" rIns="0" bIns="0" rtlCol="0" anchor="t"/>
          <a:lstStyle/>
          <a:p>
            <a:pPr indent="0" marL="0">
              <a:buNone/>
            </a:pPr>
            <a:r>
              <a:rPr lang="en-US" sz="1300" b="1" dirty="0">
                <a:solidFill>
                  <a:srgbClr val="028090"/>
                </a:solidFill>
                <a:latin typeface="Calibri" pitchFamily="34" charset="0"/>
                <a:ea typeface="Calibri" pitchFamily="34" charset="-122"/>
                <a:cs typeface="Calibri" pitchFamily="34" charset="-120"/>
              </a:rPr>
              <a:t>7.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Garment choice is decided as much by whether the patient can don it as by pressure class.</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8.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Lipedema is painful, symmetrical, spares the feet, and has a negative Stemmer.</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9.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Lipedema is staged 1–3, with lipo-lymphedema as a contested Stage 4.</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10.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Every episode of cellulitis makes the underlying disease worse.</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11.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Patient education and Phase II adherence determine long-term outcome.</a:t>
            </a:r>
            <a:endParaRPr lang="en-US" sz="1300" dirty="0"/>
          </a:p>
          <a:p>
            <a:pPr indent="0" marL="0">
              <a:buNone/>
            </a:pPr>
            <a:r>
              <a:rPr lang="en-US" sz="1300" b="1" dirty="0">
                <a:solidFill>
                  <a:srgbClr val="028090"/>
                </a:solidFill>
                <a:latin typeface="Calibri" pitchFamily="34" charset="0"/>
                <a:ea typeface="Calibri" pitchFamily="34" charset="-122"/>
                <a:cs typeface="Calibri" pitchFamily="34" charset="-120"/>
              </a:rPr>
              <a:t>12.  </a:t>
            </a:r>
            <a:pPr indent="0" marL="0">
              <a:spcAft>
                <a:spcPts val="900"/>
              </a:spcAft>
              <a:buNone/>
            </a:pPr>
            <a:r>
              <a:rPr lang="en-US" sz="1300" dirty="0">
                <a:solidFill>
                  <a:srgbClr val="1B2A30"/>
                </a:solidFill>
                <a:latin typeface="Calibri" pitchFamily="34" charset="0"/>
                <a:ea typeface="Calibri" pitchFamily="34" charset="-122"/>
                <a:cs typeface="Calibri" pitchFamily="34" charset="-120"/>
              </a:rPr>
              <a:t>Decongestion is not discharge — reassess gait, balance, and orthopedic pain afterwards.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25462"/>
        </a:solidFill>
      </p:bgPr>
    </p:bg>
    <p:spTree>
      <p:nvGrpSpPr>
        <p:cNvPr id="1" name=""/>
        <p:cNvGrpSpPr/>
        <p:nvPr/>
      </p:nvGrpSpPr>
      <p:grpSpPr>
        <a:xfrm>
          <a:off x="0" y="0"/>
          <a:ext cx="0" cy="0"/>
          <a:chOff x="0" y="0"/>
          <a:chExt cx="0" cy="0"/>
        </a:xfrm>
      </p:grpSpPr>
      <p:sp>
        <p:nvSpPr>
          <p:cNvPr id="2" name="Text 0"/>
          <p:cNvSpPr/>
          <p:nvPr/>
        </p:nvSpPr>
        <p:spPr>
          <a:xfrm>
            <a:off x="566928" y="1371600"/>
            <a:ext cx="7680960" cy="91440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Questions</a:t>
            </a:r>
            <a:endParaRPr lang="en-US" sz="4600" dirty="0"/>
          </a:p>
        </p:txBody>
      </p:sp>
      <p:sp>
        <p:nvSpPr>
          <p:cNvPr id="3" name="Text 1"/>
          <p:cNvSpPr/>
          <p:nvPr/>
        </p:nvSpPr>
        <p:spPr>
          <a:xfrm>
            <a:off x="566928" y="2423160"/>
            <a:ext cx="7498080" cy="548640"/>
          </a:xfrm>
          <a:prstGeom prst="rect">
            <a:avLst/>
          </a:prstGeom>
          <a:noFill/>
          <a:ln/>
        </p:spPr>
        <p:txBody>
          <a:bodyPr wrap="square" lIns="0" tIns="0" rIns="0" bIns="0" rtlCol="0" anchor="t"/>
          <a:lstStyle/>
          <a:p>
            <a:pPr indent="0" marL="0">
              <a:buNone/>
            </a:pPr>
            <a:r>
              <a:rPr lang="en-US" sz="1600" dirty="0">
                <a:solidFill>
                  <a:srgbClr val="CBE6EB"/>
                </a:solidFill>
                <a:latin typeface="Calibri" pitchFamily="34" charset="0"/>
                <a:ea typeface="Calibri" pitchFamily="34" charset="-122"/>
                <a:cs typeface="Calibri" pitchFamily="34" charset="-120"/>
              </a:rPr>
              <a:t>Scan for the full presentation, outline, and a 12-question self-check.</a:t>
            </a:r>
            <a:endParaRPr lang="en-US" sz="1600" dirty="0"/>
          </a:p>
        </p:txBody>
      </p:sp>
      <p:sp>
        <p:nvSpPr>
          <p:cNvPr id="4" name="Shape 2"/>
          <p:cNvSpPr/>
          <p:nvPr/>
        </p:nvSpPr>
        <p:spPr>
          <a:xfrm>
            <a:off x="566928" y="3291840"/>
            <a:ext cx="5669280" cy="0"/>
          </a:xfrm>
          <a:prstGeom prst="line">
            <a:avLst/>
          </a:prstGeom>
          <a:noFill/>
          <a:ln w="12700">
            <a:solidFill>
              <a:srgbClr val="3E7C8A"/>
            </a:solidFill>
            <a:prstDash val="solid"/>
          </a:ln>
        </p:spPr>
      </p:sp>
      <p:sp>
        <p:nvSpPr>
          <p:cNvPr id="5" name="Text 3"/>
          <p:cNvSpPr/>
          <p:nvPr/>
        </p:nvSpPr>
        <p:spPr>
          <a:xfrm>
            <a:off x="566928" y="3520440"/>
            <a:ext cx="7498080" cy="164592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Dr. Sara S. Morrison, PT, DPT, CDT, Cert DN, PCES, CFT, FMT</a:t>
            </a:r>
            <a:endParaRPr lang="en-US" sz="1700" dirty="0"/>
          </a:p>
          <a:p>
            <a:pPr indent="0" marL="0">
              <a:buNone/>
            </a:pPr>
            <a:r>
              <a:rPr lang="en-US" sz="1500" dirty="0">
                <a:solidFill>
                  <a:srgbClr val="CBE6EB"/>
                </a:solidFill>
                <a:latin typeface="Calibri" pitchFamily="34" charset="0"/>
                <a:ea typeface="Calibri" pitchFamily="34" charset="-122"/>
                <a:cs typeface="Calibri" pitchFamily="34" charset="-120"/>
              </a:rPr>
              <a:t>Total Body Therapy &amp; Wellness</a:t>
            </a:r>
            <a:endParaRPr lang="en-US" sz="1700" dirty="0"/>
          </a:p>
          <a:p>
            <a:pPr indent="0" marL="0">
              <a:buNone/>
            </a:pPr>
            <a:r>
              <a:rPr lang="en-US" sz="1300" dirty="0">
                <a:solidFill>
                  <a:srgbClr val="A8CFD8"/>
                </a:solidFill>
                <a:latin typeface="Calibri" pitchFamily="34" charset="0"/>
                <a:ea typeface="Calibri" pitchFamily="34" charset="-122"/>
                <a:cs typeface="Calibri" pitchFamily="34" charset="-120"/>
              </a:rPr>
              <a:t>260 Pine State Street, Lillington, NC 27546</a:t>
            </a:r>
            <a:endParaRPr lang="en-US" sz="1700" dirty="0"/>
          </a:p>
          <a:p>
            <a:pPr indent="0" marL="0">
              <a:buNone/>
            </a:pPr>
            <a:r>
              <a:rPr lang="en-US" sz="1300" dirty="0">
                <a:solidFill>
                  <a:srgbClr val="A8CFD8"/>
                </a:solidFill>
                <a:latin typeface="Calibri" pitchFamily="34" charset="0"/>
                <a:ea typeface="Calibri" pitchFamily="34" charset="-122"/>
                <a:cs typeface="Calibri" pitchFamily="34" charset="-120"/>
              </a:rPr>
              <a:t>(910) 893-2850   ·   tbtwonline.com</a:t>
            </a:r>
            <a:endParaRPr lang="en-US" sz="1700" dirty="0"/>
          </a:p>
        </p:txBody>
      </p:sp>
      <p:sp>
        <p:nvSpPr>
          <p:cNvPr id="6" name="Shape 4"/>
          <p:cNvSpPr/>
          <p:nvPr/>
        </p:nvSpPr>
        <p:spPr>
          <a:xfrm>
            <a:off x="8869680" y="1645920"/>
            <a:ext cx="2788920" cy="3108960"/>
          </a:xfrm>
          <a:prstGeom prst="roundRect">
            <a:avLst>
              <a:gd name="adj" fmla="val 3934"/>
            </a:avLst>
          </a:prstGeom>
          <a:solidFill>
            <a:srgbClr val="FFFFFF"/>
          </a:solidFill>
          <a:ln w="12700">
            <a:solidFill>
              <a:srgbClr val="FFFFFF"/>
            </a:solidFill>
            <a:prstDash val="solid"/>
          </a:ln>
        </p:spPr>
      </p:sp>
      <p:pic>
        <p:nvPicPr>
          <p:cNvPr id="7" name="Image 0" descr="/home/claude/build/assets/qr.png">    </p:cNvPr>
          <p:cNvPicPr>
            <a:picLocks noChangeAspect="1"/>
          </p:cNvPicPr>
          <p:nvPr/>
        </p:nvPicPr>
        <p:blipFill>
          <a:blip r:embed="rId1"/>
          <a:stretch>
            <a:fillRect/>
          </a:stretch>
        </p:blipFill>
        <p:spPr>
          <a:xfrm>
            <a:off x="9189720" y="1920240"/>
            <a:ext cx="2148840" cy="2148840"/>
          </a:xfrm>
          <a:prstGeom prst="rect">
            <a:avLst/>
          </a:prstGeom>
        </p:spPr>
      </p:pic>
      <p:sp>
        <p:nvSpPr>
          <p:cNvPr id="8" name="Text 5"/>
          <p:cNvSpPr/>
          <p:nvPr/>
        </p:nvSpPr>
        <p:spPr>
          <a:xfrm>
            <a:off x="8915400" y="4160520"/>
            <a:ext cx="2697480" cy="502920"/>
          </a:xfrm>
          <a:prstGeom prst="rect">
            <a:avLst/>
          </a:prstGeom>
          <a:noFill/>
          <a:ln/>
        </p:spPr>
        <p:txBody>
          <a:bodyPr wrap="square" lIns="0" tIns="0" rIns="0" bIns="0" rtlCol="0" anchor="ctr"/>
          <a:lstStyle/>
          <a:p>
            <a:pPr algn="ctr" indent="0" marL="0">
              <a:buNone/>
            </a:pPr>
            <a:r>
              <a:rPr lang="en-US" sz="750" dirty="0">
                <a:solidFill>
                  <a:srgbClr val="36454F"/>
                </a:solidFill>
                <a:latin typeface="Calibri" pitchFamily="34" charset="0"/>
                <a:ea typeface="Calibri" pitchFamily="34" charset="-122"/>
                <a:cs typeface="Calibri" pitchFamily="34" charset="-120"/>
              </a:rPr>
              <a:t>information-vs-energy-vs-matter.github.io/Total_body_therapy_-_wellness/lymphedema/</a:t>
            </a:r>
            <a:endParaRPr lang="en-US" sz="750" dirty="0"/>
          </a:p>
        </p:txBody>
      </p:sp>
      <p:sp>
        <p:nvSpPr>
          <p:cNvPr id="9" name="Text 6"/>
          <p:cNvSpPr/>
          <p:nvPr/>
        </p:nvSpPr>
        <p:spPr>
          <a:xfrm>
            <a:off x="566928" y="6217920"/>
            <a:ext cx="11057839" cy="365760"/>
          </a:xfrm>
          <a:prstGeom prst="rect">
            <a:avLst/>
          </a:prstGeom>
          <a:noFill/>
          <a:ln/>
        </p:spPr>
        <p:txBody>
          <a:bodyPr wrap="square" lIns="0" tIns="0" rIns="0" bIns="0" rtlCol="0" anchor="ctr"/>
          <a:lstStyle/>
          <a:p>
            <a:pPr indent="0" marL="0">
              <a:buNone/>
            </a:pPr>
            <a:r>
              <a:rPr lang="en-US" sz="1000" i="1" dirty="0">
                <a:solidFill>
                  <a:srgbClr val="7FA6B0"/>
                </a:solidFill>
                <a:latin typeface="Calibri" pitchFamily="34" charset="0"/>
                <a:ea typeface="Calibri" pitchFamily="34" charset="-122"/>
                <a:cs typeface="Calibri" pitchFamily="34" charset="-120"/>
              </a:rPr>
              <a:t>Educational use only. Not a substitute for individualized medical evaluation or care.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Total Body Therapy &amp;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Lymphedema &amp; Lipedema</dc:title>
  <dc:subject>PptxGenJS Presentation</dc:subject>
  <dc:creator>Dr. Sara S. Morrison</dc:creator>
  <cp:lastModifiedBy>Dr. Sara S. Morrison</cp:lastModifiedBy>
  <cp:revision>1</cp:revision>
  <dcterms:created xsi:type="dcterms:W3CDTF">2026-09-27T18:15:19Z</dcterms:created>
  <dcterms:modified xsi:type="dcterms:W3CDTF">2026-09-27T18:15:19Z</dcterms:modified>
</cp:coreProperties>
</file>