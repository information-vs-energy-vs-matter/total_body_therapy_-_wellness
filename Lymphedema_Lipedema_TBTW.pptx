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Point the room at the QR code before you start — it opens this presentation, the outline, and a 12-question self-check quiz.
Educational use only. Not a substitute for individualized medical evaluation or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credibility briefly, then move on. Both therapists are CLTs.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quickly — they double as the roadmap for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Lymphangion contraction is the primary pump. It is stimulated by stretch, muscle contraction, arterial pulsation, and breathing — which is exactly why exercise and diaphragmatic breathing are treatment, not just adjuncts.
SUGGESTED IMAGES FOR THIS SLIDE
Save as: anat_lymphatic_system.png, anat_openstax_system.png, anat_grays_thoracic_duct.png
· Servier (CC BY) — “lymphatic system”
  https://smart.servier.com/?s=lymphatic%20system
· OpenStax Ch.21 (CC BY)
  https://openstax.org/books/anatomy-and-physiology-2e/pages/21-1-anatomy-of-the-lymphatic-and-immune-systems
· Wikimedia — “lymphatic system diagram”
  https://commons.wikimedia.org/w/index.php?search=lymphatic%20system%20diagram&amp;title=Special:MediaSearch&amp;type=image
· NCI (public domain) — “lymphatic system”
  https://visualsonline.cancer.gov/search.cfm?criteria=lymphatic%20system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Lymphangion contraction is the primary pump. It is stimulated by stretch, muscle contraction, arterial pulsation, and breathing — which is exactly why exercise and diaphragmatic breathing are treatment, not just adjuncts.
SUGGESTED IMAGES FOR THIS SLIDE
Save as: anat_lymphatic_system.png, anat_openstax_system.png, anat_grays_thoracic_duct.png
· Servier (CC BY) — “lymphatic system”
  https://smart.servier.com/?s=lymphatic%20system
· OpenStax Ch.21 (CC BY)
  https://openstax.org/books/anatomy-and-physiology-2e/pages/21-1-anatomy-of-the-lymphatic-and-immune-systems
· Wikimedia — “lymphatic system diagram”
  https://commons.wikimedia.org/w/index.php?search=lymphatic%20system%20diagram&amp;title=Special:MediaSearch&amp;type=image
· NCI (public domain) — “lymphatic system”
  https://visualsonline.cancer.gov/search.cfm?criteria=lymphatic%20system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[OPTIONAL — safe to cut]
Combined insufficiency — high load AND damaged system — is common in the patients you will actually see.
SUGGESTED IMAGES FOR THIS SLIDE
Save as: anat_lymph_capillary.png
· Servier (CC BY) — “lymphatic capillary”
  https://smart.servier.com/?s=lymphatic%20capillary
· Wikimedia — “lymph capillary interstitial fluid”
  https://commons.wikimedia.org/w/index.php?search=lymph%20capillary%20interstitial%20fluid&amp;title=Special:MediaSearch&amp;type=image
· OpenStax Ch.21 (CC BY)
  https://openstax.org/books/anatomy-and-physiology-2e/pages/21-1-anatomy-of-the-lymphatic-and-immune-systems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multipliers after cancer treatment: extent of node dissection, regional radiation, elevated BMI, post-op infection, wound complications, and taxane-based chemotherapy.
SUGGESTED IMAGES FOR THIS SLIDE
Save as: anat_axillary_nodes.png, anat_node_regions.png
· NCI (public domain) — “axillary lymph node”
  https://visualsonline.cancer.gov/search.cfm?criteria=axillary%20lymph%20node
· Servier (CC BY) — “lymph node”
  https://smart.servier.com/?s=lymph%20node
· Wikimedia — “lymph node dissection”
  https://commons.wikimedia.org/w/index.php?search=lymph%20node%20dissection&amp;title=Special:MediaSearch&amp;type=image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Lymphedema is typically painless early. New or significant pain suggests infection, DVT, malignancy — or lipedema, which is painful by definition.
SUGGESTED IMAGES FOR THIS SLIDE
Save as: stage_clinical_leg.png
· Wikimedia — “lymphedema arm”
  https://commons.wikimedia.org/w/index.php?search=lymphedema%20arm&amp;title=Special:MediaSearch&amp;type=image
· Wikimedia — “lymphedema leg”
  https://commons.wikimedia.org/w/index.php?search=lymphedema%20leg&amp;title=Special:MediaSearch&amp;type=image
· Servier (CC BY) — “edema”
  https://smart.servier.com/?s=edema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Severity by volume difference vs. the contralateral limb: minimal &lt;20%, moderate 20–40%, severe &gt;40%.
SUGGESTED IMAGES FOR THIS SLIDE
Save as: dx_stemmer_positive.png
· Wikimedia — “Stemmer sign”
  https://commons.wikimedia.org/w/index.php?search=Stemmer%20sign&amp;title=Special:MediaSearch&amp;type=image
· Wikimedia — “pitting edema”
  https://commons.wikimedia.org/w/index.php?search=pitting%20edema&amp;title=Special:MediaSearch&amp;type=image
· Servier (CC BY) — “lymphoscintigraphy”
  https://smart.servier.com/?s=lymphoscintigraphy
· Wikimedia — “limb circumference measurement”
  https://commons.wikimedia.org/w/index.php?search=limb%20circumference%20measurement&amp;title=Special:MediaSearch&amp;type=image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Severity by volume difference vs. the contralateral limb: minimal &lt;20%, moderate 20–40%, severe &gt;40%.
SUGGESTED IMAGES FOR THIS SLIDE
Save as: dx_stemmer_positive.png
· Wikimedia — “Stemmer sign”
  https://commons.wikimedia.org/w/index.php?search=Stemmer%20sign&amp;title=Special:MediaSearch&amp;type=image
· Wikimedia — “pitting edema”
  https://commons.wikimedia.org/w/index.php?search=pitting%20edema&amp;title=Special:MediaSearch&amp;type=image
· Servier (CC BY) — “lymphoscintigraphy”
  https://smart.servier.com/?s=lymphoscintigraphy
· Wikimedia — “limb circumference measurement”
  https://commons.wikimedia.org/w/index.php?search=limb%20circumference%20measurement&amp;title=Special:MediaSearch&amp;type=image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[OPTIONAL — safe to cut]
Malignant lymphedema and DVT are the two that must not be missed. Both are referrals, not treatment plans.
SUGGESTED IMAGES FOR THIS SLIDE
· Wikimedia — “deep vein thrombosis leg”
  https://commons.wikimedia.org/w/index.php?search=deep%20vein%20thrombosis%20leg&amp;title=Special:MediaSearch&amp;type=image
· Wikimedia — “chronic venous insufficiency”
  https://commons.wikimedia.org/w/index.php?search=chronic%20venous%20insufficiency&amp;title=Special:MediaSearch&amp;type=image
· Wikimedia — “cellulitis leg”
  https://commons.wikimedia.org/w/index.php?search=cellulitis%20leg&amp;title=Special:MediaSearch&amp;type=image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Staging describes tissue condition, not size. A small Stage III limb is still Stage III. Severity is graded separately by volume difference.
SUGGESTED IMAGES FOR THIS SLIDE
Save as: stage_clinical_leg.png
· Wikimedia — “lymphedema stages”
  https://commons.wikimedia.org/w/index.php?search=lymphedema%20stages&amp;title=Special:MediaSearch&amp;type=image
· Servier (CC BY) — “lymphedema”
  https://smart.servier.com/?s=lymphedema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slot: Stage 0 — no visible change; consider a limb-surveillance/measurement photo instead
SUGGESTED IMAGES FOR THIS SLIDE
· Wikimedia — “bioimpedance lymphedema”
  https://commons.wikimedia.org/w/index.php?search=bioimpedance%20lymphedema&amp;title=Special:MediaSearch&amp;type=image
· Wikimedia — “limb measurement tape”
  https://commons.wikimedia.org/w/index.php?search=limb%20measurement%20tape&amp;title=Special:MediaSearch&amp;type=image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slot: Stage I — soft pitting edema, dorsum of foot or hand
SUGGESTED IMAGES FOR THIS SLIDE
Save as: stage1_photo.png
· Wikimedia — “pitting edema foot”
  https://commons.wikimedia.org/w/index.php?search=pitting%20edema%20foot&amp;title=Special:MediaSearch&amp;type=image
· Wikimedia — “lymphedema early stage”
  https://commons.wikimedia.org/w/index.php?search=lymphedema%20early%20stage&amp;title=Special:MediaSearch&amp;type=image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presence or absence of pitting is what separates early from late Stage II — not the size of the limb.
Photo slot: Stage II — firm non-pitting swelling, positive Stemmer, early skin thickening
SUGGESTED IMAGES FOR THIS SLIDE
Save as: stage2_photo.png
· Wikimedia — “lymphedema fibrosis”
  https://commons.wikimedia.org/w/index.php?search=lymphedema%20fibrosis&amp;title=Special:MediaSearch&amp;type=image
· Wikimedia — “Stemmer sign positive”
  https://commons.wikimedia.org/w/index.php?search=Stemmer%20sign%20positive&amp;title=Special:MediaSearch&amp;type=image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III is not a treatment failure to be managed passively. Significant reduction is well documented with sustained CDT.
Photo slot: Stage III — elephantiasis, papillomas, deep skin folds
SUGGESTED IMAGES FOR THIS SLIDE
Save as: stage3_photo.png
· Wikimedia — “elephantiasis leg”
  https://commons.wikimedia.org/w/index.php?search=elephantiasis%20leg&amp;title=Special:MediaSearch&amp;type=image
· Wikimedia — “lymphostatic elephantiasis”
  https://commons.wikimedia.org/w/index.php?search=lymphostatic%20elephantiasis&amp;title=Special:MediaSearch&amp;type=image
· Wikimedia — “papillomatosis skin”
  https://commons.wikimedia.org/w/index.php?search=papillomatosis%20skin&amp;title=Special:MediaSearch&amp;type=image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II is where outcomes are actually won or lost. Adherence, not technique, is the usual determinant of long-term result.
SUGGESTED IMAGES FOR THIS SLIDE
Save as: tx_before_after.png
· Wikimedia — “complete decongestive therapy”
  https://commons.wikimedia.org/w/index.php?search=complete%20decongestive%20therapy&amp;title=Special:MediaSearch&amp;type=image
· Wikimedia — “lymphedema before after treatment”
  https://commons.wikimedia.org/w/index.php?search=lymphedema%20before%20after%20treatment&amp;title=Special:MediaSearch&amp;type=image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II is where outcomes are actually won or lost. Adherence, not technique, is the usual determinant of long-term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IMAGES FOR THIS SLIDE
· Wikimedia — “emollient application skin”
  https://commons.wikimedia.org/w/index.php?search=emollient%20application%20skin&amp;title=Special:MediaSearch&amp;type=image
· Wikimedia — “tinea pedis”
  https://commons.wikimedia.org/w/index.php?search=tinea%20pedis&amp;title=Special:MediaSearch&amp;type=image
· Wikimedia — “cellulitis leg”
  https://commons.wikimedia.org/w/index.php?search=cellulitis%20leg&amp;title=Special:MediaSearch&amp;type=image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MLD alone produces modest results. Its value is greatest when combined with compression — the evidence supports CDT as a package, not MLD in isolation.
SUGGESTED IMAGES FOR THIS SLIDE
Save as: tx_mld_hands.png
· Wikimedia — “manual lymphatic drainage”
  https://commons.wikimedia.org/w/index.php?search=manual%20lymphatic%20drainage&amp;title=Special:MediaSearch&amp;type=image
· Servier (CC BY) — “lymphatic drainage”
  https://smart.servier.com/?s=lymphatic%20drainage
· Wikimedia — “lymphatic watershed”
  https://commons.wikimedia.org/w/index.php?search=lymphatic%20watershed&amp;title=Special:MediaSearch&amp;type=image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MLD alone produces modest results. Its value is greatest when combined with compression — the evidence supports CDT as a package, not MLD in isolation.
SUGGESTED IMAGES FOR THIS SLIDE
Save as: tx_mld_hands.png
· Wikimedia — “manual lymphatic drainage”
  https://commons.wikimedia.org/w/index.php?search=manual%20lymphatic%20drainage&amp;title=Special:MediaSearch&amp;type=image
· Servier (CC BY) — “lymphatic drainage”
  https://smart.servier.com/?s=lymphatic%20drainage
· Wikimedia — “lymphatic watershed”
  https://commons.wikimedia.org/w/index.php?search=lymphatic%20watershed&amp;title=Special:MediaSearch&amp;type=image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Intermittent pneumatic compression may be a useful adjunct but does not replace MLD or bandaging, and must not be used over an untreated proximal obstruction.
SUGGESTED IMAGES FOR THIS SLIDE
Save as: tx_bandaging.png, tx_garment_flatknit.png
· Wikimedia — “compression bandage leg”
  https://commons.wikimedia.org/w/index.php?search=compression%20bandage%20leg&amp;title=Special:MediaSearch&amp;type=image
· Wikimedia — “compression stocking”
  https://commons.wikimedia.org/w/index.php?search=compression%20stocking&amp;title=Special:MediaSearch&amp;type=image
· Wikimedia — “short stretch bandage”
  https://commons.wikimedia.org/w/index.php?search=short%20stretch%20bandage&amp;title=Special:MediaSearch&amp;type=image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Aquatic exercise is particularly effective — hydrostatic pressure provides uniform external compression while the patient moves.
SUGGESTED IMAGES FOR THIS SLIDE
· Wikimedia — “aquatic therapy pool”
  https://commons.wikimedia.org/w/index.php?search=aquatic%20therapy%20pool&amp;title=Special:MediaSearch&amp;type=image
· Wikimedia — “resistance training rehabilitation”
  https://commons.wikimedia.org/w/index.php?search=resistance%20training%20rehabilitation&amp;title=Special:MediaSearch&amp;type=image
· Wikimedia — “diaphragmatic breathing”
  https://commons.wikimedia.org/w/index.php?search=diaphragmatic%20breathing&amp;title=Special:MediaSearch&amp;type=image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 Bramblette and patient advocacy groups have driven recent recognition, but average time to diagnosis remains measured in years.
SUGGESTED IMAGES FOR THIS SLIDE
Save as: lip_clinical_legs.png
· Wikimedia — “lipedema”
  https://commons.wikimedia.org/w/index.php?search=lipedema&amp;title=Special:MediaSearch&amp;type=image
· Wikimedia — “lipedema legs”
  https://commons.wikimedia.org/w/index.php?search=lipedema%20legs&amp;title=Special:MediaSearch&amp;type=image
· Servier (CC BY) — “adipose tissue”
  https://smart.servier.com/?s=adipose%20tissue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 Bramblette and patient advocacy groups have driven recent recognition, but average time to diagnosis remains measured in years.
SUGGESTED IMAGES FOR THIS SLIDE
Save as: lip_clinical_legs.png
· Wikimedia — “lipedema”
  https://commons.wikimedia.org/w/index.php?search=lipedema&amp;title=Special:MediaSearch&amp;type=image
· Wikimedia — “lipedema legs”
  https://commons.wikimedia.org/w/index.php?search=lipedema%20legs&amp;title=Special:MediaSearch&amp;type=image
· Servier (CC BY) — “adipose tissue”
  https://smart.servier.com/?s=adipose%20tissue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CAVEAT: The Lipedema Foundation no longer uses a 'Stage 4' designation, on the grounds that the lymphatic system can be compromised at any stage — lymphatic impairment is documented in Stages 2 and 3. Present Stage 4 as lipo-lymphedema, and note the debate. This is the intellectually honest framing and it will be the question a sharp student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CAVEAT: The Lipedema Foundation no longer uses a 'Stage 4' designation, on the grounds that the lymphatic system can be compromised at any stage — lymphatic impairment is documented in Stages 2 and 3. Present Stage 4 as lipo-lymphedema, and note the debate. This is the intellectually honest framing and it will be the question a sharp student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co-exist. Lipedema does not itself cause lymphedema — but central obesity, which frequently accompanies it, substantially raises lymphedema risk. Treat what you find.
SUGGESTED IMAGES FOR THIS SLIDE
· Wikimedia — “lipedema lymphedema comparison”
  https://commons.wikimedia.org/w/index.php?search=lipedema%20lymphedema%20comparison&amp;title=Special:MediaSearch&amp;type=image
· Wikimedia — “Stemmer sign”
  https://commons.wikimedia.org/w/index.php?search=Stemmer%20sign&amp;title=Special:MediaSearch&amp;type=image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[OPTIONAL — safe to cut]
The single most valuable thing you may do is tell the patient this is a recognized disease and not a personal failure of willpower.
SUGGESTED IMAGES FOR THIS SLIDE
· Wikimedia — “compression stocking leg”
  https://commons.wikimedia.org/w/index.php?search=compression%20stocking%20leg&amp;title=Special:MediaSearch&amp;type=image
· Wikimedia — “aquatic therapy”
  https://commons.wikimedia.org/w/index.php?search=aquatic%20therapy&amp;title=Special:MediaSearch&amp;type=image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MLD is contraindicated in acute infection, acute DVT, and decompensated heart failure. When in doubt, do not treat — refer.
SUGGESTED IMAGES FOR THIS SLIDE
· Wikimedia — “cellulitis leg”
  https://commons.wikimedia.org/w/index.php?search=cellulitis%20leg&amp;title=Special:MediaSearch&amp;type=image
· Wikimedia — “deep vein thrombosis”
  https://commons.wikimedia.org/w/index.php?search=deep%20vein%20thrombosis&amp;title=Special:MediaSearch&amp;type=image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Reviewing these is fine. Reusing their figures in a published deck is not — most contain third-party images the authors did not clear for redistribution. Use the per-slide image links instead; those are openly licensed. Structure, sequencing, and teaching approach are free to borrow from anyone.
Links are clickable in slideshow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Reviewing these is fine. Reusing their figures in a published deck is not — most contain third-party images the authors did not clear for redistribution. Use the per-slide image links instead; those are openly licensed. Structure, sequencing, and teaching approach are free to borrow from anyone.
Links are clickable in slideshow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takeaways. If you are short on time, 3, 5 and 7 are the ones they must leave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Remind them the QR opens the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sl.arizona.edu/sites/default/files/2024-11/THE-DIAGNOSIS-AND-TREATMENT-OF-PERIPHERAL-LYMPHEDEMA-2023-CONSENSUS-DOCUMENT-OF-THE-INTERNATIONAL-SOCIETY-OF-LYMPHOLOGY.pdf" TargetMode="External"/><Relationship Id="rId2" Type="http://schemas.openxmlformats.org/officeDocument/2006/relationships/hyperlink" Target="https://www.slideserve.com/collin/lymphedema-overview-and-treatment-considerations" TargetMode="External"/><Relationship Id="rId3" Type="http://schemas.openxmlformats.org/officeDocument/2006/relationships/hyperlink" Target="https://www.slideserve.com/lilly/lymphedema" TargetMode="External"/><Relationship Id="rId4" Type="http://schemas.openxmlformats.org/officeDocument/2006/relationships/hyperlink" Target="https://www.slideserve.com/lael/lymphedema-therapy" TargetMode="External"/><Relationship Id="rId5" Type="http://schemas.openxmlformats.org/officeDocument/2006/relationships/hyperlink" Target="https://www.slideserve.com/shoshana-reynolds/lymphedema-powerpoint-ppt-presentation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cbi.nlm.nih.gov/pmc/articles/PMC6666846/" TargetMode="External"/><Relationship Id="rId2" Type="http://schemas.openxmlformats.org/officeDocument/2006/relationships/hyperlink" Target="https://www.lipedema.org/staging" TargetMode="External"/><Relationship Id="rId3" Type="http://schemas.openxmlformats.org/officeDocument/2006/relationships/hyperlink" Target="https://www.totallipedemacare.com/understanding-stage-4-lipedema-lipo-lymphedema/" TargetMode="External"/><Relationship Id="rId4" Type="http://schemas.openxmlformats.org/officeDocument/2006/relationships/hyperlink" Target="https://pubmed.ncbi.nlm.nih.gov/30280233/" TargetMode="External"/><Relationship Id="rId5" Type="http://schemas.openxmlformats.org/officeDocument/2006/relationships/hyperlink" Target="https://www.northwell.edu/news/insights/lipedema-vs-lymphedema-what-to-know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5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8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BODY THERAPY &amp; WELLNESS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691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Lymphedema &amp; Lipedema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Staging, Differential Diagnosis, and Physical Therapy Management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4160520"/>
            <a:ext cx="5669280" cy="0"/>
          </a:xfrm>
          <a:prstGeom prst="line">
            <a:avLst/>
          </a:prstGeom>
          <a:noFill/>
          <a:ln w="12700">
            <a:solidFill>
              <a:srgbClr val="3E7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3891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 S. Morrison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A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PT, DPT, CDT, Cert DN, PCES, CFT, FMT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CB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Lead Physical Therapist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869680" y="1645920"/>
            <a:ext cx="2788920" cy="342900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home/claude/build/asset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194560"/>
            <a:ext cx="2148840" cy="2148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0" y="18288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FOLLOW ALONG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15400" y="4434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Presentation, outline &amp; self-check quiz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Pine State Street, Lillington, NC 27546  ·  (910) 893-2850  ·  tbtwonline.com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Total Body Therapy &amp; Wellness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Lillington, NC in 2008 with the goal of bringing exceptional "Big City Care" to a small-town community. Physical therapy in Harnett County since 2002.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7839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05456"/>
            <a:ext cx="1041775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Patient-centered, one-on-one treatment every visit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Lymphedema Therapists (CLT) on staff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Whole-person approach — we treat the total body, not just the part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education as a core part of the plan of care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51114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Pine State Street, Lillington, NC 27546  ·  (910) 893-2850  ·  tbtwonline.com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completion you will be able to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5391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structure and function of the lymphatic system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primary from secondary lymphedema and identify risk factors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symptomatology and clinical presentation of lymphedema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and interpret key diagnostic tests, including Stemmer's sign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33008" y="1691640"/>
            <a:ext cx="5391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lymphedema using ISL criteria, Stage 0 through Stage III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four components of Complete Decongestive Therapy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lipedema from lymphedema and stage lipedema appropriately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red flags requiring physician referral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Lymphatic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one-way drainage network running parallel to the venous system, returning fluid, protein, and immune cells to circulation.</a:t>
            </a:r>
            <a:endParaRPr lang="en-US" sz="1500" dirty="0"/>
          </a:p>
        </p:txBody>
      </p:sp>
      <p:pic>
        <p:nvPicPr>
          <p:cNvPr id="6" name="Image 0" descr="/home/claude/build/assets/lymph_pathw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2231136"/>
            <a:ext cx="11057839" cy="3712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1675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Lymphangion contraction is the primary pump. It is stimulated by stretch, muscle contraction, arterial pulsation, and breathing — which is exactly why exercise and diaphragmatic breathing are treatment, not just adjuncts.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Lymphatic System — Pathway &amp; Function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one-way drainage network running parallel to the venous system, returning fluid, protein, and immune cells to circulation.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428336" cy="4059936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498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jobs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498942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balance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returns roughly 2–4 L of interstitial fluid to the bloodstream daily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transport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only route by which large interstitial proteins return to circulation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surveillance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lymph nodes filter pathogens and host lymphocytes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6432" y="2231136"/>
            <a:ext cx="5428336" cy="4059936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5888" y="2359152"/>
            <a:ext cx="498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pathway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5888" y="2724912"/>
            <a:ext cx="498942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lymphatics (blind-ended capillaries) collect interstitial fluid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Precollectors and collectors move lymph via lymphangions — segments that contract 6–10x/min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lymph nodes filter the load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Trunks drain to the thoracic duct (left, and entire lower body) and right lymphatic duct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empty at the subclavian veins — back into venous circulation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Lymph Load vs. Transport Capacity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of lymphedema is a mismatch between how much fluid needs to move and how much the system can move.</a:t>
            </a:r>
            <a:endParaRPr lang="en-US" sz="1500" dirty="0"/>
          </a:p>
        </p:txBody>
      </p:sp>
      <p:pic>
        <p:nvPicPr>
          <p:cNvPr id="6" name="Image 0" descr="/home/claude/build/assets/load_capac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2231136"/>
            <a:ext cx="11057839" cy="3712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1675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insufficiency — high load AND damaged system — is common in the patients you will actually see.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vs. Secondary Lymphedema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lymphedema arises from congenital lymphatic dysplasia. Secondary lymphedema follows anatomical disruption of a previously normal system.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428336" cy="4059936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498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developmental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498942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Congenital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present at birth or within the first 2 years. Includes Milroy disease.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Praecox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onset at puberty through age 35. The most common primary form.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Tarda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onset after age 35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Mechanisms: aplasia, hypoplasia, hyperplasia, or valvular incompetence of lymphatics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6432" y="2231136"/>
            <a:ext cx="5428336" cy="4059936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5888" y="2359152"/>
            <a:ext cx="498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acquired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5888" y="2724912"/>
            <a:ext cx="498942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treatment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lymph node dissection and/or radiation. The leading cause in developed countries.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Filariasis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*Wuchereria bancrofti*. The leading cause worldwide.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or surgery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burns, vein harvest, orthopedic procedures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venous insufficiency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progresses to phlebolymphedema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infection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episode of cellulitis causes further lymphatic damage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central obesity significantly raises risk independently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Symptomatology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symptoms frequently precede visible swelling by months. Do not wait for a measurable difference to take a patient seriously.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— often reported before anything is visible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Heaviness, fullness, or tightness in the limb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Clothing, sleeves, rings, or shoes fitting differently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Aching or discomfort without a clear mechanical cause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flexibility at the wrist, hand, or ankle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swelling that resolves overnight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9930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386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9386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swelling, initially distal, that no longer resolves with elevation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Pitting edema — later becoming non-pitting as fibrosis develops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feels thickened, firm, or leathery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Stemmer's sign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Deepened natural skin folds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cellulitis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2933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2389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overlook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92389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Psychosocial burden — body image, clothing, social withdrawal, anxiety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loss — grip, reach, gait, footwear, ADLs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impact and cost of ongoing garments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— History &amp; Examination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is primarily clinical. History and physical examination identify the great majority of cases.</a:t>
            </a:r>
            <a:endParaRPr lang="en-US" sz="1500" dirty="0"/>
          </a:p>
        </p:txBody>
      </p:sp>
      <p:pic>
        <p:nvPicPr>
          <p:cNvPr id="6" name="Image 0" descr="/home/claude/build/assets/stemm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32727" y="2322576"/>
            <a:ext cx="48920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231136"/>
            <a:ext cx="5754319" cy="1869059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35915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706624"/>
            <a:ext cx="5242255" cy="122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Onset, duration, progression, and whether it resolves overnight</a:t>
            </a:r>
            <a:endParaRPr lang="en-US" sz="9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and oncologic history — nodes removed, radiation fields</a:t>
            </a:r>
            <a:endParaRPr lang="en-US" sz="9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history — every episode of cellulitis</a:t>
            </a:r>
            <a:endParaRPr lang="en-US" sz="9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(suggests primary lymphedema or lipedema)</a:t>
            </a:r>
            <a:endParaRPr lang="en-US" sz="9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history (filariasis), cardiac, renal, and hepatic history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" y="4264787"/>
            <a:ext cx="5754319" cy="1814195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392803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examination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4740275"/>
            <a:ext cx="5242255" cy="1174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Stemmer's sign</a:t>
            </a:r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attempt to pinch and lift the skin fold at the base of the 2nd toe or finger. Cannot lift = positive = lymphedema. Positive is diagnostic; negative does not rule it out.</a:t>
            </a:r>
            <a:endParaRPr lang="en-US" sz="9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Pitting assessment</a:t>
            </a:r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depth and rebound time, graded 1+ to 4+</a:t>
            </a:r>
            <a:endParaRPr lang="en-US" sz="9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inspection</a:t>
            </a:r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texture, temperature, color, papillomas, fissures, wounds, fungal infection between digits</a:t>
            </a:r>
            <a:endParaRPr lang="en-US" sz="9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comparison</a:t>
            </a:r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symmetry, foot involvement, where the swelling stops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— Measurement &amp; Imaging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428336" cy="4718304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00784"/>
            <a:ext cx="498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measurement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066544"/>
            <a:ext cx="498942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Circumferential tape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 fixed 4 cm intervals from a bony landmark. Low cost, good reliability if landmarks are consistent.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Volumetry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water displacement. Historically the gold standard; impractical with open wounds.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Perometry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infrared optical scanning. Fast and reproducible.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Bioimpedance spectroscopy (L-Dex)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detects extracellular fluid change; can identify subclinical Stage 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6432" y="1572768"/>
            <a:ext cx="5428336" cy="4718304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5888" y="1700784"/>
            <a:ext cx="498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— when the picture is unclear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15888" y="2066544"/>
            <a:ext cx="498942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Lymphoscintigraphy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imaging standard for confirming lymphatic dysfunction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ICG lymphography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maps superficial lymphatics; guides MLD and surgical planning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ultrasound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rule out DVT and venous insufficiency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/ CT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rule out malignancy or extrinsic compression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Else Swells a Limb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treat it as lymphedema, rule these out.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3018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4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Distinguishing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46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vein thrombosis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Acute unilateral onset, pain, warmth, erythema. URGENT — do not perform MLD.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venous insufficiency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Hemosiderin staining, varicosities, medial malleolar ulceration, improves with elevation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Congestive heart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Bilateral, dependent, pitting, dyspnea, JVD, orthopnea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Hypoproteinemia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Bilateral, generalized, may include ascites/periorbital edema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Lipedema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Bilateral, symmetrical, painful, bruises easily, SPARES THE FEET, negative Stemmer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Malignant lymphedema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onset, pain, proximal-first, neurologic signs. Requires imaging.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Cellulitis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Fever, spreading erythema, heat, pain. Antibiotics first — MLD contraindicated.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Medication-induced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 channel blockers, NSAIDs, steroids, gabapentin, some diabetes drugs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080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lymphedema and DVT are the two that must not be missed. Both are referrals, not treatment plans.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 Staging — Overview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Society of Lymphology defines four stages. Stage 0 is latent — the lymphatics are already impaired before anything is visible.</a:t>
            </a:r>
            <a:endParaRPr lang="en-US" sz="1500" dirty="0"/>
          </a:p>
        </p:txBody>
      </p:sp>
      <p:pic>
        <p:nvPicPr>
          <p:cNvPr id="6" name="Image 0" descr="/home/claude/build/assets/stage_progres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2231136"/>
            <a:ext cx="11057839" cy="3712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1675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describes tissue condition, not size. A small Stage III limb is still Stage III. Severity is graded separately by volume difference.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10896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025462"/>
          </a:solidFill>
          <a:ln w="12700">
            <a:solidFill>
              <a:srgbClr val="0254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21408" y="274320"/>
            <a:ext cx="9503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/ Subclinical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 transport is already impaired. No visible swelling. May persist for months or years before progressing.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414620" cy="4718304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19072"/>
            <a:ext cx="4939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103120"/>
            <a:ext cx="49391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or palpable edema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heaviness, tightness, or fullness may be reported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transport capacity detectable by bioimpedance or lymphoscintigraphy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tissue consistency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Stemmer's 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0148" y="1572768"/>
            <a:ext cx="5414620" cy="4718304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7892" y="1719072"/>
            <a:ext cx="4939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implications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47892" y="2103120"/>
            <a:ext cx="49391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highest-value window for intervention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measurement pre-operatively makes this stage detectable at all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program, risk-reduction education, early compression if indicated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Prophylactic PT after node dissection has been shown to reduce progression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10896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025462"/>
          </a:solidFill>
          <a:ln w="12700">
            <a:solidFill>
              <a:srgbClr val="0254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21408" y="274320"/>
            <a:ext cx="9503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Spontaneously Reversible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accumulation of protein-rich fluid. Swelling reduces with elevation — often resolving completely overnight.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414620" cy="4718304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19072"/>
            <a:ext cx="4939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103120"/>
            <a:ext cx="49391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pitting edema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Subsides with elevation; frequently gone by morning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secondary tissue changes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fibrosis yet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Stemmer's sign usually negative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 feels heavy; may be visibly larger by end of day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0148" y="1572768"/>
            <a:ext cx="5414620" cy="4718304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7892" y="1719072"/>
            <a:ext cx="4939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implications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47892" y="2103120"/>
            <a:ext cx="49391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responsive to CDT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garments often sufficient for maintenance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education on self-management is decisive here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prevent the transition to fibrosis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10896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025462"/>
          </a:solidFill>
          <a:ln w="12700">
            <a:solidFill>
              <a:srgbClr val="0254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21408" y="274320"/>
            <a:ext cx="9503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Spontaneously Irreversible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alone no longer reduces the swelling. Lymphostatic fibrosis has begun and the tissue is changing character.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414620" cy="4151376"/>
          </a:xfrm>
          <a:prstGeom prst="roundRect">
            <a:avLst>
              <a:gd name="adj" fmla="val 1982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19072"/>
            <a:ext cx="4939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103120"/>
            <a:ext cx="493913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rarely reduces the limb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 II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pitting is manifest and pronounced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Stage II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pitting may be absent as fibrosis replaces fluid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feels firm; Stemmer's sign becomes positive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frequency of cellulitis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thickening becomes apparent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0148" y="1572768"/>
            <a:ext cx="5414620" cy="4151376"/>
          </a:xfrm>
          <a:prstGeom prst="roundRect">
            <a:avLst>
              <a:gd name="adj" fmla="val 1982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7892" y="1719072"/>
            <a:ext cx="4939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implications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47892" y="2103120"/>
            <a:ext cx="493913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intensive-phase CDT is indicated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 requires manual work plus foam/chip padding under bandaging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goal is volume reduction and stabilization, not cure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infection-prevention education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or absence of pitting is what separates early from late Stage II — not the size of the limb.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10896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025462"/>
          </a:solidFill>
          <a:ln w="12700">
            <a:solidFill>
              <a:srgbClr val="0254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21408" y="274320"/>
            <a:ext cx="9503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Lymphostatic Elephantiasis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volume increase with characteristic trophic skin changes. Pitting is typically absent.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414620" cy="4151376"/>
          </a:xfrm>
          <a:prstGeom prst="roundRect">
            <a:avLst>
              <a:gd name="adj" fmla="val 1982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19072"/>
            <a:ext cx="4939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103120"/>
            <a:ext cx="493913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volume increase and limb distortion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Pitting absent</a:t>
            </a:r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skin changes — acanthosis, hyperkeratosis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Papillomas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warty overgrowth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skin folds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fat deposition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Lymphorrhea — weeping of lymph fluid through the skin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positive Stemmer's sign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Frequent, sometimes life-threatening infection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0148" y="1572768"/>
            <a:ext cx="5414620" cy="4151376"/>
          </a:xfrm>
          <a:prstGeom prst="roundRect">
            <a:avLst>
              <a:gd name="adj" fmla="val 1982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7892" y="1719072"/>
            <a:ext cx="4939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implications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47892" y="2103120"/>
            <a:ext cx="493913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intensive phase; often requires wound care alongside CDT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volume reduction is still achievable — do not write these patients off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 bandaging with substantial padding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physician; surgical options may be considered after conservative 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 is not a treatment failure to be managed passively. Significant reduction is well documented with sustained CDT.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Decongestive Therapy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is the internationally accepted standard of care. It has four components, delivered in two phases.</a:t>
            </a:r>
            <a:endParaRPr lang="en-US" sz="1500" dirty="0"/>
          </a:p>
        </p:txBody>
      </p:sp>
      <p:pic>
        <p:nvPicPr>
          <p:cNvPr id="6" name="Image 0" descr="/home/claude/build/assets/cdt_pilla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2231136"/>
            <a:ext cx="11057839" cy="3712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1675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is where outcomes are actually won or lost. Adherence, not technique, is the usual determinant of long-term result.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CDT — Two Phases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917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73936"/>
            <a:ext cx="484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— Intensive / Reductive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258568"/>
            <a:ext cx="484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3–6 weeks, treatment 4–5x/week, sessions 1–2 hours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MLD, multilayer short-stretch bandaging worn 23 hours/day, exercise, skin care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at every visit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when volume plateaus across consecutive sessions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1572768"/>
            <a:ext cx="53917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7328" y="1773936"/>
            <a:ext cx="484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— Maintenance / Self-Management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7328" y="2258568"/>
            <a:ext cx="484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compression garment during the day; night garment or bandaging as needed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Self-MLD and home exercise program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skin care and self-inspection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surveillance; garments replaced every 4–6 months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 a short intensive phase if the limb regresses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0474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is where outcomes are actually won or lost. Adherence, not technique, is the usual determinant of long-term result.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· CDT 1 OF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 &amp; Nail Care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lymphedematous limb is immunocompromised tissue. The skin is the last barrier, and every infection causes further lymphatic damage.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with low-pH, fragrance-free cleanser — lymphedematous skin is alkaline-shifted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thoroughly, especially between the toes and in skin folds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low-pH emollient to keep the barrier intact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entire limb daily, including between digits and the posterior surface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9930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386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9386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tinea pedis and onychomycosis aggressively — a common cellulitis entry point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cut straight across; avoid cutting cuticles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blood draws, IVs, and BP cuffs on the at-risk limb where an alternative exists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during gardening, cooking, pet handling; gloves and insect repellent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antiseptic care for any break in the skin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2933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2389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patient to recognize cellulitis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92389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redness, heat, tenderness, sudden limb enlargement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chills, malaise, flu-like onset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care same-day. Stop MLD and compression until treated.</a:t>
            </a:r>
            <a:pPr indent="0" marL="0">
              <a:spcAft>
                <a:spcPts val="600"/>
              </a:spcAft>
              <a:buNone/>
            </a:pP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cellulitis may warrant prophylactic antibiotics — physician decision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· CDT 2 OF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Lymphatic Drainage — Technique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specific, very light manual technique that stimulates lymphangion contraction and redirects lymph across watersheds into functioning territories.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428336" cy="4059936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498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principles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498942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light pressure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stretches skin only. Heavy pressure collapses initial lymphatics and is counterproductive.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rhythmic — roughly one stroke per second, matching lymphangion contraction rate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proximal before distal.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Empty the receiving area first or there is nowhere for fluid to go.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the neck/terminus, then trunk quadrants, then the affected limb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root-to-tip to clear, then tip-to-root to drain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must move with the hand — no gliding, no lubricant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6432" y="2231136"/>
            <a:ext cx="5428336" cy="4059936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5888" y="2359152"/>
            <a:ext cx="498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for an affected limb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5888" y="2724912"/>
            <a:ext cx="498942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Diaphragmatic breathing — drives thoracic duct flow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Terminus (supraclavicular) clearing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Contralateral, then ipsilateral trunk quadrants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Anastomoses — axillo-axillary, axillo-inguinal, inguino-inguinal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limb, then progressively distal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with a distal-to-proximal drainage sequence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· CDT 2 OF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MLD — Sequence &amp; Contraindications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specific, very light manual technique that stimulates lymphangion contraction and redirects lymph across watersheds into functioning territories.</a:t>
            </a:r>
            <a:endParaRPr lang="en-US" sz="1500" dirty="0"/>
          </a:p>
        </p:txBody>
      </p:sp>
      <p:pic>
        <p:nvPicPr>
          <p:cNvPr id="6" name="Image 0" descr="/home/claude/build/assets/mld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2231136"/>
            <a:ext cx="11057839" cy="3712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1675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MLD alone produces modest results. Its value is greatest when combined with compression — the evidence supports CDT as a package, not MLD in isolation.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· CDT 3 OF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Therapy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component for maintaining reduction. Without compression, gains from MLD reverse within hours.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— short-stretch bandaging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Short-stretch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bandages: low resting pressure, high working pressure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long-stretch/ACE — high resting pressure risks a tourniquet effect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Layered: stockinette, digit wrap, padding, then short-stretch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 or chip padding over fibrotic areas to soften tissue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must be higher distally than proximally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23 hours/day, reapplied at each visit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9930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386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— garments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9386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1: 20–30 mmHg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mild/early, upper limb, prophylaxis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2: 30–40 mmHg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most lower limb lymphedema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3: 40–50 mmHg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severe lower limb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Flat-knit generally preferred over circular-knit for lymphedema — better containment, no tourniquet at folds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fit for irregular limb shape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every 4–6 months; two garments so one is always clean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2933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2389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92389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arterial status.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ABI &lt; 0.8 requires caution; &lt; 0.5 is a contraindication to standard compression.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Decompensated heart failure — sudden fluid return can precipitate overload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DVT, acute infection, severe peripheral neuropathy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skin integrity at every application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· CDT 4 OF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Remedial Exercise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skeletal muscle pump is a primary driver of lymph transport. Exercise performed under compression is decongestive therapy.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perform with compression in place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bandages or garment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diaphragmatic breathing to open the thoracic duct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to distal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clear the trunk and proximal limb first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rhythmic, controlled; no breath-holding or Valsalva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resistance, higher repetition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elevation and further breathing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9930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386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components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9386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Diaphragmatic breathing — 5–10 repetitions to start and finish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and shoulder girdle mobility (upper limb cases)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and core activation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ROM progressing proximal to distal through the limb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 pumps and calf work for lower limb cases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Aerobic conditioning — walking, cycling, aquatic therapy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2933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2389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resistance training question — settled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92389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progressive resistance training does not cause or worsen lymphedema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PAL trial demonstrated safety in breast cancer survivors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reduce flare incidence and improve limb symptoms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gradually, wear compression, monitor and stop for symptom change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tell patients to avoid using the limb.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advice is outdated and causes deconditioning.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Lipedema — A Different Disease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chronic disorder of adipose tissue, almost exclusively affecting women, routinely misdiagnosed as obesity or lymphedema for years before recognition.</a:t>
            </a:r>
            <a:endParaRPr lang="en-US" sz="1500" dirty="0"/>
          </a:p>
        </p:txBody>
      </p:sp>
      <p:pic>
        <p:nvPicPr>
          <p:cNvPr id="6" name="Image 0" descr="/home/claude/build/assets/lipedema_cu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32727" y="2322576"/>
            <a:ext cx="48920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231136"/>
            <a:ext cx="5754319" cy="3161538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35915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features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706624"/>
            <a:ext cx="5242255" cy="252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and symmetrical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fat deposition — legs, hips, buttocks, sometimes arms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tenderness, aching, pressure sensitivity. This is diagnostic, not incidental.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Bruises easily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capillary fragility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Spares the feet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sharp cuff or 'bracelet' at the ankle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lower body markedly larger than trunk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Diet-resistant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affected fat does not respond to caloric restriction or exercise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Stemmer's sign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(until lymphatic involvement develops)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Lipedema — Etiology &amp; Misdiagnosis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428336" cy="4718304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00784"/>
            <a:ext cx="498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Etiology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066544"/>
            <a:ext cx="498942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is unknown; strong familial pattern suggests genetic contribution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Hormonally triggered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onset and acceleration cluster at puberty, pregnancy, and menopause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points toward a connective tissue disorder component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in up to ~11% of women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are affected rarely, usually with hormonal alteration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6432" y="1572768"/>
            <a:ext cx="5428336" cy="4718304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5888" y="1700784"/>
            <a:ext cx="498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misdiagnosis matters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15888" y="2066544"/>
            <a:ext cx="498942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are frequently told to lose weight — which does not resolve the affected fat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unnecessary shame and ineffective treatment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diagnosis allows progression toward lymphatic involvement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diagnosis is itself therapeutic — it reframes the patient's understanding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Lipedema Staging — Stages 1 &amp; 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Classically staged 1 through 3 by skin and tissue architecture. A fourth stage — lipo-lymphedema — is widely used clinically but is contested.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39176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1401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140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84248" y="2414016"/>
            <a:ext cx="370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skin surface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89504"/>
            <a:ext cx="48796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surface normal and smooth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Enlarged hypodermis; homogeneous thickening of subcutaneous tissue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is often soft; small nodules may be palpable — described as rice-like or pearl-sized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accumulation around pelvis, buttocks, and hips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Limbs tender and prone to bruising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Swelling may improve with rest and elevation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3008" y="2231136"/>
            <a:ext cx="539176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9040" y="241401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040" y="24140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50328" y="2414016"/>
            <a:ext cx="370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Uneven, dimpled skin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9040" y="2889504"/>
            <a:ext cx="48796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surface becomes bumpy and wave-like with indentations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Nodular structures in the thickened subcutis — lipomas, angiolipomas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Subcutaneous tissue feels tougher and more nodular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build-up extends down the legs toward the ankles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Swelling less responsive to rest and elevation than Stage 1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range from mild to severe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Lipedema Staging — Stage 3 &amp; Lipo-lymphedema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917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84248" y="1874520"/>
            <a:ext cx="370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deformations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50008"/>
            <a:ext cx="48796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hardening of connective tissue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Bulky, overhanging extrusions of skin and fat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deformation of thighs and around the knees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swelling not resolving with rest or elevation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significantly impaired; highest rate of orthopedic complication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associated with secondary lymphedema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53917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89040" y="18745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9040" y="1874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50328" y="1874520"/>
            <a:ext cx="370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Lipo-lymphedema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9040" y="2350008"/>
            <a:ext cx="48796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 plus secondary lymphedema in the same limbs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feet begin to swell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defining change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Stemmer's sign becomes positive</a:t>
            </a:r>
            <a:pPr indent="0" marL="0">
              <a:spcAft>
                <a:spcPts val="600"/>
              </a:spcAft>
              <a:buNone/>
            </a:pP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over the toes thickens; pitting appears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moves from lipedema to lipo-lymphedema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Lymphoscintigraphy can document the degree of drainage impairment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503834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E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CAVEAT: The Lipedema Foundation no longer uses a 'Stage 4' designation, on the grounds that the lymphatic system can be compromised at any stage — lymphatic impairment is documented in Stages 2 and 3. Present Stage 4 as lipo-lymphedema, and note the debate. This is the intellectually honest framing and it will be the question a sharp student asks.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Lipedema vs. Lymphedema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differential that matters most in practice — and the one most often gotten wrong.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52544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4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Lipedema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4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Lymphedema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46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exclusively women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sex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Bilateral, symmetrical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unilateral; symmetry not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SPARED — sharp ankle cuff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INVOLVED — swelling includes feet/toes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Stemmer's 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Painful, tender to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Painless early; tension pain when advanced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Bruising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Bruises easily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characteristic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Typically non-pitting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Pitting early; non-pitting when fibrotic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Proximal-dominant, disproportionate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Distal parts always more affected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Commonly 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only in primary lymphedema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to diet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fat is diet-resistant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primarily fat; weight loss reduces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Puberty, pregnancy, menopause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Surgery, radiation, infection, trauma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080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co-exist. Lipedema does not itself cause lymphedema — but central obesity, which frequently accompanies it, substantially raises lymphedema risk. Treat what you find.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 Management of Lipedema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management does not remove lipedema fat. It manages pain, controls fluid, preserves mobility, and slows progression.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PT can achieve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reduction — often the patient's highest priority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any fluid component through MLD and compression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of joint mechanics and gait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of progression to lipo-lymphedema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Weight-bearing tolerance and conditioning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9930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386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9386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— flat-knit garments, generally better tolerated than in lymphedema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MLD for the fluid component and for pain relief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Aquatic exercise — highly effective; buoyancy plus hydrostatic compression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Low-impact aerobic and resistance conditioning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therapy for associated joint dysfunction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referral — anti-inflammatory patterns, not caloric restriction alone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2933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2389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expectations honestly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92389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 does not eliminate the fat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Liposuction (tumescent/water-assisted) is the only intervention that removes it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before and after liposuction improves outcomes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coverage remains inconsistent — this is a real barrier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&amp; Referral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treatment and refer when you see these.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— same 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Cellulitis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spreading erythema, heat, fever, sudden limb enlargement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DVT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acute unilateral swelling, calf pain, warmth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Decompensated heart failure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dyspnea, orthopnea, rapid bilateral swelling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illness — fever, rigors, malaise, hypotension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9930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386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for workup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9386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Rapid-onset or proximal-first swelling — possible malignant lymphedema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new neurological deficit in the limb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Non-healing wound or ulceration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weight loss, night sweats, palpable mass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respond to appropriately delivered CDT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2933" y="2231136"/>
            <a:ext cx="3551834" cy="405993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2389" y="235915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before starting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92389" y="2724912"/>
            <a:ext cx="311292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Arterial status — ABI before lower limb compression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and renal status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malignancy — coordinate with oncology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neuropathy and sensory testing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Decks &amp; Reference Material  (1 of 2)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presentations and documents this deck was built from. Open any of them to review how others have structured the same material.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22576"/>
            <a:ext cx="8680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2023 Consensus Document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21647" y="2322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primary source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staging authority. Stages 0–III, diagnosis, and treatment.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761488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https://www.isl.arizona.edu/sites/default/files/2024-11/THE-DIAGNOSIS-AND-TREATMENT-OF-PERIPHERAL-LYMPHEDEMA-2023-CONSENSUS-DOCUMENT-OF-THE-INTERNATIONAL-SOCIETY-OF-LYMPHOLOGY.pdf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312724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218688"/>
            <a:ext cx="8680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Koehler, PT, CLT-LANA — Univ. of Minnesota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21647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" y="3456432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PT-focused deck found. CDT components, wound care, pain management.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3657600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https://www.slideserve.com/collin/lymphedema-overview-and-treatment-considerations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114800"/>
            <a:ext cx="8680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Christina Hankins, PT, CLT, CWS — Lymphedema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21647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" y="4352544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objectives and outline structure to model.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4672" y="4553712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https://www.slideserve.com/lilly/lymphedema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491947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010912"/>
            <a:ext cx="8680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Lymphedema Therapy (compiled decks)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21647" y="5010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" y="5248656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decks on one page, incl. stage descriptions and exercise evidence.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4672" y="5449824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https://www.slideserve.com/lael/lymphedema-therapy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6928" y="581558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907024"/>
            <a:ext cx="8680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Lymphedema — assorted author decks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21647" y="5907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" y="6144768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Ernandez, Richter, Arslan, Johansson. Mixed quality; useful for framing.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" y="6345936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https://www.slideserve.com/shoshana-reynolds/lymphedema-powerpoint-ppt-presentation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Decks &amp; Reference Material  (2 of 2)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83080"/>
            <a:ext cx="8680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Outcomes After PT for Secondary Lymphedema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21647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report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2020824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Zuther &amp; Norton staging language in plain English.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221992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https://www.ncbi.nlm.nih.gov/pmc/articles/PMC6666846/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258775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679192"/>
            <a:ext cx="8680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 Foundation — Staging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21647" y="2679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+ photos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" y="2916936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lipedema staging photos. Note: they no longer use “Stage 4”.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" y="3118104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https://www.lipedema.org/staging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348386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8680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Stage 4 Lipedema: Lipo-Lymphedema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21647" y="3575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" y="3813048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from lipedema to lipo-lymphedema.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" y="4014216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https://www.totallipedemacare.com/understanding-stage-4-lipedema-lipo-lymphedema/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437997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471416"/>
            <a:ext cx="8680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diagnostics of lipedema and lymphedema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21647" y="4471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4672" y="4709160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guideline. Basis for the differential table.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" y="4910328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https://pubmed.ncbi.nlm.nih.gov/30280233/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527608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5367528"/>
            <a:ext cx="8680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 vs lymphedema — Northwell Health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21647" y="5367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" y="5605272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framing useful for patient education.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" y="5806440"/>
            <a:ext cx="105823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https://www.northwell.edu/news/insights/lipedema-vs-lymphedema-what-to-know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25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5391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Lymphedema is mechanical insufficiency — high-protein, progressive, and self-reinforcing if untreated.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precede visible swelling. Stage 0 is real and is the best time to intervene.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Stemmer's sign is fast, free, and diagnostic when positive.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ISL stages: 0 latent, I reversible, II irreversible/fibrotic, III elephantiasis.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has four components. Compression is the one that holds the result.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33008" y="1554480"/>
            <a:ext cx="5391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under compression is treatment. Resistance training is safe.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 is painful, symmetrical, spares the feet, and has a negative Stemmer.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 is staged 1–3, with lipo-lymphedema as a contested Stage 4.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episode of cellulitis makes the underlying disease worse.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education and Phase II adherence determine long-term outcome.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25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66928" y="2423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the full presentation, outline, and a 12-question self-check.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3291840"/>
            <a:ext cx="5669280" cy="0"/>
          </a:xfrm>
          <a:prstGeom prst="line">
            <a:avLst/>
          </a:prstGeom>
          <a:noFill/>
          <a:ln w="12700">
            <a:solidFill>
              <a:srgbClr val="3E7C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52044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 S. Morrison, PT, DPT, CDT, Cert DN, PCES, CFT, FMT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CB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Body Therapy &amp; Wellness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A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Pine State Street, Lillington, NC 27546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A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(910) 893-2850   ·   tbtwonline.com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869680" y="1645920"/>
            <a:ext cx="2788920" cy="31089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build/asset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920240"/>
            <a:ext cx="2148840" cy="2148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15400" y="4160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information-vs-energy-vs-matter.github.io/Total_body_therapy_-_wellness/lymphedema/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62179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use only. Not a substitute for individualized medical evaluation or care.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Total Body Therapy &amp; Wellness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Lymphedema &amp; Lipedema</dc:title>
  <dc:subject>PptxGenJS Presentation</dc:subject>
  <dc:creator>Dr. Sara S. Morrison</dc:creator>
  <cp:lastModifiedBy>Dr. Sara S. Morrison</cp:lastModifiedBy>
  <cp:revision>1</cp:revision>
  <dcterms:created xsi:type="dcterms:W3CDTF">2026-08-07T02:32:31Z</dcterms:created>
  <dcterms:modified xsi:type="dcterms:W3CDTF">2026-08-07T02:32:31Z</dcterms:modified>
</cp:coreProperties>
</file>